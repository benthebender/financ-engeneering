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heme/theme4.xml" ContentType="application/vnd.openxmlformats-officedocument.theme+xml"/>
  <Override PartName="/ppt/tags/tag29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comments/modernComment_7FFFCF28_5FE722B1.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0" r:id="rId5"/>
    <p:sldMasterId id="2147483693" r:id="rId6"/>
  </p:sldMasterIdLst>
  <p:notesMasterIdLst>
    <p:notesMasterId r:id="rId28"/>
  </p:notesMasterIdLst>
  <p:sldIdLst>
    <p:sldId id="293" r:id="rId7"/>
    <p:sldId id="298" r:id="rId8"/>
    <p:sldId id="2147471140" r:id="rId9"/>
    <p:sldId id="2147471145" r:id="rId10"/>
    <p:sldId id="2147471134" r:id="rId11"/>
    <p:sldId id="2147471155" r:id="rId12"/>
    <p:sldId id="2147471149" r:id="rId13"/>
    <p:sldId id="2147471146" r:id="rId14"/>
    <p:sldId id="2147471150" r:id="rId15"/>
    <p:sldId id="2147471151" r:id="rId16"/>
    <p:sldId id="2147471152" r:id="rId17"/>
    <p:sldId id="2147471153" r:id="rId18"/>
    <p:sldId id="2147471154" r:id="rId19"/>
    <p:sldId id="2147471156" r:id="rId20"/>
    <p:sldId id="2147471158" r:id="rId21"/>
    <p:sldId id="2147471144" r:id="rId22"/>
    <p:sldId id="2147470908" r:id="rId23"/>
    <p:sldId id="2147471157" r:id="rId24"/>
    <p:sldId id="2147471143" r:id="rId25"/>
    <p:sldId id="2147470554" r:id="rId26"/>
    <p:sldId id="2147471159" r:id="rId2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9B2912F-2238-4005-223D-BC42E023142E}" name="Ritesh Kumar" initials="RK" userId="S::ritesh.kumar@fs-students.de::7edd467b-0259-4175-b217-dced0d6e2d58" providerId="AD"/>
  <p188:author id="{84EDFB4D-40EA-956B-46C0-092B3AE9FC1F}" name="Chang Liu" initials="" userId="S::chang.liu1@fs-students.de::c9b38d7b-78f3-4370-909c-71431724c8ad" providerId="AD"/>
  <p188:author id="{F79FC755-7185-C716-97E7-4FDBA4F28256}" name="Mujtaba Ali Bhutto" initials="MB" userId="S::mujtaba_ali.bhutto@fs-students.de::1ddd518f-3c3c-43fd-b2cd-4bea84d6cb42" providerId="AD"/>
  <p188:author id="{A7F935A5-CEDE-2815-58A1-D52B3AE049A3}" name="Shangrun Jiang" initials="JS" userId="S::shangrun.jiang@fs-students.de::84dfed77-3654-4018-8e39-9258a7843cf5" providerId="AD"/>
  <p188:author id="{D9BA57C4-379A-6231-776A-683B00912441}" name="Abdul Malik" initials="" userId="S::abdul.malik@fs-students.de::8fc5dbfa-4b30-4be0-9d84-3d5d0e6f9139" providerId="AD"/>
  <p188:author id="{177BC6E9-A217-1282-E945-6C1F1532724F}" name="Ying Liu" initials="YL" userId="S::ying.liu@fs-students.de::74dceb18-539c-4b02-8e07-7c7ff25fe8b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61F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viewProps" Target="viewProps.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bar"/>
        <c:grouping val="stacked"/>
        <c:varyColors val="0"/>
        <c:ser>
          <c:idx val="0"/>
          <c:order val="0"/>
          <c:tx>
            <c:strRef>
              <c:f>Sheet1!$B$1</c:f>
              <c:strCache>
                <c:ptCount val="1"/>
                <c:pt idx="0">
                  <c:v>Protection</c:v>
                </c:pt>
              </c:strCache>
            </c:strRef>
          </c:tx>
          <c:spPr>
            <a:solidFill>
              <a:schemeClr val="accent1"/>
            </a:solidFill>
            <a:ln>
              <a:noFill/>
            </a:ln>
            <a:effectLst/>
          </c:spPr>
          <c:invertIfNegative val="0"/>
          <c:cat>
            <c:strRef>
              <c:f>Sheet1!$A$2:$A$4</c:f>
              <c:strCache>
                <c:ptCount val="3"/>
                <c:pt idx="0">
                  <c:v>Collar</c:v>
                </c:pt>
                <c:pt idx="1">
                  <c:v>Cap</c:v>
                </c:pt>
                <c:pt idx="2">
                  <c:v>Swap</c:v>
                </c:pt>
              </c:strCache>
            </c:strRef>
          </c:cat>
          <c:val>
            <c:numRef>
              <c:f>Sheet1!$B$2:$B$4</c:f>
              <c:numCache>
                <c:formatCode>General</c:formatCode>
                <c:ptCount val="3"/>
                <c:pt idx="0">
                  <c:v>7</c:v>
                </c:pt>
                <c:pt idx="1">
                  <c:v>5</c:v>
                </c:pt>
                <c:pt idx="2">
                  <c:v>9</c:v>
                </c:pt>
              </c:numCache>
            </c:numRef>
          </c:val>
          <c:extLst>
            <c:ext xmlns:c16="http://schemas.microsoft.com/office/drawing/2014/chart" uri="{C3380CC4-5D6E-409C-BE32-E72D297353CC}">
              <c16:uniqueId val="{00000000-9C09-4018-806A-EADCA1EACC50}"/>
            </c:ext>
          </c:extLst>
        </c:ser>
        <c:ser>
          <c:idx val="1"/>
          <c:order val="1"/>
          <c:tx>
            <c:strRef>
              <c:f>Sheet1!$C$1</c:f>
              <c:strCache>
                <c:ptCount val="1"/>
                <c:pt idx="0">
                  <c:v>Flexibility</c:v>
                </c:pt>
              </c:strCache>
            </c:strRef>
          </c:tx>
          <c:spPr>
            <a:solidFill>
              <a:srgbClr val="061F32"/>
            </a:solidFill>
            <a:ln>
              <a:noFill/>
            </a:ln>
            <a:effectLst/>
          </c:spPr>
          <c:invertIfNegative val="0"/>
          <c:cat>
            <c:strRef>
              <c:f>Sheet1!$A$2:$A$4</c:f>
              <c:strCache>
                <c:ptCount val="3"/>
                <c:pt idx="0">
                  <c:v>Collar</c:v>
                </c:pt>
                <c:pt idx="1">
                  <c:v>Cap</c:v>
                </c:pt>
                <c:pt idx="2">
                  <c:v>Swap</c:v>
                </c:pt>
              </c:strCache>
            </c:strRef>
          </c:cat>
          <c:val>
            <c:numRef>
              <c:f>Sheet1!$C$2:$C$4</c:f>
              <c:numCache>
                <c:formatCode>General</c:formatCode>
                <c:ptCount val="3"/>
                <c:pt idx="0">
                  <c:v>6</c:v>
                </c:pt>
                <c:pt idx="1">
                  <c:v>9</c:v>
                </c:pt>
                <c:pt idx="2">
                  <c:v>2</c:v>
                </c:pt>
              </c:numCache>
            </c:numRef>
          </c:val>
          <c:extLst>
            <c:ext xmlns:c16="http://schemas.microsoft.com/office/drawing/2014/chart" uri="{C3380CC4-5D6E-409C-BE32-E72D297353CC}">
              <c16:uniqueId val="{00000001-9C09-4018-806A-EADCA1EACC50}"/>
            </c:ext>
          </c:extLst>
        </c:ser>
        <c:dLbls>
          <c:showLegendKey val="0"/>
          <c:showVal val="0"/>
          <c:showCatName val="0"/>
          <c:showSerName val="0"/>
          <c:showPercent val="0"/>
          <c:showBubbleSize val="0"/>
        </c:dLbls>
        <c:gapWidth val="50"/>
        <c:overlap val="100"/>
        <c:axId val="644969776"/>
        <c:axId val="644967856"/>
      </c:barChart>
      <c:catAx>
        <c:axId val="64496977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bg1"/>
                </a:solidFill>
                <a:latin typeface="+mn-lt"/>
                <a:ea typeface="+mn-ea"/>
                <a:cs typeface="+mn-cs"/>
              </a:defRPr>
            </a:pPr>
            <a:endParaRPr lang="zh-CN"/>
          </a:p>
        </c:txPr>
        <c:crossAx val="644967856"/>
        <c:crosses val="autoZero"/>
        <c:auto val="1"/>
        <c:lblAlgn val="ctr"/>
        <c:lblOffset val="100"/>
        <c:noMultiLvlLbl val="0"/>
      </c:catAx>
      <c:valAx>
        <c:axId val="64496785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644969776"/>
        <c:crosses val="autoZero"/>
        <c:crossBetween val="between"/>
      </c:valAx>
      <c:spPr>
        <a:noFill/>
        <a:ln>
          <a:noFill/>
        </a:ln>
        <a:effectLst/>
      </c:spPr>
    </c:plotArea>
    <c:legend>
      <c:legendPos val="b"/>
      <c:layout>
        <c:manualLayout>
          <c:xMode val="edge"/>
          <c:yMode val="edge"/>
          <c:x val="0.29194721221845027"/>
          <c:y val="0.81566150542027116"/>
          <c:w val="0.48200736861183852"/>
          <c:h val="8.9027340042203168E-2"/>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5400" cap="rnd">
              <a:noFill/>
              <a:round/>
            </a:ln>
            <a:effectLst>
              <a:outerShdw blurRad="44450" dist="13970" dir="5400000" algn="ctr" rotWithShape="0">
                <a:srgbClr val="000000">
                  <a:alpha val="45000"/>
                </a:srgbClr>
              </a:outerShdw>
            </a:effectLst>
          </c:spPr>
          <c:marker>
            <c:symbol val="circle"/>
            <c:size val="6"/>
            <c:spPr>
              <a:solidFill>
                <a:schemeClr val="accent1">
                  <a:shade val="80000"/>
                  <a:satMod val="150000"/>
                </a:schemeClr>
              </a:solidFill>
              <a:ln w="101600" cap="rnd">
                <a:solidFill>
                  <a:schemeClr val="accent1"/>
                </a:solidFill>
                <a:round/>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c:spPr>
          </c:marker>
          <c:xVal>
            <c:numRef>
              <c:f>Sheet1!$A$2:$A$4</c:f>
              <c:numCache>
                <c:formatCode>General</c:formatCode>
                <c:ptCount val="3"/>
                <c:pt idx="0">
                  <c:v>0.8</c:v>
                </c:pt>
                <c:pt idx="1">
                  <c:v>0.7</c:v>
                </c:pt>
                <c:pt idx="2">
                  <c:v>0.3</c:v>
                </c:pt>
              </c:numCache>
            </c:numRef>
          </c:xVal>
          <c:yVal>
            <c:numRef>
              <c:f>Sheet1!$B$2:$B$4</c:f>
              <c:numCache>
                <c:formatCode>General</c:formatCode>
                <c:ptCount val="3"/>
                <c:pt idx="0">
                  <c:v>0.9</c:v>
                </c:pt>
                <c:pt idx="1">
                  <c:v>0.6</c:v>
                </c:pt>
                <c:pt idx="2">
                  <c:v>0.65</c:v>
                </c:pt>
              </c:numCache>
            </c:numRef>
          </c:yVal>
          <c:smooth val="0"/>
          <c:extLst>
            <c:ext xmlns:c16="http://schemas.microsoft.com/office/drawing/2014/chart" uri="{C3380CC4-5D6E-409C-BE32-E72D297353CC}">
              <c16:uniqueId val="{00000000-7870-4FE2-A05C-363B56312C98}"/>
            </c:ext>
          </c:extLst>
        </c:ser>
        <c:dLbls>
          <c:showLegendKey val="0"/>
          <c:showVal val="0"/>
          <c:showCatName val="0"/>
          <c:showSerName val="0"/>
          <c:showPercent val="0"/>
          <c:showBubbleSize val="0"/>
        </c:dLbls>
        <c:axId val="936235616"/>
        <c:axId val="936237056"/>
      </c:scatterChart>
      <c:valAx>
        <c:axId val="936235616"/>
        <c:scaling>
          <c:orientation val="minMax"/>
          <c:min val="0.2"/>
        </c:scaling>
        <c:delete val="1"/>
        <c:axPos val="b"/>
        <c:majorGridlines>
          <c:spPr>
            <a:ln w="9525" cap="flat" cmpd="sng" algn="ctr">
              <a:noFill/>
              <a:round/>
            </a:ln>
            <a:effectLst/>
          </c:spPr>
        </c:majorGridlines>
        <c:numFmt formatCode="General" sourceLinked="1"/>
        <c:majorTickMark val="none"/>
        <c:minorTickMark val="none"/>
        <c:tickLblPos val="nextTo"/>
        <c:crossAx val="936237056"/>
        <c:crosses val="autoZero"/>
        <c:crossBetween val="midCat"/>
      </c:valAx>
      <c:valAx>
        <c:axId val="936237056"/>
        <c:scaling>
          <c:orientation val="minMax"/>
          <c:min val="0.4"/>
        </c:scaling>
        <c:delete val="1"/>
        <c:axPos val="l"/>
        <c:majorGridlines>
          <c:spPr>
            <a:ln w="9525" cap="flat" cmpd="sng" algn="ctr">
              <a:noFill/>
              <a:round/>
            </a:ln>
            <a:effectLst/>
          </c:spPr>
        </c:majorGridlines>
        <c:numFmt formatCode="General" sourceLinked="1"/>
        <c:majorTickMark val="none"/>
        <c:minorTickMark val="none"/>
        <c:tickLblPos val="nextTo"/>
        <c:crossAx val="93623561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1197"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1197" kern="1200"/>
  </cs:valueAxis>
  <cs:wall>
    <cs:lnRef idx="0"/>
    <cs:fillRef idx="0"/>
    <cs:effectRef idx="0"/>
    <cs:fontRef idx="minor">
      <a:schemeClr val="tx1"/>
    </cs:fontRef>
  </cs:wall>
</cs:chartStyle>
</file>

<file path=ppt/comments/modernComment_7FFFCF28_5FE722B1.xml><?xml version="1.0" encoding="utf-8"?>
<p188:cmLst xmlns:a="http://schemas.openxmlformats.org/drawingml/2006/main" xmlns:r="http://schemas.openxmlformats.org/officeDocument/2006/relationships" xmlns:p188="http://schemas.microsoft.com/office/powerpoint/2018/8/main">
  <p188:cm id="{71FF7087-8840-41B8-855F-BE451B794DF4}" authorId="{F79FC755-7185-C716-97E7-4FDBA4F28256}" status="resolved" created="2025-09-22T21:08:34.580" startDate="2025-09-22T21:08:34.580" dueDate="2025-09-22T21:08:34.580" assignedTo="{84EDFB4D-40EA-956B-46C0-092B3AE9FC1F}" complete="100000" title="@Chang Liu shouldn't we remove the numbers from this graph? to just keep it relative and not give a definite view that certain hedging strategies are this much costly compared to others?">
    <ac:deMkLst xmlns:ac="http://schemas.microsoft.com/office/drawing/2013/main/command">
      <pc:docMk xmlns:pc="http://schemas.microsoft.com/office/powerpoint/2013/main/command"/>
      <pc:sldMk xmlns:pc="http://schemas.microsoft.com/office/powerpoint/2013/main/command" cId="1608983217" sldId="2147471144"/>
      <ac:graphicFrameMk id="59" creationId="{8E7110DB-C74E-803F-C726-55A9044F078F}"/>
    </ac:deMkLst>
    <p188:txBody>
      <a:bodyPr/>
      <a:lstStyle/>
      <a:p>
        <a:r>
          <a:rPr lang="en-US"/>
          <a:t>[@Chang Liu] shouldn't we remove the numbers from this graph? to just keep it relative and not give a definite view that certain hedging strategies are this much costly compared to others?</a:t>
        </a:r>
      </a:p>
    </p188:txBody>
    <p188:extLst>
      <p:ext xmlns:p="http://schemas.openxmlformats.org/presentationml/2006/main" uri="{5BB2D875-25FF-4072-B9AC-8F64D62656EB}">
        <p228:taskDetails xmlns:p228="http://schemas.microsoft.com/office/powerpoint/2022/08/main">
          <p228:history>
            <p228:event time="2025-09-22T21:08:34.580" id="{2D0203B9-D653-46C2-BFD9-3265E8E26993}">
              <p228:atrbtn authorId="{F79FC755-7185-C716-97E7-4FDBA4F28256}"/>
              <p228:anchr>
                <p228:comment id="{71FF7087-8840-41B8-855F-BE451B794DF4}"/>
              </p228:anchr>
              <p228:add/>
            </p228:event>
            <p228:event time="2025-09-22T21:08:34.580" id="{A2E7886E-4D56-4205-BF91-A139FE3F7F62}">
              <p228:atrbtn authorId="{F79FC755-7185-C716-97E7-4FDBA4F28256}"/>
              <p228:anchr>
                <p228:comment id="{71FF7087-8840-41B8-855F-BE451B794DF4}"/>
              </p228:anchr>
              <p228:asgn authorId="{84EDFB4D-40EA-956B-46C0-092B3AE9FC1F}"/>
            </p228:event>
            <p228:event time="2025-09-22T21:08:34.580" id="{0E5777F6-8AA3-487C-93BD-978AF9B12157}">
              <p228:atrbtn authorId="{F79FC755-7185-C716-97E7-4FDBA4F28256}"/>
              <p228:anchr>
                <p228:comment id="{71FF7087-8840-41B8-855F-BE451B794DF4}"/>
              </p228:anchr>
              <p228:title val="@Chang Liu shouldn't we remove the numbers from this graph? to just keep it relative and not give a definite view that certain hedging strategies are this much costly compared to others?"/>
            </p228:event>
            <p228:event time="2025-09-22T21:08:34.580" id="{2D4E66CA-6142-4391-9C90-32EEB80FF304}">
              <p228:atrbtn authorId="{F79FC755-7185-C716-97E7-4FDBA4F28256}"/>
              <p228:anchr>
                <p228:comment id="{71FF7087-8840-41B8-855F-BE451B794DF4}"/>
              </p228:anchr>
              <p228:date stDt="2025-09-22T21:08:34.580" endDt="2025-09-22T21:08:34.580"/>
            </p228:event>
            <p228:event time="2025-09-22T21:12:36.483" id="{80709510-A825-4299-85B3-61304F3D015F}">
              <p228:atrbtn authorId="{177BC6E9-A217-1282-E945-6C1F1532724F}"/>
              <p228:anchr>
                <p228:comment id="{00000000-0000-0000-0000-000000000000}"/>
              </p228:anchr>
              <p228:pcntCmplt val="100000"/>
            </p228:event>
          </p228:history>
        </p228:taskDetails>
      </p:ext>
      <p:ext xmlns:p="http://schemas.openxmlformats.org/presentationml/2006/main" uri="{57CB4572-C831-44C2-8A1C-0ADB6CCDFE69}">
        <p223:reactions xmlns:p223="http://schemas.microsoft.com/office/powerpoint/2022/03/main">
          <p223:rxn type="👍">
            <p223:instance time="2025-09-22T21:09:08.247" authorId="{177BC6E9-A217-1282-E945-6C1F1532724F}"/>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BEF7FF-E370-4D13-844A-0D2D57AAC196}" type="datetimeFigureOut">
              <a:rPr lang="de-DE" smtClean="0"/>
              <a:t>23.09.2025</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62A197-F37F-4F3F-84A8-CF3BA7BDDF1D}" type="slidenum">
              <a:rPr lang="de-DE" smtClean="0"/>
              <a:t>‹#›</a:t>
            </a:fld>
            <a:endParaRPr lang="de-DE"/>
          </a:p>
        </p:txBody>
      </p:sp>
    </p:spTree>
    <p:extLst>
      <p:ext uri="{BB962C8B-B14F-4D97-AF65-F5344CB8AC3E}">
        <p14:creationId xmlns:p14="http://schemas.microsoft.com/office/powerpoint/2010/main" val="1594559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notes"/>
          <p:cNvSpPr txBox="1">
            <a:spLocks noGrp="1"/>
          </p:cNvSpPr>
          <p:nvPr>
            <p:ph type="body" idx="1"/>
          </p:nvPr>
        </p:nvSpPr>
        <p:spPr>
          <a:xfrm>
            <a:off x="685800" y="4400550"/>
            <a:ext cx="5486400" cy="3600300"/>
          </a:xfrm>
          <a:prstGeom prst="rect">
            <a:avLst/>
          </a:prstGeom>
          <a:noFill/>
          <a:ln>
            <a:noFill/>
          </a:ln>
        </p:spPr>
        <p:txBody>
          <a:bodyPr spcFirstLastPara="1" wrap="square" lIns="86250" tIns="43125" rIns="86250" bIns="43125" anchor="t" anchorCtr="0">
            <a:noAutofit/>
          </a:bodyPr>
          <a:lstStyle/>
          <a:p>
            <a:pPr marL="0" lvl="0" indent="0" algn="l" rtl="0">
              <a:spcBef>
                <a:spcPts val="0"/>
              </a:spcBef>
              <a:spcAft>
                <a:spcPts val="0"/>
              </a:spcAft>
              <a:buClr>
                <a:schemeClr val="dk1"/>
              </a:buClr>
              <a:buSzPts val="1900"/>
              <a:buFont typeface="Arial"/>
              <a:buNone/>
            </a:pPr>
            <a:endParaRPr lang="en-DK" sz="2200">
              <a:latin typeface="Arial" panose="020B0604020202020204" pitchFamily="34" charset="0"/>
              <a:cs typeface="Arial" panose="020B0604020202020204" pitchFamily="34" charset="0"/>
            </a:endParaRPr>
          </a:p>
        </p:txBody>
      </p:sp>
      <p:sp>
        <p:nvSpPr>
          <p:cNvPr id="182" name="Google Shape;18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61170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DK">
              <a:latin typeface="Arial" panose="020B0604020202020204" pitchFamily="34" charset="0"/>
              <a:cs typeface="Arial" panose="020B0604020202020204" pitchFamily="34" charset="0"/>
            </a:endParaRPr>
          </a:p>
        </p:txBody>
      </p:sp>
      <p:sp>
        <p:nvSpPr>
          <p:cNvPr id="191" name="Google Shape;19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8399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9E62A197-F37F-4F3F-84A8-CF3BA7BDDF1D}" type="slidenum">
              <a:rPr lang="de-DE" smtClean="0"/>
              <a:t>16</a:t>
            </a:fld>
            <a:endParaRPr lang="de-DE"/>
          </a:p>
        </p:txBody>
      </p:sp>
    </p:spTree>
    <p:extLst>
      <p:ext uri="{BB962C8B-B14F-4D97-AF65-F5344CB8AC3E}">
        <p14:creationId xmlns:p14="http://schemas.microsoft.com/office/powerpoint/2010/main" val="1964492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u="none" strike="noStrike" cap="none" smtClean="0">
                <a:solidFill>
                  <a:schemeClr val="dk1"/>
                </a:solidFill>
                <a:ea typeface="Calibri"/>
                <a:sym typeface="Calibri"/>
              </a:rPr>
              <a:t>20</a:t>
            </a:fld>
            <a:endParaRPr lang="en-GB" sz="1200" u="none" strike="noStrike" cap="none">
              <a:solidFill>
                <a:schemeClr val="dk1"/>
              </a:solidFill>
              <a:ea typeface="Calibri"/>
              <a:sym typeface="Calibri"/>
            </a:endParaRPr>
          </a:p>
        </p:txBody>
      </p:sp>
    </p:spTree>
    <p:extLst>
      <p:ext uri="{BB962C8B-B14F-4D97-AF65-F5344CB8AC3E}">
        <p14:creationId xmlns:p14="http://schemas.microsoft.com/office/powerpoint/2010/main" val="308022040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6.xml"/><Relationship Id="rId7" Type="http://schemas.openxmlformats.org/officeDocument/2006/relationships/tags" Target="../tags/tag30.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5" Type="http://schemas.openxmlformats.org/officeDocument/2006/relationships/tags" Target="../tags/tag28.xml"/><Relationship Id="rId10" Type="http://schemas.openxmlformats.org/officeDocument/2006/relationships/image" Target="../media/image2.emf"/><Relationship Id="rId4" Type="http://schemas.openxmlformats.org/officeDocument/2006/relationships/tags" Target="../tags/tag27.xml"/><Relationship Id="rId9"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10" Type="http://schemas.openxmlformats.org/officeDocument/2006/relationships/image" Target="../media/image1.emf"/><Relationship Id="rId4" Type="http://schemas.openxmlformats.org/officeDocument/2006/relationships/tags" Target="../tags/tag34.xml"/><Relationship Id="rId9"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40.xml"/><Relationship Id="rId7" Type="http://schemas.openxmlformats.org/officeDocument/2006/relationships/oleObject" Target="../embeddings/oleObject4.bin"/><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slideMaster" Target="../slideMasters/slideMaster1.xml"/><Relationship Id="rId5" Type="http://schemas.openxmlformats.org/officeDocument/2006/relationships/tags" Target="../tags/tag42.xml"/><Relationship Id="rId4" Type="http://schemas.openxmlformats.org/officeDocument/2006/relationships/tags" Target="../tags/tag4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slideMaster" Target="../slideMasters/slideMaster1.xml"/><Relationship Id="rId4" Type="http://schemas.openxmlformats.org/officeDocument/2006/relationships/tags" Target="../tags/tag49.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7.xml"/><Relationship Id="rId13" Type="http://schemas.openxmlformats.org/officeDocument/2006/relationships/tags" Target="../tags/tag62.xml"/><Relationship Id="rId3" Type="http://schemas.openxmlformats.org/officeDocument/2006/relationships/tags" Target="../tags/tag52.xml"/><Relationship Id="rId7" Type="http://schemas.openxmlformats.org/officeDocument/2006/relationships/tags" Target="../tags/tag56.xml"/><Relationship Id="rId12" Type="http://schemas.openxmlformats.org/officeDocument/2006/relationships/tags" Target="../tags/tag61.xml"/><Relationship Id="rId2" Type="http://schemas.openxmlformats.org/officeDocument/2006/relationships/tags" Target="../tags/tag51.xml"/><Relationship Id="rId16" Type="http://schemas.openxmlformats.org/officeDocument/2006/relationships/image" Target="../media/image1.emf"/><Relationship Id="rId1" Type="http://schemas.openxmlformats.org/officeDocument/2006/relationships/tags" Target="../tags/tag50.xml"/><Relationship Id="rId6" Type="http://schemas.openxmlformats.org/officeDocument/2006/relationships/tags" Target="../tags/tag55.xml"/><Relationship Id="rId11" Type="http://schemas.openxmlformats.org/officeDocument/2006/relationships/tags" Target="../tags/tag60.xml"/><Relationship Id="rId5" Type="http://schemas.openxmlformats.org/officeDocument/2006/relationships/tags" Target="../tags/tag54.xml"/><Relationship Id="rId15" Type="http://schemas.openxmlformats.org/officeDocument/2006/relationships/oleObject" Target="../embeddings/oleObject5.bin"/><Relationship Id="rId10" Type="http://schemas.openxmlformats.org/officeDocument/2006/relationships/tags" Target="../tags/tag59.xml"/><Relationship Id="rId4" Type="http://schemas.openxmlformats.org/officeDocument/2006/relationships/tags" Target="../tags/tag53.xml"/><Relationship Id="rId9" Type="http://schemas.openxmlformats.org/officeDocument/2006/relationships/tags" Target="../tags/tag58.xml"/><Relationship Id="rId1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tags" Target="../tags/tag75.xml"/><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tags" Target="../tags/tag74.xml"/><Relationship Id="rId2" Type="http://schemas.openxmlformats.org/officeDocument/2006/relationships/tags" Target="../tags/tag64.xml"/><Relationship Id="rId16" Type="http://schemas.openxmlformats.org/officeDocument/2006/relationships/image" Target="../media/image1.emf"/><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tags" Target="../tags/tag73.xml"/><Relationship Id="rId5" Type="http://schemas.openxmlformats.org/officeDocument/2006/relationships/tags" Target="../tags/tag67.xml"/><Relationship Id="rId15" Type="http://schemas.openxmlformats.org/officeDocument/2006/relationships/oleObject" Target="../embeddings/oleObject6.bin"/><Relationship Id="rId10" Type="http://schemas.openxmlformats.org/officeDocument/2006/relationships/tags" Target="../tags/tag72.xml"/><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83.xml"/><Relationship Id="rId13" Type="http://schemas.openxmlformats.org/officeDocument/2006/relationships/tags" Target="../tags/tag88.xml"/><Relationship Id="rId3" Type="http://schemas.openxmlformats.org/officeDocument/2006/relationships/tags" Target="../tags/tag78.xml"/><Relationship Id="rId7" Type="http://schemas.openxmlformats.org/officeDocument/2006/relationships/tags" Target="../tags/tag82.xml"/><Relationship Id="rId12" Type="http://schemas.openxmlformats.org/officeDocument/2006/relationships/tags" Target="../tags/tag87.xml"/><Relationship Id="rId17" Type="http://schemas.openxmlformats.org/officeDocument/2006/relationships/image" Target="../media/image1.emf"/><Relationship Id="rId2" Type="http://schemas.openxmlformats.org/officeDocument/2006/relationships/tags" Target="../tags/tag77.xml"/><Relationship Id="rId16" Type="http://schemas.openxmlformats.org/officeDocument/2006/relationships/oleObject" Target="../embeddings/oleObject7.bin"/><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tags" Target="../tags/tag86.xml"/><Relationship Id="rId5" Type="http://schemas.openxmlformats.org/officeDocument/2006/relationships/tags" Target="../tags/tag80.xml"/><Relationship Id="rId15" Type="http://schemas.openxmlformats.org/officeDocument/2006/relationships/slideMaster" Target="../slideMasters/slideMaster1.xml"/><Relationship Id="rId10" Type="http://schemas.openxmlformats.org/officeDocument/2006/relationships/tags" Target="../tags/tag85.xml"/><Relationship Id="rId4" Type="http://schemas.openxmlformats.org/officeDocument/2006/relationships/tags" Target="../tags/tag79.xml"/><Relationship Id="rId9" Type="http://schemas.openxmlformats.org/officeDocument/2006/relationships/tags" Target="../tags/tag84.xml"/><Relationship Id="rId14" Type="http://schemas.openxmlformats.org/officeDocument/2006/relationships/tags" Target="../tags/tag89.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97.xml"/><Relationship Id="rId13" Type="http://schemas.openxmlformats.org/officeDocument/2006/relationships/tags" Target="../tags/tag102.xml"/><Relationship Id="rId3" Type="http://schemas.openxmlformats.org/officeDocument/2006/relationships/tags" Target="../tags/tag92.xml"/><Relationship Id="rId7" Type="http://schemas.openxmlformats.org/officeDocument/2006/relationships/tags" Target="../tags/tag96.xml"/><Relationship Id="rId12" Type="http://schemas.openxmlformats.org/officeDocument/2006/relationships/tags" Target="../tags/tag101.xml"/><Relationship Id="rId17" Type="http://schemas.openxmlformats.org/officeDocument/2006/relationships/image" Target="../media/image1.emf"/><Relationship Id="rId2" Type="http://schemas.openxmlformats.org/officeDocument/2006/relationships/tags" Target="../tags/tag91.xml"/><Relationship Id="rId16" Type="http://schemas.openxmlformats.org/officeDocument/2006/relationships/oleObject" Target="../embeddings/oleObject7.bin"/><Relationship Id="rId1" Type="http://schemas.openxmlformats.org/officeDocument/2006/relationships/tags" Target="../tags/tag90.xml"/><Relationship Id="rId6" Type="http://schemas.openxmlformats.org/officeDocument/2006/relationships/tags" Target="../tags/tag95.xml"/><Relationship Id="rId11" Type="http://schemas.openxmlformats.org/officeDocument/2006/relationships/tags" Target="../tags/tag100.xml"/><Relationship Id="rId5" Type="http://schemas.openxmlformats.org/officeDocument/2006/relationships/tags" Target="../tags/tag94.xml"/><Relationship Id="rId15" Type="http://schemas.openxmlformats.org/officeDocument/2006/relationships/slideMaster" Target="../slideMasters/slideMaster1.xml"/><Relationship Id="rId10" Type="http://schemas.openxmlformats.org/officeDocument/2006/relationships/tags" Target="../tags/tag99.xml"/><Relationship Id="rId4" Type="http://schemas.openxmlformats.org/officeDocument/2006/relationships/tags" Target="../tags/tag93.xml"/><Relationship Id="rId9" Type="http://schemas.openxmlformats.org/officeDocument/2006/relationships/tags" Target="../tags/tag98.xml"/><Relationship Id="rId14" Type="http://schemas.openxmlformats.org/officeDocument/2006/relationships/tags" Target="../tags/tag103.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tags" Target="../tags/tag116.xml"/><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tags" Target="../tags/tag115.xml"/><Relationship Id="rId17" Type="http://schemas.openxmlformats.org/officeDocument/2006/relationships/image" Target="../media/image4.emf"/><Relationship Id="rId2" Type="http://schemas.openxmlformats.org/officeDocument/2006/relationships/tags" Target="../tags/tag105.xml"/><Relationship Id="rId16" Type="http://schemas.openxmlformats.org/officeDocument/2006/relationships/oleObject" Target="../embeddings/oleObject8.bin"/><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5" Type="http://schemas.openxmlformats.org/officeDocument/2006/relationships/tags" Target="../tags/tag108.xml"/><Relationship Id="rId15" Type="http://schemas.openxmlformats.org/officeDocument/2006/relationships/slideMaster" Target="../slideMasters/slideMaster1.xml"/><Relationship Id="rId10" Type="http://schemas.openxmlformats.org/officeDocument/2006/relationships/tags" Target="../tags/tag113.xml"/><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tags" Target="../tags/tag117.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tags" Target="../tags/tag130.xml"/><Relationship Id="rId3" Type="http://schemas.openxmlformats.org/officeDocument/2006/relationships/tags" Target="../tags/tag120.xml"/><Relationship Id="rId7" Type="http://schemas.openxmlformats.org/officeDocument/2006/relationships/tags" Target="../tags/tag124.xml"/><Relationship Id="rId12" Type="http://schemas.openxmlformats.org/officeDocument/2006/relationships/tags" Target="../tags/tag129.xml"/><Relationship Id="rId2" Type="http://schemas.openxmlformats.org/officeDocument/2006/relationships/tags" Target="../tags/tag119.xml"/><Relationship Id="rId16" Type="http://schemas.openxmlformats.org/officeDocument/2006/relationships/image" Target="../media/image1.emf"/><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tags" Target="../tags/tag128.xml"/><Relationship Id="rId5" Type="http://schemas.openxmlformats.org/officeDocument/2006/relationships/tags" Target="../tags/tag122.xml"/><Relationship Id="rId15" Type="http://schemas.openxmlformats.org/officeDocument/2006/relationships/oleObject" Target="../embeddings/oleObject9.bin"/><Relationship Id="rId10" Type="http://schemas.openxmlformats.org/officeDocument/2006/relationships/tags" Target="../tags/tag127.xml"/><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2.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tags" Target="../tags/tag136.xml"/><Relationship Id="rId7" Type="http://schemas.openxmlformats.org/officeDocument/2006/relationships/oleObject" Target="../embeddings/oleObject11.bin"/><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slideMaster" Target="../slideMasters/slideMaster1.xml"/><Relationship Id="rId5" Type="http://schemas.openxmlformats.org/officeDocument/2006/relationships/tags" Target="../tags/tag138.xml"/><Relationship Id="rId4" Type="http://schemas.openxmlformats.org/officeDocument/2006/relationships/tags" Target="../tags/tag137.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0.xml"/><Relationship Id="rId1" Type="http://schemas.openxmlformats.org/officeDocument/2006/relationships/tags" Target="../tags/tag139.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image" Target="../media/image6.emf"/><Relationship Id="rId4" Type="http://schemas.openxmlformats.org/officeDocument/2006/relationships/oleObject" Target="../embeddings/oleObject12.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4.xml"/><Relationship Id="rId1" Type="http://schemas.openxmlformats.org/officeDocument/2006/relationships/tags" Target="../tags/tag143.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6.xml"/><Relationship Id="rId1" Type="http://schemas.openxmlformats.org/officeDocument/2006/relationships/tags" Target="../tags/tag145.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7.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74.xml"/><Relationship Id="rId7" Type="http://schemas.openxmlformats.org/officeDocument/2006/relationships/tags" Target="../tags/tag178.xml"/><Relationship Id="rId2" Type="http://schemas.openxmlformats.org/officeDocument/2006/relationships/tags" Target="../tags/tag173.xml"/><Relationship Id="rId1" Type="http://schemas.openxmlformats.org/officeDocument/2006/relationships/tags" Target="../tags/tag172.xml"/><Relationship Id="rId6" Type="http://schemas.openxmlformats.org/officeDocument/2006/relationships/tags" Target="../tags/tag177.xml"/><Relationship Id="rId5" Type="http://schemas.openxmlformats.org/officeDocument/2006/relationships/tags" Target="../tags/tag176.xml"/><Relationship Id="rId10" Type="http://schemas.openxmlformats.org/officeDocument/2006/relationships/image" Target="../media/image2.emf"/><Relationship Id="rId4" Type="http://schemas.openxmlformats.org/officeDocument/2006/relationships/tags" Target="../tags/tag175.xml"/><Relationship Id="rId9" Type="http://schemas.openxmlformats.org/officeDocument/2006/relationships/oleObject" Target="../embeddings/oleObject2.bin"/></Relationships>
</file>

<file path=ppt/slideLayouts/_rels/slideLayout33.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81.xml"/><Relationship Id="rId7" Type="http://schemas.openxmlformats.org/officeDocument/2006/relationships/tags" Target="../tags/tag185.xml"/><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tags" Target="../tags/tag184.xml"/><Relationship Id="rId5" Type="http://schemas.openxmlformats.org/officeDocument/2006/relationships/tags" Target="../tags/tag183.xml"/><Relationship Id="rId10" Type="http://schemas.openxmlformats.org/officeDocument/2006/relationships/image" Target="../media/image1.emf"/><Relationship Id="rId4" Type="http://schemas.openxmlformats.org/officeDocument/2006/relationships/tags" Target="../tags/tag182.xml"/><Relationship Id="rId9" Type="http://schemas.openxmlformats.org/officeDocument/2006/relationships/oleObject" Target="../embeddings/oleObject3.bin"/></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188.xml"/><Relationship Id="rId7" Type="http://schemas.openxmlformats.org/officeDocument/2006/relationships/oleObject" Target="../embeddings/oleObject4.bin"/><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slideMaster" Target="../slideMasters/slideMaster3.xml"/><Relationship Id="rId5" Type="http://schemas.openxmlformats.org/officeDocument/2006/relationships/tags" Target="../tags/tag190.xml"/><Relationship Id="rId4" Type="http://schemas.openxmlformats.org/officeDocument/2006/relationships/tags" Target="../tags/tag189.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 Id="rId4"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196.xml"/><Relationship Id="rId2" Type="http://schemas.openxmlformats.org/officeDocument/2006/relationships/tags" Target="../tags/tag195.xml"/><Relationship Id="rId1" Type="http://schemas.openxmlformats.org/officeDocument/2006/relationships/tags" Target="../tags/tag194.xml"/><Relationship Id="rId5" Type="http://schemas.openxmlformats.org/officeDocument/2006/relationships/slideMaster" Target="../slideMasters/slideMaster3.xml"/><Relationship Id="rId4" Type="http://schemas.openxmlformats.org/officeDocument/2006/relationships/tags" Target="../tags/tag197.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205.xml"/><Relationship Id="rId13" Type="http://schemas.openxmlformats.org/officeDocument/2006/relationships/tags" Target="../tags/tag210.xml"/><Relationship Id="rId3" Type="http://schemas.openxmlformats.org/officeDocument/2006/relationships/tags" Target="../tags/tag200.xml"/><Relationship Id="rId7" Type="http://schemas.openxmlformats.org/officeDocument/2006/relationships/tags" Target="../tags/tag204.xml"/><Relationship Id="rId12" Type="http://schemas.openxmlformats.org/officeDocument/2006/relationships/tags" Target="../tags/tag209.xml"/><Relationship Id="rId2" Type="http://schemas.openxmlformats.org/officeDocument/2006/relationships/tags" Target="../tags/tag199.xml"/><Relationship Id="rId16" Type="http://schemas.openxmlformats.org/officeDocument/2006/relationships/image" Target="../media/image1.emf"/><Relationship Id="rId1" Type="http://schemas.openxmlformats.org/officeDocument/2006/relationships/tags" Target="../tags/tag198.xml"/><Relationship Id="rId6" Type="http://schemas.openxmlformats.org/officeDocument/2006/relationships/tags" Target="../tags/tag203.xml"/><Relationship Id="rId11" Type="http://schemas.openxmlformats.org/officeDocument/2006/relationships/tags" Target="../tags/tag208.xml"/><Relationship Id="rId5" Type="http://schemas.openxmlformats.org/officeDocument/2006/relationships/tags" Target="../tags/tag202.xml"/><Relationship Id="rId15" Type="http://schemas.openxmlformats.org/officeDocument/2006/relationships/oleObject" Target="../embeddings/oleObject5.bin"/><Relationship Id="rId10" Type="http://schemas.openxmlformats.org/officeDocument/2006/relationships/tags" Target="../tags/tag207.xml"/><Relationship Id="rId4" Type="http://schemas.openxmlformats.org/officeDocument/2006/relationships/tags" Target="../tags/tag201.xml"/><Relationship Id="rId9" Type="http://schemas.openxmlformats.org/officeDocument/2006/relationships/tags" Target="../tags/tag206.xml"/><Relationship Id="rId14"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8" Type="http://schemas.openxmlformats.org/officeDocument/2006/relationships/tags" Target="../tags/tag218.xml"/><Relationship Id="rId13" Type="http://schemas.openxmlformats.org/officeDocument/2006/relationships/tags" Target="../tags/tag223.xml"/><Relationship Id="rId3" Type="http://schemas.openxmlformats.org/officeDocument/2006/relationships/tags" Target="../tags/tag213.xml"/><Relationship Id="rId7" Type="http://schemas.openxmlformats.org/officeDocument/2006/relationships/tags" Target="../tags/tag217.xml"/><Relationship Id="rId12" Type="http://schemas.openxmlformats.org/officeDocument/2006/relationships/tags" Target="../tags/tag222.xml"/><Relationship Id="rId2" Type="http://schemas.openxmlformats.org/officeDocument/2006/relationships/tags" Target="../tags/tag212.xml"/><Relationship Id="rId16" Type="http://schemas.openxmlformats.org/officeDocument/2006/relationships/image" Target="../media/image1.emf"/><Relationship Id="rId1" Type="http://schemas.openxmlformats.org/officeDocument/2006/relationships/tags" Target="../tags/tag211.xml"/><Relationship Id="rId6" Type="http://schemas.openxmlformats.org/officeDocument/2006/relationships/tags" Target="../tags/tag216.xml"/><Relationship Id="rId11" Type="http://schemas.openxmlformats.org/officeDocument/2006/relationships/tags" Target="../tags/tag221.xml"/><Relationship Id="rId5" Type="http://schemas.openxmlformats.org/officeDocument/2006/relationships/tags" Target="../tags/tag215.xml"/><Relationship Id="rId15" Type="http://schemas.openxmlformats.org/officeDocument/2006/relationships/oleObject" Target="../embeddings/oleObject6.bin"/><Relationship Id="rId10" Type="http://schemas.openxmlformats.org/officeDocument/2006/relationships/tags" Target="../tags/tag220.xml"/><Relationship Id="rId4" Type="http://schemas.openxmlformats.org/officeDocument/2006/relationships/tags" Target="../tags/tag214.xml"/><Relationship Id="rId9" Type="http://schemas.openxmlformats.org/officeDocument/2006/relationships/tags" Target="../tags/tag219.xml"/><Relationship Id="rId14"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8" Type="http://schemas.openxmlformats.org/officeDocument/2006/relationships/tags" Target="../tags/tag231.xml"/><Relationship Id="rId13" Type="http://schemas.openxmlformats.org/officeDocument/2006/relationships/tags" Target="../tags/tag236.xml"/><Relationship Id="rId3" Type="http://schemas.openxmlformats.org/officeDocument/2006/relationships/tags" Target="../tags/tag226.xml"/><Relationship Id="rId7" Type="http://schemas.openxmlformats.org/officeDocument/2006/relationships/tags" Target="../tags/tag230.xml"/><Relationship Id="rId12" Type="http://schemas.openxmlformats.org/officeDocument/2006/relationships/tags" Target="../tags/tag235.xml"/><Relationship Id="rId17" Type="http://schemas.openxmlformats.org/officeDocument/2006/relationships/image" Target="../media/image1.emf"/><Relationship Id="rId2" Type="http://schemas.openxmlformats.org/officeDocument/2006/relationships/tags" Target="../tags/tag225.xml"/><Relationship Id="rId16" Type="http://schemas.openxmlformats.org/officeDocument/2006/relationships/oleObject" Target="../embeddings/oleObject7.bin"/><Relationship Id="rId1" Type="http://schemas.openxmlformats.org/officeDocument/2006/relationships/tags" Target="../tags/tag224.xml"/><Relationship Id="rId6" Type="http://schemas.openxmlformats.org/officeDocument/2006/relationships/tags" Target="../tags/tag229.xml"/><Relationship Id="rId11" Type="http://schemas.openxmlformats.org/officeDocument/2006/relationships/tags" Target="../tags/tag234.xml"/><Relationship Id="rId5" Type="http://schemas.openxmlformats.org/officeDocument/2006/relationships/tags" Target="../tags/tag228.xml"/><Relationship Id="rId15" Type="http://schemas.openxmlformats.org/officeDocument/2006/relationships/slideMaster" Target="../slideMasters/slideMaster3.xml"/><Relationship Id="rId10" Type="http://schemas.openxmlformats.org/officeDocument/2006/relationships/tags" Target="../tags/tag233.xml"/><Relationship Id="rId4" Type="http://schemas.openxmlformats.org/officeDocument/2006/relationships/tags" Target="../tags/tag227.xml"/><Relationship Id="rId9" Type="http://schemas.openxmlformats.org/officeDocument/2006/relationships/tags" Target="../tags/tag232.xml"/><Relationship Id="rId14" Type="http://schemas.openxmlformats.org/officeDocument/2006/relationships/tags" Target="../tags/tag237.xml"/></Relationships>
</file>

<file path=ppt/slideLayouts/_rels/slideLayout40.xml.rels><?xml version="1.0" encoding="UTF-8" standalone="yes"?>
<Relationships xmlns="http://schemas.openxmlformats.org/package/2006/relationships"><Relationship Id="rId8" Type="http://schemas.openxmlformats.org/officeDocument/2006/relationships/tags" Target="../tags/tag245.xml"/><Relationship Id="rId13" Type="http://schemas.openxmlformats.org/officeDocument/2006/relationships/tags" Target="../tags/tag250.xml"/><Relationship Id="rId3" Type="http://schemas.openxmlformats.org/officeDocument/2006/relationships/tags" Target="../tags/tag240.xml"/><Relationship Id="rId7" Type="http://schemas.openxmlformats.org/officeDocument/2006/relationships/tags" Target="../tags/tag244.xml"/><Relationship Id="rId12" Type="http://schemas.openxmlformats.org/officeDocument/2006/relationships/tags" Target="../tags/tag249.xml"/><Relationship Id="rId17" Type="http://schemas.openxmlformats.org/officeDocument/2006/relationships/image" Target="../media/image1.emf"/><Relationship Id="rId2" Type="http://schemas.openxmlformats.org/officeDocument/2006/relationships/tags" Target="../tags/tag239.xml"/><Relationship Id="rId16" Type="http://schemas.openxmlformats.org/officeDocument/2006/relationships/oleObject" Target="../embeddings/oleObject7.bin"/><Relationship Id="rId1" Type="http://schemas.openxmlformats.org/officeDocument/2006/relationships/tags" Target="../tags/tag238.xml"/><Relationship Id="rId6" Type="http://schemas.openxmlformats.org/officeDocument/2006/relationships/tags" Target="../tags/tag243.xml"/><Relationship Id="rId11" Type="http://schemas.openxmlformats.org/officeDocument/2006/relationships/tags" Target="../tags/tag248.xml"/><Relationship Id="rId5" Type="http://schemas.openxmlformats.org/officeDocument/2006/relationships/tags" Target="../tags/tag242.xml"/><Relationship Id="rId15" Type="http://schemas.openxmlformats.org/officeDocument/2006/relationships/slideMaster" Target="../slideMasters/slideMaster3.xml"/><Relationship Id="rId10" Type="http://schemas.openxmlformats.org/officeDocument/2006/relationships/tags" Target="../tags/tag247.xml"/><Relationship Id="rId4" Type="http://schemas.openxmlformats.org/officeDocument/2006/relationships/tags" Target="../tags/tag241.xml"/><Relationship Id="rId9" Type="http://schemas.openxmlformats.org/officeDocument/2006/relationships/tags" Target="../tags/tag246.xml"/><Relationship Id="rId14" Type="http://schemas.openxmlformats.org/officeDocument/2006/relationships/tags" Target="../tags/tag251.xml"/></Relationships>
</file>

<file path=ppt/slideLayouts/_rels/slideLayout41.xml.rels><?xml version="1.0" encoding="UTF-8" standalone="yes"?>
<Relationships xmlns="http://schemas.openxmlformats.org/package/2006/relationships"><Relationship Id="rId8" Type="http://schemas.openxmlformats.org/officeDocument/2006/relationships/tags" Target="../tags/tag259.xml"/><Relationship Id="rId13" Type="http://schemas.openxmlformats.org/officeDocument/2006/relationships/tags" Target="../tags/tag264.xml"/><Relationship Id="rId3" Type="http://schemas.openxmlformats.org/officeDocument/2006/relationships/tags" Target="../tags/tag254.xml"/><Relationship Id="rId7" Type="http://schemas.openxmlformats.org/officeDocument/2006/relationships/tags" Target="../tags/tag258.xml"/><Relationship Id="rId12" Type="http://schemas.openxmlformats.org/officeDocument/2006/relationships/tags" Target="../tags/tag263.xml"/><Relationship Id="rId17" Type="http://schemas.openxmlformats.org/officeDocument/2006/relationships/image" Target="../media/image4.emf"/><Relationship Id="rId2" Type="http://schemas.openxmlformats.org/officeDocument/2006/relationships/tags" Target="../tags/tag253.xml"/><Relationship Id="rId16" Type="http://schemas.openxmlformats.org/officeDocument/2006/relationships/oleObject" Target="../embeddings/oleObject8.bin"/><Relationship Id="rId1" Type="http://schemas.openxmlformats.org/officeDocument/2006/relationships/tags" Target="../tags/tag252.xml"/><Relationship Id="rId6" Type="http://schemas.openxmlformats.org/officeDocument/2006/relationships/tags" Target="../tags/tag257.xml"/><Relationship Id="rId11" Type="http://schemas.openxmlformats.org/officeDocument/2006/relationships/tags" Target="../tags/tag262.xml"/><Relationship Id="rId5" Type="http://schemas.openxmlformats.org/officeDocument/2006/relationships/tags" Target="../tags/tag256.xml"/><Relationship Id="rId15" Type="http://schemas.openxmlformats.org/officeDocument/2006/relationships/slideMaster" Target="../slideMasters/slideMaster3.xml"/><Relationship Id="rId10" Type="http://schemas.openxmlformats.org/officeDocument/2006/relationships/tags" Target="../tags/tag261.xml"/><Relationship Id="rId4" Type="http://schemas.openxmlformats.org/officeDocument/2006/relationships/tags" Target="../tags/tag255.xml"/><Relationship Id="rId9" Type="http://schemas.openxmlformats.org/officeDocument/2006/relationships/tags" Target="../tags/tag260.xml"/><Relationship Id="rId14" Type="http://schemas.openxmlformats.org/officeDocument/2006/relationships/tags" Target="../tags/tag265.xml"/></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273.xml"/><Relationship Id="rId13" Type="http://schemas.openxmlformats.org/officeDocument/2006/relationships/tags" Target="../tags/tag278.xml"/><Relationship Id="rId3" Type="http://schemas.openxmlformats.org/officeDocument/2006/relationships/tags" Target="../tags/tag268.xml"/><Relationship Id="rId7" Type="http://schemas.openxmlformats.org/officeDocument/2006/relationships/tags" Target="../tags/tag272.xml"/><Relationship Id="rId12" Type="http://schemas.openxmlformats.org/officeDocument/2006/relationships/tags" Target="../tags/tag277.xml"/><Relationship Id="rId2" Type="http://schemas.openxmlformats.org/officeDocument/2006/relationships/tags" Target="../tags/tag267.xml"/><Relationship Id="rId16" Type="http://schemas.openxmlformats.org/officeDocument/2006/relationships/image" Target="../media/image1.emf"/><Relationship Id="rId1" Type="http://schemas.openxmlformats.org/officeDocument/2006/relationships/tags" Target="../tags/tag266.xml"/><Relationship Id="rId6" Type="http://schemas.openxmlformats.org/officeDocument/2006/relationships/tags" Target="../tags/tag271.xml"/><Relationship Id="rId11" Type="http://schemas.openxmlformats.org/officeDocument/2006/relationships/tags" Target="../tags/tag276.xml"/><Relationship Id="rId5" Type="http://schemas.openxmlformats.org/officeDocument/2006/relationships/tags" Target="../tags/tag270.xml"/><Relationship Id="rId15" Type="http://schemas.openxmlformats.org/officeDocument/2006/relationships/oleObject" Target="../embeddings/oleObject9.bin"/><Relationship Id="rId10" Type="http://schemas.openxmlformats.org/officeDocument/2006/relationships/tags" Target="../tags/tag275.xml"/><Relationship Id="rId4" Type="http://schemas.openxmlformats.org/officeDocument/2006/relationships/tags" Target="../tags/tag269.xml"/><Relationship Id="rId9" Type="http://schemas.openxmlformats.org/officeDocument/2006/relationships/tags" Target="../tags/tag274.xml"/><Relationship Id="rId14"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tags" Target="../tags/tag281.xml"/><Relationship Id="rId2" Type="http://schemas.openxmlformats.org/officeDocument/2006/relationships/tags" Target="../tags/tag280.xml"/><Relationship Id="rId1" Type="http://schemas.openxmlformats.org/officeDocument/2006/relationships/tags" Target="../tags/tag279.xml"/><Relationship Id="rId6" Type="http://schemas.openxmlformats.org/officeDocument/2006/relationships/image" Target="../media/image2.emf"/><Relationship Id="rId5" Type="http://schemas.openxmlformats.org/officeDocument/2006/relationships/oleObject" Target="../embeddings/oleObject10.bin"/><Relationship Id="rId4"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tags" Target="../tags/tag284.xml"/><Relationship Id="rId7" Type="http://schemas.openxmlformats.org/officeDocument/2006/relationships/oleObject" Target="../embeddings/oleObject11.bin"/><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slideMaster" Target="../slideMasters/slideMaster3.xml"/><Relationship Id="rId5" Type="http://schemas.openxmlformats.org/officeDocument/2006/relationships/tags" Target="../tags/tag286.xml"/><Relationship Id="rId4" Type="http://schemas.openxmlformats.org/officeDocument/2006/relationships/tags" Target="../tags/tag285.xml"/></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88.xml"/><Relationship Id="rId1" Type="http://schemas.openxmlformats.org/officeDocument/2006/relationships/tags" Target="../tags/tag287.xml"/></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90.xml"/><Relationship Id="rId1" Type="http://schemas.openxmlformats.org/officeDocument/2006/relationships/tags" Target="../tags/tag289.xml"/><Relationship Id="rId5" Type="http://schemas.openxmlformats.org/officeDocument/2006/relationships/image" Target="../media/image6.emf"/><Relationship Id="rId4" Type="http://schemas.openxmlformats.org/officeDocument/2006/relationships/oleObject" Target="../embeddings/oleObject12.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92.xml"/><Relationship Id="rId1" Type="http://schemas.openxmlformats.org/officeDocument/2006/relationships/tags" Target="../tags/tag291.xml"/></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94.xml"/><Relationship Id="rId1" Type="http://schemas.openxmlformats.org/officeDocument/2006/relationships/tags" Target="../tags/tag293.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95.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9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rontpage">
    <p:bg>
      <p:bgPr>
        <a:solidFill>
          <a:schemeClr val="tx1"/>
        </a:soli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1"/>
            </p:custDataLst>
            <p:extLst>
              <p:ext uri="{D42A27DB-BD31-4B8C-83A1-F6EECF244321}">
                <p14:modId xmlns:p14="http://schemas.microsoft.com/office/powerpoint/2010/main" val="1916469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4" imgH="344" progId="TCLayout.ActiveDocument.1">
                  <p:embed/>
                </p:oleObj>
              </mc:Choice>
              <mc:Fallback>
                <p:oleObj name="think-cell Slide" r:id="rId9"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3"/>
            </p:custDataLst>
          </p:nvPr>
        </p:nvSpPr>
        <p:spPr>
          <a:xfrm>
            <a:off x="551942" y="326582"/>
            <a:ext cx="1998218" cy="1045018"/>
          </a:xfrm>
          <a:prstGeom prst="rect">
            <a:avLst/>
          </a:prstGeom>
        </p:spPr>
        <p:txBody>
          <a:bodyPr>
            <a:noAutofit/>
          </a:bodyPr>
          <a:lstStyle>
            <a:lvl1pPr algn="ctr">
              <a:defRPr sz="1200">
                <a:solidFill>
                  <a:schemeClr val="tx1"/>
                </a:solidFill>
              </a:defRPr>
            </a:lvl1pPr>
          </a:lstStyle>
          <a:p>
            <a:r>
              <a:rPr lang="en-US"/>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4"/>
            </p:custDataLst>
          </p:nvPr>
        </p:nvSpPr>
        <p:spPr>
          <a:xfrm>
            <a:off x="554736" y="4510168"/>
            <a:ext cx="6255258" cy="215444"/>
          </a:xfrm>
          <a:prstGeom prst="rect">
            <a:avLst/>
          </a:prstGeom>
          <a:solidFill>
            <a:schemeClr val="tx1"/>
          </a:solidFill>
        </p:spPr>
        <p:txBody>
          <a:bodyPr wrap="square">
            <a:noAutofit/>
          </a:bodyPr>
          <a:lstStyle>
            <a:lvl1pPr>
              <a:buNone/>
              <a:defRPr sz="1400">
                <a:solidFill>
                  <a:schemeClr val="bg2"/>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5"/>
            </p:custDataLst>
          </p:nvPr>
        </p:nvSpPr>
        <p:spPr>
          <a:xfrm>
            <a:off x="551942" y="4092559"/>
            <a:ext cx="6255258" cy="307777"/>
          </a:xfrm>
          <a:prstGeom prst="rect">
            <a:avLst/>
          </a:prstGeom>
          <a:solidFill>
            <a:schemeClr val="tx1"/>
          </a:solidFill>
        </p:spPr>
        <p:txBody>
          <a:bodyPr wrap="square">
            <a:noAutofit/>
          </a:bodyPr>
          <a:lstStyle>
            <a:lvl1pPr marL="0" indent="0" algn="l">
              <a:buNone/>
              <a:defRPr sz="20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6"/>
            </p:custDataLst>
          </p:nvPr>
        </p:nvSpPr>
        <p:spPr>
          <a:xfrm>
            <a:off x="551942" y="2519680"/>
            <a:ext cx="6255258" cy="1451832"/>
          </a:xfrm>
          <a:prstGeom prst="rect">
            <a:avLst/>
          </a:prstGeom>
          <a:solidFill>
            <a:schemeClr val="tx1"/>
          </a:solidFill>
        </p:spPr>
        <p:txBody>
          <a:bodyPr vert="horz" anchor="b">
            <a:normAutofit/>
          </a:bodyPr>
          <a:lstStyle>
            <a:lvl1pPr>
              <a:defRPr sz="4400" baseline="0">
                <a:ln w="6350" cap="flat">
                  <a:noFill/>
                  <a:miter lim="800000"/>
                </a:ln>
                <a:solidFill>
                  <a:schemeClr val="bg2"/>
                </a:solidFill>
              </a:defRPr>
            </a:lvl1pPr>
          </a:lstStyle>
          <a:p>
            <a:r>
              <a:rPr lang="en-US"/>
              <a:t>Click to change Master title style</a:t>
            </a:r>
          </a:p>
        </p:txBody>
      </p:sp>
      <p:sp>
        <p:nvSpPr>
          <p:cNvPr id="2" name="1. On-page tracker">
            <a:extLst>
              <a:ext uri="{FF2B5EF4-FFF2-40B4-BE49-F238E27FC236}">
                <a16:creationId xmlns:a16="http://schemas.microsoft.com/office/drawing/2014/main" id="{C0D3CBF4-D047-32CB-A092-652CAC857033}"/>
              </a:ext>
            </a:extLst>
          </p:cNvPr>
          <p:cNvSpPr>
            <a:spLocks noGrp="1"/>
          </p:cNvSpPr>
          <p:nvPr>
            <p:ph type="body" sz="quarter" idx="17" hasCustomPrompt="1"/>
            <p:custDataLst>
              <p:tags r:id="rId7"/>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20190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8"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32290505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8"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7"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355092"/>
            <a:ext cx="11082528" cy="731520"/>
          </a:xfrm>
        </p:spPr>
        <p:txBody>
          <a:bodyPr vert="horz"/>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1318966"/>
            <a:ext cx="11082528" cy="276999"/>
          </a:xfr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7"/>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991908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p left titl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2279F3A-E785-A817-A43D-2AB5BBAC0C60}"/>
              </a:ext>
            </a:extLst>
          </p:cNvPr>
          <p:cNvGraphicFramePr>
            <a:graphicFrameLocks noChangeAspect="1"/>
          </p:cNvGraphicFramePr>
          <p:nvPr userDrawn="1">
            <p:custDataLst>
              <p:tags r:id="rId1"/>
            </p:custDataLst>
            <p:extLst>
              <p:ext uri="{D42A27DB-BD31-4B8C-83A1-F6EECF244321}">
                <p14:modId xmlns:p14="http://schemas.microsoft.com/office/powerpoint/2010/main" val="368757215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5" name="Object 4" hidden="1">
                        <a:extLst>
                          <a:ext uri="{FF2B5EF4-FFF2-40B4-BE49-F238E27FC236}">
                            <a16:creationId xmlns:a16="http://schemas.microsoft.com/office/drawing/2014/main" id="{92279F3A-E785-A817-A43D-2AB5BBAC0C60}"/>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2"/>
            </p:custDataLst>
          </p:nvPr>
        </p:nvSpPr>
        <p:spPr>
          <a:xfrm>
            <a:off x="554736" y="1706563"/>
            <a:ext cx="3813048" cy="694944"/>
          </a:xfrm>
          <a:prstGeom prst="rect">
            <a:avLst/>
          </a:prstGeom>
        </p:spPr>
        <p:txBody>
          <a:bodyPr vert="horz" anchor="t">
            <a:noAutofit/>
          </a:bodyPr>
          <a:lstStyle>
            <a:lvl1pPr>
              <a:lnSpc>
                <a:spcPct val="9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5154603C-472B-D4E8-F358-1CD0ED401B4F}"/>
              </a:ext>
            </a:extLst>
          </p:cNvPr>
          <p:cNvSpPr>
            <a:spLocks noGrp="1"/>
          </p:cNvSpPr>
          <p:nvPr>
            <p:ph type="body" sz="quarter" idx="17" hasCustomPrompt="1"/>
            <p:custDataLst>
              <p:tags r:id="rId5"/>
            </p:custDataLst>
          </p:nvPr>
        </p:nvSpPr>
        <p:spPr>
          <a:xfrm>
            <a:off x="360680" y="6498754"/>
            <a:ext cx="4007104" cy="123111"/>
          </a:xfrm>
        </p:spPr>
        <p:txBody>
          <a:bodyPr wrap="square" anchor="ctr" anchorCtr="0">
            <a:spAutoFit/>
          </a:bodyPr>
          <a:lstStyle>
            <a:lvl1pPr algn="l">
              <a:defRPr sz="800">
                <a:latin typeface="+mn-lt"/>
              </a:defRPr>
            </a:lvl1pPr>
          </a:lstStyle>
          <a:p>
            <a:pPr lvl="0"/>
            <a:r>
              <a:rPr lang="en-US"/>
              <a:t>CONFIDENTIAL</a:t>
            </a:r>
          </a:p>
        </p:txBody>
      </p:sp>
    </p:spTree>
    <p:extLst>
      <p:ext uri="{BB962C8B-B14F-4D97-AF65-F5344CB8AC3E}">
        <p14:creationId xmlns:p14="http://schemas.microsoft.com/office/powerpoint/2010/main" val="3241308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 left title">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 name="1. On-page tracker">
            <a:extLst>
              <a:ext uri="{FF2B5EF4-FFF2-40B4-BE49-F238E27FC236}">
                <a16:creationId xmlns:a16="http://schemas.microsoft.com/office/drawing/2014/main" id="{3057897B-D3C8-A735-DC7E-D4383D1221EB}"/>
              </a:ext>
            </a:extLst>
          </p:cNvPr>
          <p:cNvSpPr>
            <a:spLocks noGrp="1"/>
          </p:cNvSpPr>
          <p:nvPr>
            <p:ph type="body" sz="quarter" idx="17" hasCustomPrompt="1"/>
            <p:custDataLst>
              <p:tags r:id="rId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
        <p:nvSpPr>
          <p:cNvPr id="4" name="Title 3">
            <a:extLst>
              <a:ext uri="{FF2B5EF4-FFF2-40B4-BE49-F238E27FC236}">
                <a16:creationId xmlns:a16="http://schemas.microsoft.com/office/drawing/2014/main" id="{9239AA1C-8AF6-0C30-9D0C-FF36AAB19651}"/>
              </a:ext>
            </a:extLst>
          </p:cNvPr>
          <p:cNvSpPr>
            <a:spLocks noGrp="1"/>
          </p:cNvSpPr>
          <p:nvPr>
            <p:ph type="title"/>
          </p:nvPr>
        </p:nvSpPr>
        <p:spPr/>
        <p:txBody>
          <a:bodyPr/>
          <a:lstStyle/>
          <a:p>
            <a:r>
              <a:rPr lang="en-GB"/>
              <a:t>Click to edit Master title style</a:t>
            </a:r>
            <a:endParaRPr lang="de-DE"/>
          </a:p>
        </p:txBody>
      </p:sp>
    </p:spTree>
    <p:extLst>
      <p:ext uri="{BB962C8B-B14F-4D97-AF65-F5344CB8AC3E}">
        <p14:creationId xmlns:p14="http://schemas.microsoft.com/office/powerpoint/2010/main" val="1932936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er">
    <p:spTree>
      <p:nvGrpSpPr>
        <p:cNvPr id="1" name=""/>
        <p:cNvGrpSpPr/>
        <p:nvPr/>
      </p:nvGrpSpPr>
      <p:grpSpPr>
        <a:xfrm>
          <a:off x="0" y="0"/>
          <a:ext cx="0" cy="0"/>
          <a:chOff x="0" y="0"/>
          <a:chExt cx="0" cy="0"/>
        </a:xfrm>
      </p:grpSpPr>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1"/>
            </p:custDataLst>
          </p:nvPr>
        </p:nvSpPr>
        <p:spPr>
          <a:xfrm>
            <a:off x="554736" y="4580468"/>
            <a:ext cx="11082528" cy="677108"/>
          </a:xfrm>
        </p:spPr>
        <p:txBody>
          <a:bodyPr anchor="b">
            <a:noAutofit/>
          </a:bodyPr>
          <a:lstStyle>
            <a:lvl1pPr>
              <a:lnSpc>
                <a:spcPct val="100000"/>
              </a:lnSpc>
              <a:defRPr sz="4400"/>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3" name="1. On-page tracker">
            <a:extLst>
              <a:ext uri="{FF2B5EF4-FFF2-40B4-BE49-F238E27FC236}">
                <a16:creationId xmlns:a16="http://schemas.microsoft.com/office/drawing/2014/main" id="{77387CA2-37E3-E660-67B4-16D621E80E72}"/>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95533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4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1975323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tx1">
                  <a:lumMod val="85000"/>
                </a:schemeClr>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userDrawn="1">
            <p:custDataLst>
              <p:tags r:id="rId6"/>
            </p:custDataLst>
          </p:nvPr>
        </p:nvCxnSpPr>
        <p:spPr>
          <a:xfrm>
            <a:off x="3715757"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userDrawn="1">
            <p:custDataLst>
              <p:tags r:id="rId7"/>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userDrawn="1">
            <p:custDataLst>
              <p:tags r:id="rId8"/>
            </p:custDataLst>
          </p:nvPr>
        </p:nvCxnSpPr>
        <p:spPr>
          <a:xfrm>
            <a:off x="3715757"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userDrawn="1">
            <p:custDataLst>
              <p:tags r:id="rId9"/>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10"/>
            </p:custDataLst>
          </p:nvPr>
        </p:nvSpPr>
        <p:spPr>
          <a:xfrm>
            <a:off x="554736" y="2133601"/>
            <a:ext cx="2514600" cy="1380210"/>
          </a:xfrm>
        </p:spPr>
        <p:txBody>
          <a:bodyPr vert="horz" anchor="b">
            <a:noAutofit/>
          </a:bodyPr>
          <a:lstStyle>
            <a:lvl1pPr>
              <a:defRPr>
                <a:solidFill>
                  <a:schemeClr val="bg2"/>
                </a:solidFill>
              </a:defRPr>
            </a:lvl1pPr>
          </a:lstStyle>
          <a:p>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11"/>
            </p:custDataLst>
          </p:nvPr>
        </p:nvSpPr>
        <p:spPr>
          <a:xfrm>
            <a:off x="554736" y="3659644"/>
            <a:ext cx="2514600" cy="553998"/>
          </a:xfrm>
        </p:spPr>
        <p:txBody>
          <a:bodyPr wrap="square">
            <a:spAutoFit/>
          </a:bodyPr>
          <a:lstStyle>
            <a:lvl1pPr marL="0" indent="0" algn="l">
              <a:buNone/>
              <a:defRPr sz="18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1. On-page tracker">
            <a:extLst>
              <a:ext uri="{FF2B5EF4-FFF2-40B4-BE49-F238E27FC236}">
                <a16:creationId xmlns:a16="http://schemas.microsoft.com/office/drawing/2014/main" id="{C3405AEA-74D5-910E-C204-B62E695DB028}"/>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2828798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3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4383999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userDrawn="1">
            <p:custDataLst>
              <p:tags r:id="rId6"/>
            </p:custDataLst>
          </p:nvPr>
        </p:nvCxnSpPr>
        <p:spPr>
          <a:xfrm>
            <a:off x="4671219"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userDrawn="1">
            <p:custDataLst>
              <p:tags r:id="rId7"/>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userDrawn="1">
            <p:custDataLst>
              <p:tags r:id="rId8"/>
            </p:custDataLst>
          </p:nvPr>
        </p:nvCxnSpPr>
        <p:spPr>
          <a:xfrm>
            <a:off x="4671219"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userDrawn="1">
            <p:custDataLst>
              <p:tags r:id="rId9"/>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10"/>
            </p:custDataLst>
          </p:nvPr>
        </p:nvSpPr>
        <p:spPr>
          <a:xfrm>
            <a:off x="554736" y="2744369"/>
            <a:ext cx="3465576" cy="769441"/>
          </a:xfrm>
          <a:prstGeom prst="rect">
            <a:avLst/>
          </a:prstGeom>
        </p:spPr>
        <p:txBody>
          <a:bodyPr vert="horz" wrap="square" anchor="b">
            <a:noAutofit/>
          </a:bodyPr>
          <a:lstStyle>
            <a:lvl1pPr algn="l">
              <a:defRPr>
                <a:solidFill>
                  <a:schemeClr val="bg1"/>
                </a:solidFill>
              </a:defRPr>
            </a:lvl1pPr>
          </a:lstStyle>
          <a:p>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11"/>
            </p:custDataLst>
          </p:nvPr>
        </p:nvSpPr>
        <p:spPr>
          <a:xfrm>
            <a:off x="554735" y="3659644"/>
            <a:ext cx="3465575" cy="276999"/>
          </a:xfrm>
        </p:spPr>
        <p:txBody>
          <a:bodyPr wrap="square">
            <a:spAutoFit/>
          </a:bodyPr>
          <a:lstStyle>
            <a:lvl1pPr marL="0" indent="0" algn="l">
              <a:buNone/>
              <a:defRPr sz="1800" b="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1. On-page tracker">
            <a:extLst>
              <a:ext uri="{FF2B5EF4-FFF2-40B4-BE49-F238E27FC236}">
                <a16:creationId xmlns:a16="http://schemas.microsoft.com/office/drawing/2014/main" id="{1AB19973-CFDD-3FB8-6DFF-498B601C379D}"/>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640376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2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529061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3" imgH="416" progId="TCLayout.ActiveDocument.1">
                  <p:embed/>
                </p:oleObj>
              </mc:Choice>
              <mc:Fallback>
                <p:oleObj name="think-cell Slide" r:id="rId16"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userDrawn="1">
            <p:custDataLst>
              <p:tags r:id="rId6"/>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userDrawn="1">
            <p:custDataLst>
              <p:tags r:id="rId7"/>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userDrawn="1">
            <p:custDataLst>
              <p:tags r:id="rId8"/>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userDrawn="1">
            <p:custDataLst>
              <p:tags r:id="rId9"/>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userDrawn="1">
            <p:custDataLst>
              <p:tags r:id="rId10"/>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1"/>
            </p:custDataLst>
          </p:nvPr>
        </p:nvSpPr>
        <p:spPr>
          <a:xfrm>
            <a:off x="554736" y="355092"/>
            <a:ext cx="5065776" cy="731520"/>
          </a:xfrm>
        </p:spPr>
        <p:txBody>
          <a:bodyPr vert="horz"/>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2"/>
            </p:custDataLst>
          </p:nvPr>
        </p:nvSpPr>
        <p:spPr>
          <a:xfrm>
            <a:off x="554736" y="1287435"/>
            <a:ext cx="5065776" cy="3046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TextBox 3">
            <a:extLst>
              <a:ext uri="{FF2B5EF4-FFF2-40B4-BE49-F238E27FC236}">
                <a16:creationId xmlns:a16="http://schemas.microsoft.com/office/drawing/2014/main" id="{8467FBB9-900F-D74F-181C-8D3946FC8460}"/>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2722660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1/2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529061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3" imgH="416" progId="TCLayout.ActiveDocument.1">
                  <p:embed/>
                </p:oleObj>
              </mc:Choice>
              <mc:Fallback>
                <p:oleObj name="think-cell Slide" r:id="rId16"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userDrawn="1">
            <p:custDataLst>
              <p:tags r:id="rId6"/>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userDrawn="1">
            <p:custDataLst>
              <p:tags r:id="rId7"/>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a:cxnSpLocks/>
          </p:cNvCxnSpPr>
          <p:nvPr userDrawn="1">
            <p:custDataLst>
              <p:tags r:id="rId8"/>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userDrawn="1">
            <p:custDataLst>
              <p:tags r:id="rId9"/>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userDrawn="1">
            <p:custDataLst>
              <p:tags r:id="rId10"/>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1"/>
            </p:custDataLst>
          </p:nvPr>
        </p:nvSpPr>
        <p:spPr>
          <a:xfrm>
            <a:off x="6573171" y="355092"/>
            <a:ext cx="5065776" cy="731520"/>
          </a:xfrm>
        </p:spPr>
        <p:txBody>
          <a:bodyPr vert="horz"/>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2"/>
            </p:custDataLst>
          </p:nvPr>
        </p:nvSpPr>
        <p:spPr>
          <a:xfrm>
            <a:off x="6573171" y="1287435"/>
            <a:ext cx="5065776" cy="3046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TextBox 3">
            <a:extLst>
              <a:ext uri="{FF2B5EF4-FFF2-40B4-BE49-F238E27FC236}">
                <a16:creationId xmlns:a16="http://schemas.microsoft.com/office/drawing/2014/main" id="{8467FBB9-900F-D74F-181C-8D3946FC8460}"/>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765167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3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2879537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572" imgH="588" progId="TCLayout.ActiveDocument.1">
                  <p:embed/>
                </p:oleObj>
              </mc:Choice>
              <mc:Fallback>
                <p:oleObj name="think-cell Slide" r:id="rId16"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355092"/>
            <a:ext cx="6967728" cy="731520"/>
          </a:xfrm>
        </p:spPr>
        <p:txBody>
          <a:bodyPr vert="horz"/>
          <a:lstStyle/>
          <a:p>
            <a:r>
              <a:rPr lang="en-US"/>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5"/>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userDrawn="1">
            <p:custDataLst>
              <p:tags r:id="rId7"/>
            </p:custDataLst>
          </p:nvPr>
        </p:nvCxnSpPr>
        <p:spPr>
          <a:xfrm>
            <a:off x="8173371"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userDrawn="1">
            <p:custDataLst>
              <p:tags r:id="rId8"/>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userDrawn="1">
            <p:custDataLst>
              <p:tags r:id="rId9"/>
            </p:custDataLst>
          </p:nvPr>
        </p:nvCxnSpPr>
        <p:spPr>
          <a:xfrm>
            <a:off x="8173371"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userDrawn="1">
            <p:custDataLst>
              <p:tags r:id="rId10"/>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D646E-BD43-4948-96FE-F798F0E18D71}"/>
              </a:ext>
            </a:extLst>
          </p:cNvPr>
          <p:cNvCxnSpPr/>
          <p:nvPr userDrawn="1">
            <p:custDataLst>
              <p:tags r:id="rId11"/>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12"/>
            </p:custDataLst>
          </p:nvPr>
        </p:nvSpPr>
        <p:spPr>
          <a:xfrm>
            <a:off x="554736" y="1291125"/>
            <a:ext cx="6967728" cy="2769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13"/>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1. On-page tracker">
            <a:extLst>
              <a:ext uri="{FF2B5EF4-FFF2-40B4-BE49-F238E27FC236}">
                <a16:creationId xmlns:a16="http://schemas.microsoft.com/office/drawing/2014/main" id="{81FC95FE-98AE-2D03-2407-7155AFECE47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2805448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4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4815643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27" name="BottomLineRight">
            <a:extLst>
              <a:ext uri="{FF2B5EF4-FFF2-40B4-BE49-F238E27FC236}">
                <a16:creationId xmlns:a16="http://schemas.microsoft.com/office/drawing/2014/main" id="{C7EF0021-7C64-4C3A-BB10-343D51B3F040}"/>
              </a:ext>
            </a:extLst>
          </p:cNvPr>
          <p:cNvCxnSpPr/>
          <p:nvPr>
            <p:custDataLst>
              <p:tags r:id="rId6"/>
            </p:custDataLst>
          </p:nvPr>
        </p:nvCxnSpPr>
        <p:spPr>
          <a:xfrm>
            <a:off x="9119861"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BottomLineLeft">
            <a:extLst>
              <a:ext uri="{FF2B5EF4-FFF2-40B4-BE49-F238E27FC236}">
                <a16:creationId xmlns:a16="http://schemas.microsoft.com/office/drawing/2014/main" id="{769848ED-A1D9-4D6F-AC16-5512562B47A0}"/>
              </a:ext>
            </a:extLst>
          </p:cNvPr>
          <p:cNvCxnSpPr/>
          <p:nvPr>
            <p:custDataLst>
              <p:tags r:id="rId7"/>
            </p:custDataLst>
          </p:nvPr>
        </p:nvCxnSpPr>
        <p:spPr>
          <a:xfrm>
            <a:off x="554736"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Right">
            <a:extLst>
              <a:ext uri="{FF2B5EF4-FFF2-40B4-BE49-F238E27FC236}">
                <a16:creationId xmlns:a16="http://schemas.microsoft.com/office/drawing/2014/main" id="{9DD5C457-8894-4C00-BE39-CE61754727F6}"/>
              </a:ext>
            </a:extLst>
          </p:cNvPr>
          <p:cNvCxnSpPr/>
          <p:nvPr userDrawn="1">
            <p:custDataLst>
              <p:tags r:id="rId8"/>
            </p:custDataLst>
          </p:nvPr>
        </p:nvCxnSpPr>
        <p:spPr>
          <a:xfrm>
            <a:off x="9119861"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Left">
            <a:extLst>
              <a:ext uri="{FF2B5EF4-FFF2-40B4-BE49-F238E27FC236}">
                <a16:creationId xmlns:a16="http://schemas.microsoft.com/office/drawing/2014/main" id="{8B2884B5-93FA-4ECC-9065-3398231F02FC}"/>
              </a:ext>
            </a:extLst>
          </p:cNvPr>
          <p:cNvCxnSpPr/>
          <p:nvPr userDrawn="1">
            <p:custDataLst>
              <p:tags r:id="rId9"/>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0"/>
            </p:custDataLst>
          </p:nvPr>
        </p:nvSpPr>
        <p:spPr>
          <a:xfrm>
            <a:off x="554736" y="354162"/>
            <a:ext cx="7918704" cy="731520"/>
          </a:xfrm>
        </p:spPr>
        <p:txBody>
          <a:bodyPr vert="horz"/>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1"/>
            </p:custDataLst>
          </p:nvPr>
        </p:nvSpPr>
        <p:spPr>
          <a:xfrm>
            <a:off x="554736" y="1291125"/>
            <a:ext cx="7918704" cy="297181"/>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4" name="1. On-page tracker">
            <a:extLst>
              <a:ext uri="{FF2B5EF4-FFF2-40B4-BE49-F238E27FC236}">
                <a16:creationId xmlns:a16="http://schemas.microsoft.com/office/drawing/2014/main" id="{40C50DBC-77FE-61C3-BB9B-59D913291108}"/>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817042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1"/>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 name="ClientLogo">
            <a:extLst>
              <a:ext uri="{FF2B5EF4-FFF2-40B4-BE49-F238E27FC236}">
                <a16:creationId xmlns:a16="http://schemas.microsoft.com/office/drawing/2014/main" id="{360045FA-4F2B-7CCC-BC88-DBB2BC856EF6}"/>
              </a:ext>
            </a:extLst>
          </p:cNvPr>
          <p:cNvSpPr>
            <a:spLocks noGrp="1"/>
          </p:cNvSpPr>
          <p:nvPr>
            <p:ph type="pic" sz="quarter" idx="14" hasCustomPrompt="1"/>
            <p:custDataLst>
              <p:tags r:id="rId3"/>
            </p:custDataLst>
          </p:nvPr>
        </p:nvSpPr>
        <p:spPr>
          <a:xfrm>
            <a:off x="5096891" y="2906491"/>
            <a:ext cx="1998218" cy="1045018"/>
          </a:xfrm>
          <a:prstGeom prst="rect">
            <a:avLst/>
          </a:prstGeom>
        </p:spPr>
        <p:txBody>
          <a:bodyPr>
            <a:noAutofit/>
          </a:bodyPr>
          <a:lstStyle>
            <a:lvl1pPr algn="ctr">
              <a:defRPr sz="1200">
                <a:solidFill>
                  <a:schemeClr val="tx1"/>
                </a:solidFill>
              </a:defRPr>
            </a:lvl1pPr>
          </a:lstStyle>
          <a:p>
            <a:r>
              <a:rPr lang="en-US"/>
              <a:t>logo goes here.</a:t>
            </a:r>
          </a:p>
        </p:txBody>
      </p:sp>
    </p:spTree>
    <p:extLst>
      <p:ext uri="{BB962C8B-B14F-4D97-AF65-F5344CB8AC3E}">
        <p14:creationId xmlns:p14="http://schemas.microsoft.com/office/powerpoint/2010/main" val="2897329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breaker blu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10C5396-A74C-51C3-AEC5-D35E7FDD26AD}"/>
              </a:ext>
            </a:extLst>
          </p:cNvPr>
          <p:cNvGraphicFramePr>
            <a:graphicFrameLocks noChangeAspect="1"/>
          </p:cNvGraphicFramePr>
          <p:nvPr userDrawn="1">
            <p:custDataLst>
              <p:tags r:id="rId1"/>
            </p:custDataLst>
            <p:extLst>
              <p:ext uri="{D42A27DB-BD31-4B8C-83A1-F6EECF244321}">
                <p14:modId xmlns:p14="http://schemas.microsoft.com/office/powerpoint/2010/main" val="120000826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3" name="Object 2" hidden="1">
                        <a:extLst>
                          <a:ext uri="{FF2B5EF4-FFF2-40B4-BE49-F238E27FC236}">
                            <a16:creationId xmlns:a16="http://schemas.microsoft.com/office/drawing/2014/main" id="{310C5396-A74C-51C3-AEC5-D35E7FDD26AD}"/>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2"/>
            </p:custDataLst>
          </p:nvPr>
        </p:nvSpPr>
        <p:spPr>
          <a:xfrm>
            <a:off x="554736" y="4580468"/>
            <a:ext cx="11082528" cy="677108"/>
          </a:xfrm>
        </p:spPr>
        <p:txBody>
          <a:bodyPr vert="horz" anchor="b">
            <a:noAutofit/>
          </a:bodyPr>
          <a:lstStyle>
            <a:lvl1pPr>
              <a:lnSpc>
                <a:spcPct val="100000"/>
              </a:lnSpc>
              <a:defRPr sz="4400">
                <a:solidFill>
                  <a:schemeClr val="bg2"/>
                </a:solidFill>
              </a:defRPr>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TextBox 3">
            <a:extLst>
              <a:ext uri="{FF2B5EF4-FFF2-40B4-BE49-F238E27FC236}">
                <a16:creationId xmlns:a16="http://schemas.microsoft.com/office/drawing/2014/main" id="{9BB5FB0D-5CC7-9318-47B3-B932C5E0C6E2}"/>
              </a:ext>
            </a:extLst>
          </p:cNvPr>
          <p:cNvSpPr txBox="1"/>
          <p:nvPr userDrawn="1"/>
        </p:nvSpPr>
        <p:spPr>
          <a:xfrm>
            <a:off x="1843088" y="-80010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2" name="1. On-page tracker">
            <a:extLst>
              <a:ext uri="{FF2B5EF4-FFF2-40B4-BE49-F238E27FC236}">
                <a16:creationId xmlns:a16="http://schemas.microsoft.com/office/drawing/2014/main" id="{51CB7D96-238D-424E-1A92-C27F075F8348}"/>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363217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32"/>
        <p:cNvGrpSpPr/>
        <p:nvPr/>
      </p:nvGrpSpPr>
      <p:grpSpPr>
        <a:xfrm>
          <a:off x="0" y="0"/>
          <a:ext cx="0" cy="0"/>
          <a:chOff x="0" y="0"/>
          <a:chExt cx="0" cy="0"/>
        </a:xfrm>
      </p:grpSpPr>
      <p:sp>
        <p:nvSpPr>
          <p:cNvPr id="33" name="Google Shape;33;p57"/>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7"/>
          <p:cNvSpPr txBox="1">
            <a:spLocks noGrp="1"/>
          </p:cNvSpPr>
          <p:nvPr>
            <p:ph type="body" idx="1"/>
          </p:nvPr>
        </p:nvSpPr>
        <p:spPr>
          <a:xfrm>
            <a:off x="569118" y="1400032"/>
            <a:ext cx="11072019" cy="482942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71616"/>
              </a:buClr>
              <a:buSzPts val="1800"/>
              <a:buChar char="•"/>
              <a:defRPr/>
            </a:lvl1pPr>
            <a:lvl2pPr marL="914400" lvl="1" indent="-342900" algn="l">
              <a:lnSpc>
                <a:spcPct val="90000"/>
              </a:lnSpc>
              <a:spcBef>
                <a:spcPts val="500"/>
              </a:spcBef>
              <a:spcAft>
                <a:spcPts val="0"/>
              </a:spcAft>
              <a:buClr>
                <a:srgbClr val="171616"/>
              </a:buClr>
              <a:buSzPts val="1800"/>
              <a:buChar char="•"/>
              <a:defRPr/>
            </a:lvl2pPr>
            <a:lvl3pPr marL="1371600" lvl="2" indent="-342900" algn="l">
              <a:lnSpc>
                <a:spcPct val="90000"/>
              </a:lnSpc>
              <a:spcBef>
                <a:spcPts val="500"/>
              </a:spcBef>
              <a:spcAft>
                <a:spcPts val="0"/>
              </a:spcAft>
              <a:buClr>
                <a:srgbClr val="171616"/>
              </a:buClr>
              <a:buSzPts val="1800"/>
              <a:buChar char="•"/>
              <a:defRPr/>
            </a:lvl3pPr>
            <a:lvl4pPr marL="1828800" lvl="3" indent="-342900" algn="l">
              <a:lnSpc>
                <a:spcPct val="90000"/>
              </a:lnSpc>
              <a:spcBef>
                <a:spcPts val="500"/>
              </a:spcBef>
              <a:spcAft>
                <a:spcPts val="0"/>
              </a:spcAft>
              <a:buClr>
                <a:srgbClr val="171616"/>
              </a:buClr>
              <a:buSzPts val="1800"/>
              <a:buChar char="•"/>
              <a:defRPr/>
            </a:lvl4pPr>
            <a:lvl5pPr marL="2286000" lvl="4" indent="-342900" algn="l">
              <a:lnSpc>
                <a:spcPct val="90000"/>
              </a:lnSpc>
              <a:spcBef>
                <a:spcPts val="500"/>
              </a:spcBef>
              <a:spcAft>
                <a:spcPts val="0"/>
              </a:spcAft>
              <a:buClr>
                <a:srgbClr val="17161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 name="Slide Number">
            <a:extLst>
              <a:ext uri="{FF2B5EF4-FFF2-40B4-BE49-F238E27FC236}">
                <a16:creationId xmlns:a16="http://schemas.microsoft.com/office/drawing/2014/main" id="{3771A5E6-4EA7-C278-CF9B-197E6937D3F5}"/>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3" name="1. On-page tracker">
            <a:extLst>
              <a:ext uri="{FF2B5EF4-FFF2-40B4-BE49-F238E27FC236}">
                <a16:creationId xmlns:a16="http://schemas.microsoft.com/office/drawing/2014/main" id="{8B23C019-3D76-9585-DF94-4D39967D422C}"/>
              </a:ext>
            </a:extLst>
          </p:cNvPr>
          <p:cNvSpPr>
            <a:spLocks noGrp="1"/>
          </p:cNvSpPr>
          <p:nvPr>
            <p:ph type="body" sz="quarter" idx="17" hasCustomPrompt="1"/>
            <p:custDataLst>
              <p:tags r:id="rId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4177170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Blank" userDrawn="1">
  <p:cSld name="Blank">
    <p:spTree>
      <p:nvGrpSpPr>
        <p:cNvPr id="1" name="Shape 60"/>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EA2B47-10D4-7DBD-8DB4-FE8BB18230A6}"/>
              </a:ext>
            </a:extLst>
          </p:cNvPr>
          <p:cNvGraphicFramePr>
            <a:graphicFrameLocks noChangeAspect="1"/>
          </p:cNvGraphicFramePr>
          <p:nvPr userDrawn="1">
            <p:custDataLst>
              <p:tags r:id="rId1"/>
            </p:custDataLst>
            <p:extLst>
              <p:ext uri="{D42A27DB-BD31-4B8C-83A1-F6EECF244321}">
                <p14:modId xmlns:p14="http://schemas.microsoft.com/office/powerpoint/2010/main" val="362567511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 name="Object 2" hidden="1">
                        <a:extLst>
                          <a:ext uri="{FF2B5EF4-FFF2-40B4-BE49-F238E27FC236}">
                            <a16:creationId xmlns:a16="http://schemas.microsoft.com/office/drawing/2014/main" id="{58EA2B47-10D4-7DBD-8DB4-FE8BB18230A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1. On-page tracker">
            <a:extLst>
              <a:ext uri="{FF2B5EF4-FFF2-40B4-BE49-F238E27FC236}">
                <a16:creationId xmlns:a16="http://schemas.microsoft.com/office/drawing/2014/main" id="{251045C4-024B-CA7B-E270-32B5FE04C1F7}"/>
              </a:ext>
            </a:extLst>
          </p:cNvPr>
          <p:cNvSpPr>
            <a:spLocks noGrp="1"/>
          </p:cNvSpPr>
          <p:nvPr>
            <p:ph type="body" sz="quarter" idx="17" hasCustomPrompt="1"/>
            <p:custDataLst>
              <p:tags r:id="rId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1482058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genda" userDrawn="1">
  <p:cSld name="Agenda">
    <p:spTree>
      <p:nvGrpSpPr>
        <p:cNvPr id="1" name="Shape 20"/>
        <p:cNvGrpSpPr/>
        <p:nvPr/>
      </p:nvGrpSpPr>
      <p:grpSpPr>
        <a:xfrm>
          <a:off x="0" y="0"/>
          <a:ext cx="0" cy="0"/>
          <a:chOff x="0" y="0"/>
          <a:chExt cx="0" cy="0"/>
        </a:xfrm>
      </p:grpSpPr>
      <p:sp>
        <p:nvSpPr>
          <p:cNvPr id="21" name="Google Shape;21;p40"/>
          <p:cNvSpPr txBox="1">
            <a:spLocks noGrp="1"/>
          </p:cNvSpPr>
          <p:nvPr>
            <p:ph type="title"/>
          </p:nvPr>
        </p:nvSpPr>
        <p:spPr>
          <a:xfrm>
            <a:off x="469838" y="1661489"/>
            <a:ext cx="3004599"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0"/>
          <p:cNvSpPr txBox="1">
            <a:spLocks noGrp="1"/>
          </p:cNvSpPr>
          <p:nvPr>
            <p:ph type="body" idx="1"/>
          </p:nvPr>
        </p:nvSpPr>
        <p:spPr>
          <a:xfrm>
            <a:off x="4991582" y="1661489"/>
            <a:ext cx="6649556" cy="4446532"/>
          </a:xfrm>
          <a:prstGeom prst="rect">
            <a:avLst/>
          </a:prstGeom>
          <a:noFill/>
          <a:ln>
            <a:noFill/>
          </a:ln>
        </p:spPr>
        <p:txBody>
          <a:bodyPr spcFirstLastPara="1" wrap="square" lIns="91425" tIns="45700" rIns="91425" bIns="45700" anchor="t" anchorCtr="0">
            <a:normAutofit/>
          </a:bodyPr>
          <a:lstStyle>
            <a:lvl1pPr marL="457200" lvl="0" indent="-330200" algn="l">
              <a:lnSpc>
                <a:spcPct val="150000"/>
              </a:lnSpc>
              <a:spcBef>
                <a:spcPts val="1000"/>
              </a:spcBef>
              <a:spcAft>
                <a:spcPts val="0"/>
              </a:spcAft>
              <a:buClr>
                <a:srgbClr val="171616"/>
              </a:buClr>
              <a:buSzPts val="1600"/>
              <a:buChar char="•"/>
              <a:defRPr sz="1600" b="0">
                <a:solidFill>
                  <a:srgbClr val="171616"/>
                </a:solidFill>
              </a:defRPr>
            </a:lvl1pPr>
            <a:lvl2pPr marL="914400" lvl="1" indent="-330200" algn="l">
              <a:lnSpc>
                <a:spcPct val="150000"/>
              </a:lnSpc>
              <a:spcBef>
                <a:spcPts val="500"/>
              </a:spcBef>
              <a:spcAft>
                <a:spcPts val="0"/>
              </a:spcAft>
              <a:buClr>
                <a:srgbClr val="171616"/>
              </a:buClr>
              <a:buSzPts val="1600"/>
              <a:buChar char="•"/>
              <a:defRPr sz="1600" b="0">
                <a:solidFill>
                  <a:srgbClr val="171616"/>
                </a:solidFill>
              </a:defRPr>
            </a:lvl2pPr>
            <a:lvl3pPr marL="1371600" lvl="2" indent="-330200" algn="l">
              <a:lnSpc>
                <a:spcPct val="150000"/>
              </a:lnSpc>
              <a:spcBef>
                <a:spcPts val="500"/>
              </a:spcBef>
              <a:spcAft>
                <a:spcPts val="0"/>
              </a:spcAft>
              <a:buClr>
                <a:srgbClr val="171616"/>
              </a:buClr>
              <a:buSzPts val="1600"/>
              <a:buChar char="•"/>
              <a:defRPr sz="1600" b="0">
                <a:solidFill>
                  <a:srgbClr val="171616"/>
                </a:solidFill>
              </a:defRPr>
            </a:lvl3pPr>
            <a:lvl4pPr marL="1828800" lvl="3" indent="-330200" algn="l">
              <a:lnSpc>
                <a:spcPct val="150000"/>
              </a:lnSpc>
              <a:spcBef>
                <a:spcPts val="500"/>
              </a:spcBef>
              <a:spcAft>
                <a:spcPts val="0"/>
              </a:spcAft>
              <a:buClr>
                <a:srgbClr val="171616"/>
              </a:buClr>
              <a:buSzPts val="1600"/>
              <a:buChar char="•"/>
              <a:defRPr sz="1600" b="0">
                <a:solidFill>
                  <a:srgbClr val="171616"/>
                </a:solidFill>
              </a:defRPr>
            </a:lvl4pPr>
            <a:lvl5pPr marL="2286000" lvl="4" indent="-330200" algn="l">
              <a:lnSpc>
                <a:spcPct val="150000"/>
              </a:lnSpc>
              <a:spcBef>
                <a:spcPts val="500"/>
              </a:spcBef>
              <a:spcAft>
                <a:spcPts val="0"/>
              </a:spcAft>
              <a:buClr>
                <a:srgbClr val="171616"/>
              </a:buClr>
              <a:buSzPts val="1600"/>
              <a:buChar char="•"/>
              <a:defRPr sz="1600" b="0">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 name="1. On-page tracker">
            <a:extLst>
              <a:ext uri="{FF2B5EF4-FFF2-40B4-BE49-F238E27FC236}">
                <a16:creationId xmlns:a16="http://schemas.microsoft.com/office/drawing/2014/main" id="{D2CA4751-B1D3-6C52-458C-3874A5CCDA66}"/>
              </a:ext>
            </a:extLst>
          </p:cNvPr>
          <p:cNvSpPr>
            <a:spLocks noGrp="1"/>
          </p:cNvSpPr>
          <p:nvPr>
            <p:ph type="body" sz="quarter" idx="17" hasCustomPrompt="1"/>
            <p:custDataLst>
              <p:tags r:id="rId1"/>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
        <p:nvSpPr>
          <p:cNvPr id="3" name="Slide Number">
            <a:extLst>
              <a:ext uri="{FF2B5EF4-FFF2-40B4-BE49-F238E27FC236}">
                <a16:creationId xmlns:a16="http://schemas.microsoft.com/office/drawing/2014/main" id="{17B1F91A-8608-5996-6EE2-52B576CD4117}"/>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35208014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userDrawn="1">
  <p:cSld name="Title Only">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 name="1. On-page tracker">
            <a:extLst>
              <a:ext uri="{FF2B5EF4-FFF2-40B4-BE49-F238E27FC236}">
                <a16:creationId xmlns:a16="http://schemas.microsoft.com/office/drawing/2014/main" id="{280E36D8-9727-3A66-B568-44AB140574CA}"/>
              </a:ext>
            </a:extLst>
          </p:cNvPr>
          <p:cNvSpPr>
            <a:spLocks noGrp="1"/>
          </p:cNvSpPr>
          <p:nvPr>
            <p:ph type="body" sz="quarter" idx="17" hasCustomPrompt="1"/>
            <p:custDataLst>
              <p:tags r:id="rId1"/>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
        <p:nvSpPr>
          <p:cNvPr id="3" name="Slide Number">
            <a:extLst>
              <a:ext uri="{FF2B5EF4-FFF2-40B4-BE49-F238E27FC236}">
                <a16:creationId xmlns:a16="http://schemas.microsoft.com/office/drawing/2014/main" id="{0649F191-C694-FE89-7416-DE67666A6CAC}"/>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3859722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05DDE-08ED-4939-B42D-FCE998A24DF2}"/>
              </a:ext>
            </a:extLst>
          </p:cNvPr>
          <p:cNvSpPr>
            <a:spLocks noGrp="1"/>
          </p:cNvSpPr>
          <p:nvPr>
            <p:ph type="title"/>
          </p:nvPr>
        </p:nvSpPr>
        <p:spPr/>
        <p:txBody>
          <a:bodyPr/>
          <a:lstStyle/>
          <a:p>
            <a:r>
              <a:rPr lang="en-GB"/>
              <a:t>Click to edit Master title style</a:t>
            </a:r>
            <a:endParaRPr lang="en-DK"/>
          </a:p>
        </p:txBody>
      </p:sp>
      <p:sp>
        <p:nvSpPr>
          <p:cNvPr id="3" name="Content Placeholder 2">
            <a:extLst>
              <a:ext uri="{FF2B5EF4-FFF2-40B4-BE49-F238E27FC236}">
                <a16:creationId xmlns:a16="http://schemas.microsoft.com/office/drawing/2014/main" id="{EE1D3418-51D4-5391-448E-744257B6D5F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Slide Number">
            <a:extLst>
              <a:ext uri="{FF2B5EF4-FFF2-40B4-BE49-F238E27FC236}">
                <a16:creationId xmlns:a16="http://schemas.microsoft.com/office/drawing/2014/main" id="{D9CD5BD8-2663-9BE4-201E-456E71D4564A}"/>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14640555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 name="Slide Number">
            <a:extLst>
              <a:ext uri="{FF2B5EF4-FFF2-40B4-BE49-F238E27FC236}">
                <a16:creationId xmlns:a16="http://schemas.microsoft.com/office/drawing/2014/main" id="{D26A8D4C-8114-AAF3-B69E-60AB80EB26DE}"/>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17267001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1EC11-3BB4-5CD5-B5D8-F851882A7B2D}"/>
              </a:ext>
            </a:extLst>
          </p:cNvPr>
          <p:cNvSpPr>
            <a:spLocks noGrp="1"/>
          </p:cNvSpPr>
          <p:nvPr>
            <p:ph type="title"/>
          </p:nvPr>
        </p:nvSpPr>
        <p:spPr/>
        <p:txBody>
          <a:bodyPr/>
          <a:lstStyle/>
          <a:p>
            <a:r>
              <a:rPr lang="en-GB"/>
              <a:t>Click to edit Master title style</a:t>
            </a:r>
            <a:endParaRPr lang="de-DE"/>
          </a:p>
        </p:txBody>
      </p:sp>
    </p:spTree>
    <p:extLst>
      <p:ext uri="{BB962C8B-B14F-4D97-AF65-F5344CB8AC3E}">
        <p14:creationId xmlns:p14="http://schemas.microsoft.com/office/powerpoint/2010/main" val="35776427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F6E7C-C443-DA8C-7AE7-98BBB85404C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de-DE"/>
          </a:p>
        </p:txBody>
      </p:sp>
      <p:sp>
        <p:nvSpPr>
          <p:cNvPr id="3" name="Subtitle 2">
            <a:extLst>
              <a:ext uri="{FF2B5EF4-FFF2-40B4-BE49-F238E27FC236}">
                <a16:creationId xmlns:a16="http://schemas.microsoft.com/office/drawing/2014/main" id="{8162E517-5932-455D-5DCF-E3584965D5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de-DE"/>
          </a:p>
        </p:txBody>
      </p:sp>
      <p:sp>
        <p:nvSpPr>
          <p:cNvPr id="4" name="Date Placeholder 3">
            <a:extLst>
              <a:ext uri="{FF2B5EF4-FFF2-40B4-BE49-F238E27FC236}">
                <a16:creationId xmlns:a16="http://schemas.microsoft.com/office/drawing/2014/main" id="{B3018647-6FE3-E631-D545-260615BD462D}"/>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5" name="Footer Placeholder 4">
            <a:extLst>
              <a:ext uri="{FF2B5EF4-FFF2-40B4-BE49-F238E27FC236}">
                <a16:creationId xmlns:a16="http://schemas.microsoft.com/office/drawing/2014/main" id="{FA4D7021-C5E4-A51C-4A02-219E95A0AA41}"/>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98B11473-805E-3AA0-E47F-C6B73DA8C817}"/>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25474994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732C9-C1A0-1F73-E02B-B72AA2670AB1}"/>
              </a:ext>
            </a:extLst>
          </p:cNvPr>
          <p:cNvSpPr>
            <a:spLocks noGrp="1"/>
          </p:cNvSpPr>
          <p:nvPr>
            <p:ph type="title"/>
          </p:nvPr>
        </p:nvSpPr>
        <p:spPr/>
        <p:txBody>
          <a:bodyPr/>
          <a:lstStyle/>
          <a:p>
            <a:r>
              <a:rPr lang="en-GB"/>
              <a:t>Click to edit Master title style</a:t>
            </a:r>
            <a:endParaRPr lang="de-DE"/>
          </a:p>
        </p:txBody>
      </p:sp>
      <p:sp>
        <p:nvSpPr>
          <p:cNvPr id="3" name="Content Placeholder 2">
            <a:extLst>
              <a:ext uri="{FF2B5EF4-FFF2-40B4-BE49-F238E27FC236}">
                <a16:creationId xmlns:a16="http://schemas.microsoft.com/office/drawing/2014/main" id="{3F00B205-9FC6-E0AB-8BDE-E3C1B390BC3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4" name="Date Placeholder 3">
            <a:extLst>
              <a:ext uri="{FF2B5EF4-FFF2-40B4-BE49-F238E27FC236}">
                <a16:creationId xmlns:a16="http://schemas.microsoft.com/office/drawing/2014/main" id="{514388C4-BC4D-FF44-9862-4AC9E159063C}"/>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5" name="Footer Placeholder 4">
            <a:extLst>
              <a:ext uri="{FF2B5EF4-FFF2-40B4-BE49-F238E27FC236}">
                <a16:creationId xmlns:a16="http://schemas.microsoft.com/office/drawing/2014/main" id="{54308FD0-4033-8F81-0329-0FA9B3048CA5}"/>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9446A698-3717-74F0-F4F0-04D5358C37A3}"/>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21365117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D9FBD-9CA3-1D9E-9335-F731BFF42EA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de-DE"/>
          </a:p>
        </p:txBody>
      </p:sp>
      <p:sp>
        <p:nvSpPr>
          <p:cNvPr id="3" name="Text Placeholder 2">
            <a:extLst>
              <a:ext uri="{FF2B5EF4-FFF2-40B4-BE49-F238E27FC236}">
                <a16:creationId xmlns:a16="http://schemas.microsoft.com/office/drawing/2014/main" id="{5510C6D4-C564-6EE3-4908-409A371D1D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EA04833-A5AB-AEB6-ADA0-B06FD511D994}"/>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5" name="Footer Placeholder 4">
            <a:extLst>
              <a:ext uri="{FF2B5EF4-FFF2-40B4-BE49-F238E27FC236}">
                <a16:creationId xmlns:a16="http://schemas.microsoft.com/office/drawing/2014/main" id="{6D1E79C8-39EB-A83B-439B-6D6143137E00}"/>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3279DA1A-44D7-D738-72C8-7C53103023D9}"/>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27750772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EC286-23F2-439C-3A6E-439826AD8797}"/>
              </a:ext>
            </a:extLst>
          </p:cNvPr>
          <p:cNvSpPr>
            <a:spLocks noGrp="1"/>
          </p:cNvSpPr>
          <p:nvPr>
            <p:ph type="title"/>
          </p:nvPr>
        </p:nvSpPr>
        <p:spPr/>
        <p:txBody>
          <a:bodyPr/>
          <a:lstStyle/>
          <a:p>
            <a:r>
              <a:rPr lang="en-GB"/>
              <a:t>Click to edit Master title style</a:t>
            </a:r>
            <a:endParaRPr lang="de-DE"/>
          </a:p>
        </p:txBody>
      </p:sp>
      <p:sp>
        <p:nvSpPr>
          <p:cNvPr id="3" name="Content Placeholder 2">
            <a:extLst>
              <a:ext uri="{FF2B5EF4-FFF2-40B4-BE49-F238E27FC236}">
                <a16:creationId xmlns:a16="http://schemas.microsoft.com/office/drawing/2014/main" id="{F78FD48C-59C7-9AFF-A0AE-A48CC58B4CE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4" name="Content Placeholder 3">
            <a:extLst>
              <a:ext uri="{FF2B5EF4-FFF2-40B4-BE49-F238E27FC236}">
                <a16:creationId xmlns:a16="http://schemas.microsoft.com/office/drawing/2014/main" id="{60662465-45E2-4913-9080-C2456482441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5" name="Date Placeholder 4">
            <a:extLst>
              <a:ext uri="{FF2B5EF4-FFF2-40B4-BE49-F238E27FC236}">
                <a16:creationId xmlns:a16="http://schemas.microsoft.com/office/drawing/2014/main" id="{279AC383-6082-E6E7-7297-36933D5B2F21}"/>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6" name="Footer Placeholder 5">
            <a:extLst>
              <a:ext uri="{FF2B5EF4-FFF2-40B4-BE49-F238E27FC236}">
                <a16:creationId xmlns:a16="http://schemas.microsoft.com/office/drawing/2014/main" id="{DFAE7581-778C-7C80-8FDA-A89FA4D8845B}"/>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261801D9-F5CB-407B-13C4-564D1E039227}"/>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22240018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4DE94-BF51-7059-E7BD-3095D8126CBC}"/>
              </a:ext>
            </a:extLst>
          </p:cNvPr>
          <p:cNvSpPr>
            <a:spLocks noGrp="1"/>
          </p:cNvSpPr>
          <p:nvPr>
            <p:ph type="title"/>
          </p:nvPr>
        </p:nvSpPr>
        <p:spPr>
          <a:xfrm>
            <a:off x="839788" y="365125"/>
            <a:ext cx="10515600" cy="1325563"/>
          </a:xfrm>
        </p:spPr>
        <p:txBody>
          <a:bodyPr/>
          <a:lstStyle/>
          <a:p>
            <a:r>
              <a:rPr lang="en-GB"/>
              <a:t>Click to edit Master title style</a:t>
            </a:r>
            <a:endParaRPr lang="de-DE"/>
          </a:p>
        </p:txBody>
      </p:sp>
      <p:sp>
        <p:nvSpPr>
          <p:cNvPr id="3" name="Text Placeholder 2">
            <a:extLst>
              <a:ext uri="{FF2B5EF4-FFF2-40B4-BE49-F238E27FC236}">
                <a16:creationId xmlns:a16="http://schemas.microsoft.com/office/drawing/2014/main" id="{50EDB15C-87E4-C5AE-15AE-277EEACDCD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8F84737-3E77-89E1-909D-3271DE5D1E9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5" name="Text Placeholder 4">
            <a:extLst>
              <a:ext uri="{FF2B5EF4-FFF2-40B4-BE49-F238E27FC236}">
                <a16:creationId xmlns:a16="http://schemas.microsoft.com/office/drawing/2014/main" id="{B0ECA665-6AE5-A96C-C34A-08911519C0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8B7CCD-53D6-D1B5-5E54-2B5FF804B20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7" name="Date Placeholder 6">
            <a:extLst>
              <a:ext uri="{FF2B5EF4-FFF2-40B4-BE49-F238E27FC236}">
                <a16:creationId xmlns:a16="http://schemas.microsoft.com/office/drawing/2014/main" id="{39058C24-4C59-E132-B979-F62CDDEA9C39}"/>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8" name="Footer Placeholder 7">
            <a:extLst>
              <a:ext uri="{FF2B5EF4-FFF2-40B4-BE49-F238E27FC236}">
                <a16:creationId xmlns:a16="http://schemas.microsoft.com/office/drawing/2014/main" id="{08124B7A-6440-1AEC-158D-03EC67F50101}"/>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531D0115-2869-AFE5-0E75-705D9135CA42}"/>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12898897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F9FE5-1CD3-1E35-E7A1-DA27AECD3197}"/>
              </a:ext>
            </a:extLst>
          </p:cNvPr>
          <p:cNvSpPr>
            <a:spLocks noGrp="1"/>
          </p:cNvSpPr>
          <p:nvPr>
            <p:ph type="title"/>
          </p:nvPr>
        </p:nvSpPr>
        <p:spPr/>
        <p:txBody>
          <a:bodyPr/>
          <a:lstStyle/>
          <a:p>
            <a:r>
              <a:rPr lang="en-GB"/>
              <a:t>Click to edit Master title style</a:t>
            </a:r>
            <a:endParaRPr lang="de-DE"/>
          </a:p>
        </p:txBody>
      </p:sp>
      <p:sp>
        <p:nvSpPr>
          <p:cNvPr id="3" name="Date Placeholder 2">
            <a:extLst>
              <a:ext uri="{FF2B5EF4-FFF2-40B4-BE49-F238E27FC236}">
                <a16:creationId xmlns:a16="http://schemas.microsoft.com/office/drawing/2014/main" id="{836A205A-275F-B2CC-5091-100D86238E80}"/>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4" name="Footer Placeholder 3">
            <a:extLst>
              <a:ext uri="{FF2B5EF4-FFF2-40B4-BE49-F238E27FC236}">
                <a16:creationId xmlns:a16="http://schemas.microsoft.com/office/drawing/2014/main" id="{64882B83-20D0-8CAF-60BB-3E92F4499057}"/>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8F3AED23-313E-0B41-8C22-52796F54ED4A}"/>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30459278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91D371-B77A-DB8F-6B0A-C2DB07F9303A}"/>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3" name="Footer Placeholder 2">
            <a:extLst>
              <a:ext uri="{FF2B5EF4-FFF2-40B4-BE49-F238E27FC236}">
                <a16:creationId xmlns:a16="http://schemas.microsoft.com/office/drawing/2014/main" id="{FD15E4CB-7457-1C39-01A3-EBCF14C7DB54}"/>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B631D184-51E6-BE5A-5C6B-03E6A42E8D40}"/>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5593378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DB07B-68D6-D997-2704-B08D9B189D6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de-DE"/>
          </a:p>
        </p:txBody>
      </p:sp>
      <p:sp>
        <p:nvSpPr>
          <p:cNvPr id="3" name="Content Placeholder 2">
            <a:extLst>
              <a:ext uri="{FF2B5EF4-FFF2-40B4-BE49-F238E27FC236}">
                <a16:creationId xmlns:a16="http://schemas.microsoft.com/office/drawing/2014/main" id="{3ED41799-EA36-B52A-90D6-FF0737F329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4" name="Text Placeholder 3">
            <a:extLst>
              <a:ext uri="{FF2B5EF4-FFF2-40B4-BE49-F238E27FC236}">
                <a16:creationId xmlns:a16="http://schemas.microsoft.com/office/drawing/2014/main" id="{93481FAD-401A-301E-BC8B-D4085E33F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8AB874F-2BA1-E396-D593-13003374379D}"/>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6" name="Footer Placeholder 5">
            <a:extLst>
              <a:ext uri="{FF2B5EF4-FFF2-40B4-BE49-F238E27FC236}">
                <a16:creationId xmlns:a16="http://schemas.microsoft.com/office/drawing/2014/main" id="{EE839A18-6EC3-620E-0B11-C8F76AD75BDC}"/>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EE8C35C9-867A-7C16-4B9D-F9FC224A74D5}"/>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12954945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551B6-202C-3667-21B2-6F8E4D079B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de-DE"/>
          </a:p>
        </p:txBody>
      </p:sp>
      <p:sp>
        <p:nvSpPr>
          <p:cNvPr id="3" name="Picture Placeholder 2">
            <a:extLst>
              <a:ext uri="{FF2B5EF4-FFF2-40B4-BE49-F238E27FC236}">
                <a16:creationId xmlns:a16="http://schemas.microsoft.com/office/drawing/2014/main" id="{5D27D244-657D-EC1A-140A-99F56B0909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EEB601DE-BAE5-8B83-4A84-A2EDF7695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BF4314B-65F9-AA31-F51F-52DB05A0FF6A}"/>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6" name="Footer Placeholder 5">
            <a:extLst>
              <a:ext uri="{FF2B5EF4-FFF2-40B4-BE49-F238E27FC236}">
                <a16:creationId xmlns:a16="http://schemas.microsoft.com/office/drawing/2014/main" id="{0912B679-BE3C-C876-D4C8-24D031A366AF}"/>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1C50404E-62AA-5B77-22C1-A9E917956566}"/>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3237422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D1185-C730-9DFC-E385-1788BFCCBAAC}"/>
              </a:ext>
            </a:extLst>
          </p:cNvPr>
          <p:cNvSpPr>
            <a:spLocks noGrp="1"/>
          </p:cNvSpPr>
          <p:nvPr>
            <p:ph type="title"/>
          </p:nvPr>
        </p:nvSpPr>
        <p:spPr/>
        <p:txBody>
          <a:bodyPr/>
          <a:lstStyle/>
          <a:p>
            <a:r>
              <a:rPr lang="en-GB"/>
              <a:t>Click to edit Master title style</a:t>
            </a:r>
            <a:endParaRPr lang="de-DE"/>
          </a:p>
        </p:txBody>
      </p:sp>
      <p:sp>
        <p:nvSpPr>
          <p:cNvPr id="3" name="Vertical Text Placeholder 2">
            <a:extLst>
              <a:ext uri="{FF2B5EF4-FFF2-40B4-BE49-F238E27FC236}">
                <a16:creationId xmlns:a16="http://schemas.microsoft.com/office/drawing/2014/main" id="{0F8C98B4-4807-1168-406F-49034977722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4" name="Date Placeholder 3">
            <a:extLst>
              <a:ext uri="{FF2B5EF4-FFF2-40B4-BE49-F238E27FC236}">
                <a16:creationId xmlns:a16="http://schemas.microsoft.com/office/drawing/2014/main" id="{6C89C429-9C67-5FBD-8366-9F7DF808C2AF}"/>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5" name="Footer Placeholder 4">
            <a:extLst>
              <a:ext uri="{FF2B5EF4-FFF2-40B4-BE49-F238E27FC236}">
                <a16:creationId xmlns:a16="http://schemas.microsoft.com/office/drawing/2014/main" id="{FAC72DFD-AD2A-7E2D-4D86-CCCB6C28B082}"/>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C2EC1A64-C36F-2CF2-1F79-1E22F0A37543}"/>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29031670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BF0980-A5B8-ADDD-043E-D77CC2A44AE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de-DE"/>
          </a:p>
        </p:txBody>
      </p:sp>
      <p:sp>
        <p:nvSpPr>
          <p:cNvPr id="3" name="Vertical Text Placeholder 2">
            <a:extLst>
              <a:ext uri="{FF2B5EF4-FFF2-40B4-BE49-F238E27FC236}">
                <a16:creationId xmlns:a16="http://schemas.microsoft.com/office/drawing/2014/main" id="{6F0570AD-3FE9-794C-36BA-676B2753878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4" name="Date Placeholder 3">
            <a:extLst>
              <a:ext uri="{FF2B5EF4-FFF2-40B4-BE49-F238E27FC236}">
                <a16:creationId xmlns:a16="http://schemas.microsoft.com/office/drawing/2014/main" id="{91D92DC9-4E3F-A236-20F5-16994C2AAD2C}"/>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5" name="Footer Placeholder 4">
            <a:extLst>
              <a:ext uri="{FF2B5EF4-FFF2-40B4-BE49-F238E27FC236}">
                <a16:creationId xmlns:a16="http://schemas.microsoft.com/office/drawing/2014/main" id="{B5C73972-D4BE-5EA9-E5A2-B075D000D963}"/>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54F23B70-77EF-E0F1-D8BE-077582AD2415}"/>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32513111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Frontpage">
    <p:bg>
      <p:bgPr>
        <a:solidFill>
          <a:schemeClr val="tx1"/>
        </a:soli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4" imgH="344" progId="TCLayout.ActiveDocument.1">
                  <p:embed/>
                </p:oleObj>
              </mc:Choice>
              <mc:Fallback>
                <p:oleObj name="think-cell Slide" r:id="rId9"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3"/>
            </p:custDataLst>
          </p:nvPr>
        </p:nvSpPr>
        <p:spPr>
          <a:xfrm>
            <a:off x="551942" y="326582"/>
            <a:ext cx="1998218" cy="1045018"/>
          </a:xfrm>
          <a:prstGeom prst="rect">
            <a:avLst/>
          </a:prstGeom>
        </p:spPr>
        <p:txBody>
          <a:bodyPr>
            <a:noAutofit/>
          </a:bodyPr>
          <a:lstStyle>
            <a:lvl1pPr algn="ctr">
              <a:defRPr sz="1200">
                <a:solidFill>
                  <a:schemeClr val="tx1"/>
                </a:solidFill>
              </a:defRPr>
            </a:lvl1pPr>
          </a:lstStyle>
          <a:p>
            <a:r>
              <a:rPr lang="en-US"/>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4"/>
            </p:custDataLst>
          </p:nvPr>
        </p:nvSpPr>
        <p:spPr>
          <a:xfrm>
            <a:off x="554736" y="4510168"/>
            <a:ext cx="6255258" cy="215444"/>
          </a:xfrm>
          <a:prstGeom prst="rect">
            <a:avLst/>
          </a:prstGeom>
          <a:solidFill>
            <a:schemeClr val="tx1"/>
          </a:solidFill>
        </p:spPr>
        <p:txBody>
          <a:bodyPr wrap="square">
            <a:noAutofit/>
          </a:bodyPr>
          <a:lstStyle>
            <a:lvl1pPr>
              <a:buNone/>
              <a:defRPr sz="1400">
                <a:solidFill>
                  <a:schemeClr val="bg2"/>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5"/>
            </p:custDataLst>
          </p:nvPr>
        </p:nvSpPr>
        <p:spPr>
          <a:xfrm>
            <a:off x="551942" y="4092559"/>
            <a:ext cx="6255258" cy="307777"/>
          </a:xfrm>
          <a:prstGeom prst="rect">
            <a:avLst/>
          </a:prstGeom>
          <a:solidFill>
            <a:schemeClr val="tx1"/>
          </a:solidFill>
        </p:spPr>
        <p:txBody>
          <a:bodyPr wrap="square">
            <a:noAutofit/>
          </a:bodyPr>
          <a:lstStyle>
            <a:lvl1pPr marL="0" indent="0" algn="l">
              <a:buNone/>
              <a:defRPr sz="20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6"/>
            </p:custDataLst>
          </p:nvPr>
        </p:nvSpPr>
        <p:spPr>
          <a:xfrm>
            <a:off x="551942" y="2519680"/>
            <a:ext cx="6255258" cy="1451832"/>
          </a:xfrm>
          <a:prstGeom prst="rect">
            <a:avLst/>
          </a:prstGeom>
          <a:solidFill>
            <a:schemeClr val="tx1"/>
          </a:solidFill>
        </p:spPr>
        <p:txBody>
          <a:bodyPr vert="horz" anchor="b">
            <a:normAutofit/>
          </a:bodyPr>
          <a:lstStyle>
            <a:lvl1pPr>
              <a:defRPr sz="4400" baseline="0">
                <a:ln w="6350" cap="flat">
                  <a:noFill/>
                  <a:miter lim="800000"/>
                </a:ln>
                <a:solidFill>
                  <a:schemeClr val="bg2"/>
                </a:solidFill>
              </a:defRPr>
            </a:lvl1pPr>
          </a:lstStyle>
          <a:p>
            <a:r>
              <a:rPr lang="en-US"/>
              <a:t>Click to change Master title style</a:t>
            </a:r>
          </a:p>
        </p:txBody>
      </p:sp>
      <p:sp>
        <p:nvSpPr>
          <p:cNvPr id="2" name="1. On-page tracker">
            <a:extLst>
              <a:ext uri="{FF2B5EF4-FFF2-40B4-BE49-F238E27FC236}">
                <a16:creationId xmlns:a16="http://schemas.microsoft.com/office/drawing/2014/main" id="{C0D3CBF4-D047-32CB-A092-652CAC857033}"/>
              </a:ext>
            </a:extLst>
          </p:cNvPr>
          <p:cNvSpPr>
            <a:spLocks noGrp="1"/>
          </p:cNvSpPr>
          <p:nvPr>
            <p:ph type="body" sz="quarter" idx="17" hasCustomPrompt="1"/>
            <p:custDataLst>
              <p:tags r:id="rId7"/>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201907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8"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8"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7"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355092"/>
            <a:ext cx="11082528" cy="731520"/>
          </a:xfrm>
        </p:spPr>
        <p:txBody>
          <a:bodyPr vert="horz"/>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1318966"/>
            <a:ext cx="11082528" cy="276999"/>
          </a:xfr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7"/>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9919086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op left titl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2279F3A-E785-A817-A43D-2AB5BBAC0C60}"/>
              </a:ext>
            </a:extLst>
          </p:cNvPr>
          <p:cNvGraphicFramePr>
            <a:graphicFrameLocks noChangeAspect="1"/>
          </p:cNvGraphicFramePr>
          <p:nvPr userDrawn="1">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5" name="Object 4" hidden="1">
                        <a:extLst>
                          <a:ext uri="{FF2B5EF4-FFF2-40B4-BE49-F238E27FC236}">
                            <a16:creationId xmlns:a16="http://schemas.microsoft.com/office/drawing/2014/main" id="{92279F3A-E785-A817-A43D-2AB5BBAC0C60}"/>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2"/>
            </p:custDataLst>
          </p:nvPr>
        </p:nvSpPr>
        <p:spPr>
          <a:xfrm>
            <a:off x="554736" y="1706563"/>
            <a:ext cx="3813048" cy="694944"/>
          </a:xfrm>
          <a:prstGeom prst="rect">
            <a:avLst/>
          </a:prstGeom>
        </p:spPr>
        <p:txBody>
          <a:bodyPr vert="horz" anchor="t">
            <a:noAutofit/>
          </a:bodyPr>
          <a:lstStyle>
            <a:lvl1pPr>
              <a:lnSpc>
                <a:spcPct val="9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5154603C-472B-D4E8-F358-1CD0ED401B4F}"/>
              </a:ext>
            </a:extLst>
          </p:cNvPr>
          <p:cNvSpPr>
            <a:spLocks noGrp="1"/>
          </p:cNvSpPr>
          <p:nvPr>
            <p:ph type="body" sz="quarter" idx="17" hasCustomPrompt="1"/>
            <p:custDataLst>
              <p:tags r:id="rId5"/>
            </p:custDataLst>
          </p:nvPr>
        </p:nvSpPr>
        <p:spPr>
          <a:xfrm>
            <a:off x="360680" y="6498754"/>
            <a:ext cx="4007104" cy="123111"/>
          </a:xfrm>
        </p:spPr>
        <p:txBody>
          <a:bodyPr wrap="square" anchor="ctr" anchorCtr="0">
            <a:spAutoFit/>
          </a:bodyPr>
          <a:lstStyle>
            <a:lvl1pPr algn="l">
              <a:defRPr sz="800">
                <a:latin typeface="+mn-lt"/>
              </a:defRPr>
            </a:lvl1pPr>
          </a:lstStyle>
          <a:p>
            <a:pPr lvl="0"/>
            <a:r>
              <a:rPr lang="en-US"/>
              <a:t>CONFIDENTIAL</a:t>
            </a:r>
          </a:p>
        </p:txBody>
      </p:sp>
    </p:spTree>
    <p:extLst>
      <p:ext uri="{BB962C8B-B14F-4D97-AF65-F5344CB8AC3E}">
        <p14:creationId xmlns:p14="http://schemas.microsoft.com/office/powerpoint/2010/main" val="32413083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Mid left title">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 name="1. On-page tracker">
            <a:extLst>
              <a:ext uri="{FF2B5EF4-FFF2-40B4-BE49-F238E27FC236}">
                <a16:creationId xmlns:a16="http://schemas.microsoft.com/office/drawing/2014/main" id="{3057897B-D3C8-A735-DC7E-D4383D1221EB}"/>
              </a:ext>
            </a:extLst>
          </p:cNvPr>
          <p:cNvSpPr>
            <a:spLocks noGrp="1"/>
          </p:cNvSpPr>
          <p:nvPr>
            <p:ph type="body" sz="quarter" idx="17" hasCustomPrompt="1"/>
            <p:custDataLst>
              <p:tags r:id="rId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
        <p:nvSpPr>
          <p:cNvPr id="4" name="Title 3">
            <a:extLst>
              <a:ext uri="{FF2B5EF4-FFF2-40B4-BE49-F238E27FC236}">
                <a16:creationId xmlns:a16="http://schemas.microsoft.com/office/drawing/2014/main" id="{9239AA1C-8AF6-0C30-9D0C-FF36AAB19651}"/>
              </a:ext>
            </a:extLst>
          </p:cNvPr>
          <p:cNvSpPr>
            <a:spLocks noGrp="1"/>
          </p:cNvSpPr>
          <p:nvPr>
            <p:ph type="title"/>
          </p:nvPr>
        </p:nvSpPr>
        <p:spPr/>
        <p:txBody>
          <a:bodyPr/>
          <a:lstStyle/>
          <a:p>
            <a:r>
              <a:rPr lang="en-GB"/>
              <a:t>Click to edit Master title style</a:t>
            </a:r>
            <a:endParaRPr lang="de-DE"/>
          </a:p>
        </p:txBody>
      </p:sp>
    </p:spTree>
    <p:extLst>
      <p:ext uri="{BB962C8B-B14F-4D97-AF65-F5344CB8AC3E}">
        <p14:creationId xmlns:p14="http://schemas.microsoft.com/office/powerpoint/2010/main" val="19329369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breaker">
    <p:spTree>
      <p:nvGrpSpPr>
        <p:cNvPr id="1" name=""/>
        <p:cNvGrpSpPr/>
        <p:nvPr/>
      </p:nvGrpSpPr>
      <p:grpSpPr>
        <a:xfrm>
          <a:off x="0" y="0"/>
          <a:ext cx="0" cy="0"/>
          <a:chOff x="0" y="0"/>
          <a:chExt cx="0" cy="0"/>
        </a:xfrm>
      </p:grpSpPr>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1"/>
            </p:custDataLst>
          </p:nvPr>
        </p:nvSpPr>
        <p:spPr>
          <a:xfrm>
            <a:off x="554736" y="4580468"/>
            <a:ext cx="11082528" cy="677108"/>
          </a:xfrm>
        </p:spPr>
        <p:txBody>
          <a:bodyPr anchor="b">
            <a:noAutofit/>
          </a:bodyPr>
          <a:lstStyle>
            <a:lvl1pPr>
              <a:lnSpc>
                <a:spcPct val="100000"/>
              </a:lnSpc>
              <a:defRPr sz="4400"/>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3" name="1. On-page tracker">
            <a:extLst>
              <a:ext uri="{FF2B5EF4-FFF2-40B4-BE49-F238E27FC236}">
                <a16:creationId xmlns:a16="http://schemas.microsoft.com/office/drawing/2014/main" id="{77387CA2-37E3-E660-67B4-16D621E80E72}"/>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955339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4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tx1">
                  <a:lumMod val="85000"/>
                </a:schemeClr>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userDrawn="1">
            <p:custDataLst>
              <p:tags r:id="rId6"/>
            </p:custDataLst>
          </p:nvPr>
        </p:nvCxnSpPr>
        <p:spPr>
          <a:xfrm>
            <a:off x="3715757"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userDrawn="1">
            <p:custDataLst>
              <p:tags r:id="rId7"/>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userDrawn="1">
            <p:custDataLst>
              <p:tags r:id="rId8"/>
            </p:custDataLst>
          </p:nvPr>
        </p:nvCxnSpPr>
        <p:spPr>
          <a:xfrm>
            <a:off x="3715757"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userDrawn="1">
            <p:custDataLst>
              <p:tags r:id="rId9"/>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10"/>
            </p:custDataLst>
          </p:nvPr>
        </p:nvSpPr>
        <p:spPr>
          <a:xfrm>
            <a:off x="554736" y="2133601"/>
            <a:ext cx="2514600" cy="1380210"/>
          </a:xfrm>
        </p:spPr>
        <p:txBody>
          <a:bodyPr vert="horz" anchor="b">
            <a:noAutofit/>
          </a:bodyPr>
          <a:lstStyle>
            <a:lvl1pPr>
              <a:defRPr>
                <a:solidFill>
                  <a:schemeClr val="bg2"/>
                </a:solidFill>
              </a:defRPr>
            </a:lvl1pPr>
          </a:lstStyle>
          <a:p>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11"/>
            </p:custDataLst>
          </p:nvPr>
        </p:nvSpPr>
        <p:spPr>
          <a:xfrm>
            <a:off x="554736" y="3659644"/>
            <a:ext cx="2514600" cy="553998"/>
          </a:xfrm>
        </p:spPr>
        <p:txBody>
          <a:bodyPr wrap="square">
            <a:spAutoFit/>
          </a:bodyPr>
          <a:lstStyle>
            <a:lvl1pPr marL="0" indent="0" algn="l">
              <a:buNone/>
              <a:defRPr sz="18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1. On-page tracker">
            <a:extLst>
              <a:ext uri="{FF2B5EF4-FFF2-40B4-BE49-F238E27FC236}">
                <a16:creationId xmlns:a16="http://schemas.microsoft.com/office/drawing/2014/main" id="{C3405AEA-74D5-910E-C204-B62E695DB028}"/>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28287989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3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userDrawn="1">
            <p:custDataLst>
              <p:tags r:id="rId6"/>
            </p:custDataLst>
          </p:nvPr>
        </p:nvCxnSpPr>
        <p:spPr>
          <a:xfrm>
            <a:off x="4671219"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userDrawn="1">
            <p:custDataLst>
              <p:tags r:id="rId7"/>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userDrawn="1">
            <p:custDataLst>
              <p:tags r:id="rId8"/>
            </p:custDataLst>
          </p:nvPr>
        </p:nvCxnSpPr>
        <p:spPr>
          <a:xfrm>
            <a:off x="4671219"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userDrawn="1">
            <p:custDataLst>
              <p:tags r:id="rId9"/>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10"/>
            </p:custDataLst>
          </p:nvPr>
        </p:nvSpPr>
        <p:spPr>
          <a:xfrm>
            <a:off x="554736" y="2744369"/>
            <a:ext cx="3465576" cy="769441"/>
          </a:xfrm>
          <a:prstGeom prst="rect">
            <a:avLst/>
          </a:prstGeom>
        </p:spPr>
        <p:txBody>
          <a:bodyPr vert="horz" wrap="square" anchor="b">
            <a:noAutofit/>
          </a:bodyPr>
          <a:lstStyle>
            <a:lvl1pPr algn="l">
              <a:defRPr>
                <a:solidFill>
                  <a:schemeClr val="bg1"/>
                </a:solidFill>
              </a:defRPr>
            </a:lvl1pPr>
          </a:lstStyle>
          <a:p>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11"/>
            </p:custDataLst>
          </p:nvPr>
        </p:nvSpPr>
        <p:spPr>
          <a:xfrm>
            <a:off x="554735" y="3659644"/>
            <a:ext cx="3465575" cy="276999"/>
          </a:xfrm>
        </p:spPr>
        <p:txBody>
          <a:bodyPr wrap="square">
            <a:spAutoFit/>
          </a:bodyPr>
          <a:lstStyle>
            <a:lvl1pPr marL="0" indent="0" algn="l">
              <a:buNone/>
              <a:defRPr sz="1800" b="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1. On-page tracker">
            <a:extLst>
              <a:ext uri="{FF2B5EF4-FFF2-40B4-BE49-F238E27FC236}">
                <a16:creationId xmlns:a16="http://schemas.microsoft.com/office/drawing/2014/main" id="{1AB19973-CFDD-3FB8-6DFF-498B601C379D}"/>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6403765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2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3" imgH="416" progId="TCLayout.ActiveDocument.1">
                  <p:embed/>
                </p:oleObj>
              </mc:Choice>
              <mc:Fallback>
                <p:oleObj name="think-cell Slide" r:id="rId16"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userDrawn="1">
            <p:custDataLst>
              <p:tags r:id="rId6"/>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userDrawn="1">
            <p:custDataLst>
              <p:tags r:id="rId7"/>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userDrawn="1">
            <p:custDataLst>
              <p:tags r:id="rId8"/>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userDrawn="1">
            <p:custDataLst>
              <p:tags r:id="rId9"/>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userDrawn="1">
            <p:custDataLst>
              <p:tags r:id="rId10"/>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1"/>
            </p:custDataLst>
          </p:nvPr>
        </p:nvSpPr>
        <p:spPr>
          <a:xfrm>
            <a:off x="554736" y="355092"/>
            <a:ext cx="5065776" cy="731520"/>
          </a:xfrm>
        </p:spPr>
        <p:txBody>
          <a:bodyPr vert="horz"/>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2"/>
            </p:custDataLst>
          </p:nvPr>
        </p:nvSpPr>
        <p:spPr>
          <a:xfrm>
            <a:off x="554736" y="1287435"/>
            <a:ext cx="5065776" cy="3046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TextBox 3">
            <a:extLst>
              <a:ext uri="{FF2B5EF4-FFF2-40B4-BE49-F238E27FC236}">
                <a16:creationId xmlns:a16="http://schemas.microsoft.com/office/drawing/2014/main" id="{8467FBB9-900F-D74F-181C-8D3946FC8460}"/>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272266086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1_1/2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3" imgH="416" progId="TCLayout.ActiveDocument.1">
                  <p:embed/>
                </p:oleObj>
              </mc:Choice>
              <mc:Fallback>
                <p:oleObj name="think-cell Slide" r:id="rId16"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userDrawn="1">
            <p:custDataLst>
              <p:tags r:id="rId6"/>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userDrawn="1">
            <p:custDataLst>
              <p:tags r:id="rId7"/>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a:cxnSpLocks/>
          </p:cNvCxnSpPr>
          <p:nvPr userDrawn="1">
            <p:custDataLst>
              <p:tags r:id="rId8"/>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userDrawn="1">
            <p:custDataLst>
              <p:tags r:id="rId9"/>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userDrawn="1">
            <p:custDataLst>
              <p:tags r:id="rId10"/>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1"/>
            </p:custDataLst>
          </p:nvPr>
        </p:nvSpPr>
        <p:spPr>
          <a:xfrm>
            <a:off x="6573171" y="355092"/>
            <a:ext cx="5065776" cy="731520"/>
          </a:xfrm>
        </p:spPr>
        <p:txBody>
          <a:bodyPr vert="horz"/>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2"/>
            </p:custDataLst>
          </p:nvPr>
        </p:nvSpPr>
        <p:spPr>
          <a:xfrm>
            <a:off x="6573171" y="1287435"/>
            <a:ext cx="5065776" cy="3046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TextBox 3">
            <a:extLst>
              <a:ext uri="{FF2B5EF4-FFF2-40B4-BE49-F238E27FC236}">
                <a16:creationId xmlns:a16="http://schemas.microsoft.com/office/drawing/2014/main" id="{8467FBB9-900F-D74F-181C-8D3946FC8460}"/>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7651675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3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572" imgH="588" progId="TCLayout.ActiveDocument.1">
                  <p:embed/>
                </p:oleObj>
              </mc:Choice>
              <mc:Fallback>
                <p:oleObj name="think-cell Slide" r:id="rId16"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355092"/>
            <a:ext cx="6967728" cy="731520"/>
          </a:xfrm>
        </p:spPr>
        <p:txBody>
          <a:bodyPr vert="horz"/>
          <a:lstStyle/>
          <a:p>
            <a:r>
              <a:rPr lang="en-US"/>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5"/>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userDrawn="1">
            <p:custDataLst>
              <p:tags r:id="rId7"/>
            </p:custDataLst>
          </p:nvPr>
        </p:nvCxnSpPr>
        <p:spPr>
          <a:xfrm>
            <a:off x="8173371"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userDrawn="1">
            <p:custDataLst>
              <p:tags r:id="rId8"/>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userDrawn="1">
            <p:custDataLst>
              <p:tags r:id="rId9"/>
            </p:custDataLst>
          </p:nvPr>
        </p:nvCxnSpPr>
        <p:spPr>
          <a:xfrm>
            <a:off x="8173371"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userDrawn="1">
            <p:custDataLst>
              <p:tags r:id="rId10"/>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D646E-BD43-4948-96FE-F798F0E18D71}"/>
              </a:ext>
            </a:extLst>
          </p:cNvPr>
          <p:cNvCxnSpPr/>
          <p:nvPr userDrawn="1">
            <p:custDataLst>
              <p:tags r:id="rId11"/>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12"/>
            </p:custDataLst>
          </p:nvPr>
        </p:nvSpPr>
        <p:spPr>
          <a:xfrm>
            <a:off x="554736" y="1291125"/>
            <a:ext cx="6967728" cy="2769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13"/>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1. On-page tracker">
            <a:extLst>
              <a:ext uri="{FF2B5EF4-FFF2-40B4-BE49-F238E27FC236}">
                <a16:creationId xmlns:a16="http://schemas.microsoft.com/office/drawing/2014/main" id="{81FC95FE-98AE-2D03-2407-7155AFECE47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28054485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4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27" name="BottomLineRight">
            <a:extLst>
              <a:ext uri="{FF2B5EF4-FFF2-40B4-BE49-F238E27FC236}">
                <a16:creationId xmlns:a16="http://schemas.microsoft.com/office/drawing/2014/main" id="{C7EF0021-7C64-4C3A-BB10-343D51B3F040}"/>
              </a:ext>
            </a:extLst>
          </p:cNvPr>
          <p:cNvCxnSpPr/>
          <p:nvPr>
            <p:custDataLst>
              <p:tags r:id="rId6"/>
            </p:custDataLst>
          </p:nvPr>
        </p:nvCxnSpPr>
        <p:spPr>
          <a:xfrm>
            <a:off x="9119861"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BottomLineLeft">
            <a:extLst>
              <a:ext uri="{FF2B5EF4-FFF2-40B4-BE49-F238E27FC236}">
                <a16:creationId xmlns:a16="http://schemas.microsoft.com/office/drawing/2014/main" id="{769848ED-A1D9-4D6F-AC16-5512562B47A0}"/>
              </a:ext>
            </a:extLst>
          </p:cNvPr>
          <p:cNvCxnSpPr/>
          <p:nvPr>
            <p:custDataLst>
              <p:tags r:id="rId7"/>
            </p:custDataLst>
          </p:nvPr>
        </p:nvCxnSpPr>
        <p:spPr>
          <a:xfrm>
            <a:off x="554736"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Right">
            <a:extLst>
              <a:ext uri="{FF2B5EF4-FFF2-40B4-BE49-F238E27FC236}">
                <a16:creationId xmlns:a16="http://schemas.microsoft.com/office/drawing/2014/main" id="{9DD5C457-8894-4C00-BE39-CE61754727F6}"/>
              </a:ext>
            </a:extLst>
          </p:cNvPr>
          <p:cNvCxnSpPr/>
          <p:nvPr userDrawn="1">
            <p:custDataLst>
              <p:tags r:id="rId8"/>
            </p:custDataLst>
          </p:nvPr>
        </p:nvCxnSpPr>
        <p:spPr>
          <a:xfrm>
            <a:off x="9119861"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Left">
            <a:extLst>
              <a:ext uri="{FF2B5EF4-FFF2-40B4-BE49-F238E27FC236}">
                <a16:creationId xmlns:a16="http://schemas.microsoft.com/office/drawing/2014/main" id="{8B2884B5-93FA-4ECC-9065-3398231F02FC}"/>
              </a:ext>
            </a:extLst>
          </p:cNvPr>
          <p:cNvCxnSpPr/>
          <p:nvPr userDrawn="1">
            <p:custDataLst>
              <p:tags r:id="rId9"/>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0"/>
            </p:custDataLst>
          </p:nvPr>
        </p:nvSpPr>
        <p:spPr>
          <a:xfrm>
            <a:off x="554736" y="354162"/>
            <a:ext cx="7918704" cy="731520"/>
          </a:xfrm>
        </p:spPr>
        <p:txBody>
          <a:bodyPr vert="horz"/>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1"/>
            </p:custDataLst>
          </p:nvPr>
        </p:nvSpPr>
        <p:spPr>
          <a:xfrm>
            <a:off x="554736" y="1291125"/>
            <a:ext cx="7918704" cy="297181"/>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4" name="1. On-page tracker">
            <a:extLst>
              <a:ext uri="{FF2B5EF4-FFF2-40B4-BE49-F238E27FC236}">
                <a16:creationId xmlns:a16="http://schemas.microsoft.com/office/drawing/2014/main" id="{40C50DBC-77FE-61C3-BB9B-59D913291108}"/>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817042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 name="ClientLogo">
            <a:extLst>
              <a:ext uri="{FF2B5EF4-FFF2-40B4-BE49-F238E27FC236}">
                <a16:creationId xmlns:a16="http://schemas.microsoft.com/office/drawing/2014/main" id="{360045FA-4F2B-7CCC-BC88-DBB2BC856EF6}"/>
              </a:ext>
            </a:extLst>
          </p:cNvPr>
          <p:cNvSpPr>
            <a:spLocks noGrp="1"/>
          </p:cNvSpPr>
          <p:nvPr>
            <p:ph type="pic" sz="quarter" idx="14" hasCustomPrompt="1"/>
            <p:custDataLst>
              <p:tags r:id="rId3"/>
            </p:custDataLst>
          </p:nvPr>
        </p:nvSpPr>
        <p:spPr>
          <a:xfrm>
            <a:off x="5096891" y="2906491"/>
            <a:ext cx="1998218" cy="1045018"/>
          </a:xfrm>
          <a:prstGeom prst="rect">
            <a:avLst/>
          </a:prstGeom>
        </p:spPr>
        <p:txBody>
          <a:bodyPr>
            <a:noAutofit/>
          </a:bodyPr>
          <a:lstStyle>
            <a:lvl1pPr algn="ctr">
              <a:defRPr sz="1200">
                <a:solidFill>
                  <a:schemeClr val="tx1"/>
                </a:solidFill>
              </a:defRPr>
            </a:lvl1pPr>
          </a:lstStyle>
          <a:p>
            <a:r>
              <a:rPr lang="en-US"/>
              <a:t>logo goes here.</a:t>
            </a:r>
          </a:p>
        </p:txBody>
      </p:sp>
    </p:spTree>
    <p:extLst>
      <p:ext uri="{BB962C8B-B14F-4D97-AF65-F5344CB8AC3E}">
        <p14:creationId xmlns:p14="http://schemas.microsoft.com/office/powerpoint/2010/main" val="28973296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breaker blu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10C5396-A74C-51C3-AEC5-D35E7FDD26AD}"/>
              </a:ext>
            </a:extLst>
          </p:cNvPr>
          <p:cNvGraphicFramePr>
            <a:graphicFrameLocks noChangeAspect="1"/>
          </p:cNvGraphicFramePr>
          <p:nvPr userDrawn="1">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3" name="Object 2" hidden="1">
                        <a:extLst>
                          <a:ext uri="{FF2B5EF4-FFF2-40B4-BE49-F238E27FC236}">
                            <a16:creationId xmlns:a16="http://schemas.microsoft.com/office/drawing/2014/main" id="{310C5396-A74C-51C3-AEC5-D35E7FDD26AD}"/>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2"/>
            </p:custDataLst>
          </p:nvPr>
        </p:nvSpPr>
        <p:spPr>
          <a:xfrm>
            <a:off x="554736" y="4580468"/>
            <a:ext cx="11082528" cy="677108"/>
          </a:xfrm>
        </p:spPr>
        <p:txBody>
          <a:bodyPr vert="horz" anchor="b">
            <a:noAutofit/>
          </a:bodyPr>
          <a:lstStyle>
            <a:lvl1pPr>
              <a:lnSpc>
                <a:spcPct val="100000"/>
              </a:lnSpc>
              <a:defRPr sz="4400">
                <a:solidFill>
                  <a:schemeClr val="bg2"/>
                </a:solidFill>
              </a:defRPr>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TextBox 3">
            <a:extLst>
              <a:ext uri="{FF2B5EF4-FFF2-40B4-BE49-F238E27FC236}">
                <a16:creationId xmlns:a16="http://schemas.microsoft.com/office/drawing/2014/main" id="{9BB5FB0D-5CC7-9318-47B3-B932C5E0C6E2}"/>
              </a:ext>
            </a:extLst>
          </p:cNvPr>
          <p:cNvSpPr txBox="1"/>
          <p:nvPr userDrawn="1"/>
        </p:nvSpPr>
        <p:spPr>
          <a:xfrm>
            <a:off x="1843088" y="-80010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2" name="1. On-page tracker">
            <a:extLst>
              <a:ext uri="{FF2B5EF4-FFF2-40B4-BE49-F238E27FC236}">
                <a16:creationId xmlns:a16="http://schemas.microsoft.com/office/drawing/2014/main" id="{51CB7D96-238D-424E-1A92-C27F075F8348}"/>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3632175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32"/>
        <p:cNvGrpSpPr/>
        <p:nvPr/>
      </p:nvGrpSpPr>
      <p:grpSpPr>
        <a:xfrm>
          <a:off x="0" y="0"/>
          <a:ext cx="0" cy="0"/>
          <a:chOff x="0" y="0"/>
          <a:chExt cx="0" cy="0"/>
        </a:xfrm>
      </p:grpSpPr>
      <p:sp>
        <p:nvSpPr>
          <p:cNvPr id="33" name="Google Shape;33;p57"/>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7"/>
          <p:cNvSpPr txBox="1">
            <a:spLocks noGrp="1"/>
          </p:cNvSpPr>
          <p:nvPr>
            <p:ph type="body" idx="1"/>
          </p:nvPr>
        </p:nvSpPr>
        <p:spPr>
          <a:xfrm>
            <a:off x="569118" y="1400032"/>
            <a:ext cx="11072019" cy="482942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71616"/>
              </a:buClr>
              <a:buSzPts val="1800"/>
              <a:buChar char="•"/>
              <a:defRPr/>
            </a:lvl1pPr>
            <a:lvl2pPr marL="914400" lvl="1" indent="-342900" algn="l">
              <a:lnSpc>
                <a:spcPct val="90000"/>
              </a:lnSpc>
              <a:spcBef>
                <a:spcPts val="500"/>
              </a:spcBef>
              <a:spcAft>
                <a:spcPts val="0"/>
              </a:spcAft>
              <a:buClr>
                <a:srgbClr val="171616"/>
              </a:buClr>
              <a:buSzPts val="1800"/>
              <a:buChar char="•"/>
              <a:defRPr/>
            </a:lvl2pPr>
            <a:lvl3pPr marL="1371600" lvl="2" indent="-342900" algn="l">
              <a:lnSpc>
                <a:spcPct val="90000"/>
              </a:lnSpc>
              <a:spcBef>
                <a:spcPts val="500"/>
              </a:spcBef>
              <a:spcAft>
                <a:spcPts val="0"/>
              </a:spcAft>
              <a:buClr>
                <a:srgbClr val="171616"/>
              </a:buClr>
              <a:buSzPts val="1800"/>
              <a:buChar char="•"/>
              <a:defRPr/>
            </a:lvl3pPr>
            <a:lvl4pPr marL="1828800" lvl="3" indent="-342900" algn="l">
              <a:lnSpc>
                <a:spcPct val="90000"/>
              </a:lnSpc>
              <a:spcBef>
                <a:spcPts val="500"/>
              </a:spcBef>
              <a:spcAft>
                <a:spcPts val="0"/>
              </a:spcAft>
              <a:buClr>
                <a:srgbClr val="171616"/>
              </a:buClr>
              <a:buSzPts val="1800"/>
              <a:buChar char="•"/>
              <a:defRPr/>
            </a:lvl4pPr>
            <a:lvl5pPr marL="2286000" lvl="4" indent="-342900" algn="l">
              <a:lnSpc>
                <a:spcPct val="90000"/>
              </a:lnSpc>
              <a:spcBef>
                <a:spcPts val="500"/>
              </a:spcBef>
              <a:spcAft>
                <a:spcPts val="0"/>
              </a:spcAft>
              <a:buClr>
                <a:srgbClr val="17161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 name="Slide Number">
            <a:extLst>
              <a:ext uri="{FF2B5EF4-FFF2-40B4-BE49-F238E27FC236}">
                <a16:creationId xmlns:a16="http://schemas.microsoft.com/office/drawing/2014/main" id="{3771A5E6-4EA7-C278-CF9B-197E6937D3F5}"/>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3" name="1. On-page tracker">
            <a:extLst>
              <a:ext uri="{FF2B5EF4-FFF2-40B4-BE49-F238E27FC236}">
                <a16:creationId xmlns:a16="http://schemas.microsoft.com/office/drawing/2014/main" id="{8B23C019-3D76-9585-DF94-4D39967D422C}"/>
              </a:ext>
            </a:extLst>
          </p:cNvPr>
          <p:cNvSpPr>
            <a:spLocks noGrp="1"/>
          </p:cNvSpPr>
          <p:nvPr>
            <p:ph type="body" sz="quarter" idx="17" hasCustomPrompt="1"/>
            <p:custDataLst>
              <p:tags r:id="rId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41771705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Blank" userDrawn="1">
  <p:cSld name="Blank">
    <p:spTree>
      <p:nvGrpSpPr>
        <p:cNvPr id="1" name="Shape 60"/>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EA2B47-10D4-7DBD-8DB4-FE8BB18230A6}"/>
              </a:ext>
            </a:extLst>
          </p:cNvPr>
          <p:cNvGraphicFramePr>
            <a:graphicFrameLocks noChangeAspect="1"/>
          </p:cNvGraphicFramePr>
          <p:nvPr userDrawn="1">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 name="Object 2" hidden="1">
                        <a:extLst>
                          <a:ext uri="{FF2B5EF4-FFF2-40B4-BE49-F238E27FC236}">
                            <a16:creationId xmlns:a16="http://schemas.microsoft.com/office/drawing/2014/main" id="{58EA2B47-10D4-7DBD-8DB4-FE8BB18230A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1. On-page tracker">
            <a:extLst>
              <a:ext uri="{FF2B5EF4-FFF2-40B4-BE49-F238E27FC236}">
                <a16:creationId xmlns:a16="http://schemas.microsoft.com/office/drawing/2014/main" id="{251045C4-024B-CA7B-E270-32B5FE04C1F7}"/>
              </a:ext>
            </a:extLst>
          </p:cNvPr>
          <p:cNvSpPr>
            <a:spLocks noGrp="1"/>
          </p:cNvSpPr>
          <p:nvPr>
            <p:ph type="body" sz="quarter" idx="17" hasCustomPrompt="1"/>
            <p:custDataLst>
              <p:tags r:id="rId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1482058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Agenda" userDrawn="1">
  <p:cSld name="Agenda">
    <p:spTree>
      <p:nvGrpSpPr>
        <p:cNvPr id="1" name="Shape 20"/>
        <p:cNvGrpSpPr/>
        <p:nvPr/>
      </p:nvGrpSpPr>
      <p:grpSpPr>
        <a:xfrm>
          <a:off x="0" y="0"/>
          <a:ext cx="0" cy="0"/>
          <a:chOff x="0" y="0"/>
          <a:chExt cx="0" cy="0"/>
        </a:xfrm>
      </p:grpSpPr>
      <p:sp>
        <p:nvSpPr>
          <p:cNvPr id="21" name="Google Shape;21;p40"/>
          <p:cNvSpPr txBox="1">
            <a:spLocks noGrp="1"/>
          </p:cNvSpPr>
          <p:nvPr>
            <p:ph type="title"/>
          </p:nvPr>
        </p:nvSpPr>
        <p:spPr>
          <a:xfrm>
            <a:off x="469838" y="1661489"/>
            <a:ext cx="3004599"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0"/>
          <p:cNvSpPr txBox="1">
            <a:spLocks noGrp="1"/>
          </p:cNvSpPr>
          <p:nvPr>
            <p:ph type="body" idx="1"/>
          </p:nvPr>
        </p:nvSpPr>
        <p:spPr>
          <a:xfrm>
            <a:off x="4991582" y="1661489"/>
            <a:ext cx="6649556" cy="4446532"/>
          </a:xfrm>
          <a:prstGeom prst="rect">
            <a:avLst/>
          </a:prstGeom>
          <a:noFill/>
          <a:ln>
            <a:noFill/>
          </a:ln>
        </p:spPr>
        <p:txBody>
          <a:bodyPr spcFirstLastPara="1" wrap="square" lIns="91425" tIns="45700" rIns="91425" bIns="45700" anchor="t" anchorCtr="0">
            <a:normAutofit/>
          </a:bodyPr>
          <a:lstStyle>
            <a:lvl1pPr marL="457200" lvl="0" indent="-330200" algn="l">
              <a:lnSpc>
                <a:spcPct val="150000"/>
              </a:lnSpc>
              <a:spcBef>
                <a:spcPts val="1000"/>
              </a:spcBef>
              <a:spcAft>
                <a:spcPts val="0"/>
              </a:spcAft>
              <a:buClr>
                <a:srgbClr val="171616"/>
              </a:buClr>
              <a:buSzPts val="1600"/>
              <a:buChar char="•"/>
              <a:defRPr sz="1600" b="0">
                <a:solidFill>
                  <a:srgbClr val="171616"/>
                </a:solidFill>
              </a:defRPr>
            </a:lvl1pPr>
            <a:lvl2pPr marL="914400" lvl="1" indent="-330200" algn="l">
              <a:lnSpc>
                <a:spcPct val="150000"/>
              </a:lnSpc>
              <a:spcBef>
                <a:spcPts val="500"/>
              </a:spcBef>
              <a:spcAft>
                <a:spcPts val="0"/>
              </a:spcAft>
              <a:buClr>
                <a:srgbClr val="171616"/>
              </a:buClr>
              <a:buSzPts val="1600"/>
              <a:buChar char="•"/>
              <a:defRPr sz="1600" b="0">
                <a:solidFill>
                  <a:srgbClr val="171616"/>
                </a:solidFill>
              </a:defRPr>
            </a:lvl2pPr>
            <a:lvl3pPr marL="1371600" lvl="2" indent="-330200" algn="l">
              <a:lnSpc>
                <a:spcPct val="150000"/>
              </a:lnSpc>
              <a:spcBef>
                <a:spcPts val="500"/>
              </a:spcBef>
              <a:spcAft>
                <a:spcPts val="0"/>
              </a:spcAft>
              <a:buClr>
                <a:srgbClr val="171616"/>
              </a:buClr>
              <a:buSzPts val="1600"/>
              <a:buChar char="•"/>
              <a:defRPr sz="1600" b="0">
                <a:solidFill>
                  <a:srgbClr val="171616"/>
                </a:solidFill>
              </a:defRPr>
            </a:lvl3pPr>
            <a:lvl4pPr marL="1828800" lvl="3" indent="-330200" algn="l">
              <a:lnSpc>
                <a:spcPct val="150000"/>
              </a:lnSpc>
              <a:spcBef>
                <a:spcPts val="500"/>
              </a:spcBef>
              <a:spcAft>
                <a:spcPts val="0"/>
              </a:spcAft>
              <a:buClr>
                <a:srgbClr val="171616"/>
              </a:buClr>
              <a:buSzPts val="1600"/>
              <a:buChar char="•"/>
              <a:defRPr sz="1600" b="0">
                <a:solidFill>
                  <a:srgbClr val="171616"/>
                </a:solidFill>
              </a:defRPr>
            </a:lvl4pPr>
            <a:lvl5pPr marL="2286000" lvl="4" indent="-330200" algn="l">
              <a:lnSpc>
                <a:spcPct val="150000"/>
              </a:lnSpc>
              <a:spcBef>
                <a:spcPts val="500"/>
              </a:spcBef>
              <a:spcAft>
                <a:spcPts val="0"/>
              </a:spcAft>
              <a:buClr>
                <a:srgbClr val="171616"/>
              </a:buClr>
              <a:buSzPts val="1600"/>
              <a:buChar char="•"/>
              <a:defRPr sz="1600" b="0">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 name="1. On-page tracker">
            <a:extLst>
              <a:ext uri="{FF2B5EF4-FFF2-40B4-BE49-F238E27FC236}">
                <a16:creationId xmlns:a16="http://schemas.microsoft.com/office/drawing/2014/main" id="{D2CA4751-B1D3-6C52-458C-3874A5CCDA66}"/>
              </a:ext>
            </a:extLst>
          </p:cNvPr>
          <p:cNvSpPr>
            <a:spLocks noGrp="1"/>
          </p:cNvSpPr>
          <p:nvPr>
            <p:ph type="body" sz="quarter" idx="17" hasCustomPrompt="1"/>
            <p:custDataLst>
              <p:tags r:id="rId1"/>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
        <p:nvSpPr>
          <p:cNvPr id="3" name="Slide Number">
            <a:extLst>
              <a:ext uri="{FF2B5EF4-FFF2-40B4-BE49-F238E27FC236}">
                <a16:creationId xmlns:a16="http://schemas.microsoft.com/office/drawing/2014/main" id="{17B1F91A-8608-5996-6EE2-52B576CD4117}"/>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352080144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Only" userDrawn="1">
  <p:cSld name="Title Only">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 name="1. On-page tracker">
            <a:extLst>
              <a:ext uri="{FF2B5EF4-FFF2-40B4-BE49-F238E27FC236}">
                <a16:creationId xmlns:a16="http://schemas.microsoft.com/office/drawing/2014/main" id="{280E36D8-9727-3A66-B568-44AB140574CA}"/>
              </a:ext>
            </a:extLst>
          </p:cNvPr>
          <p:cNvSpPr>
            <a:spLocks noGrp="1"/>
          </p:cNvSpPr>
          <p:nvPr>
            <p:ph type="body" sz="quarter" idx="17" hasCustomPrompt="1"/>
            <p:custDataLst>
              <p:tags r:id="rId1"/>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
        <p:nvSpPr>
          <p:cNvPr id="3" name="Slide Number">
            <a:extLst>
              <a:ext uri="{FF2B5EF4-FFF2-40B4-BE49-F238E27FC236}">
                <a16:creationId xmlns:a16="http://schemas.microsoft.com/office/drawing/2014/main" id="{0649F191-C694-FE89-7416-DE67666A6CAC}"/>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3859722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05DDE-08ED-4939-B42D-FCE998A24DF2}"/>
              </a:ext>
            </a:extLst>
          </p:cNvPr>
          <p:cNvSpPr>
            <a:spLocks noGrp="1"/>
          </p:cNvSpPr>
          <p:nvPr>
            <p:ph type="title"/>
          </p:nvPr>
        </p:nvSpPr>
        <p:spPr/>
        <p:txBody>
          <a:bodyPr/>
          <a:lstStyle/>
          <a:p>
            <a:r>
              <a:rPr lang="en-GB"/>
              <a:t>Click to edit Master title style</a:t>
            </a:r>
            <a:endParaRPr lang="en-DK"/>
          </a:p>
        </p:txBody>
      </p:sp>
      <p:sp>
        <p:nvSpPr>
          <p:cNvPr id="3" name="Content Placeholder 2">
            <a:extLst>
              <a:ext uri="{FF2B5EF4-FFF2-40B4-BE49-F238E27FC236}">
                <a16:creationId xmlns:a16="http://schemas.microsoft.com/office/drawing/2014/main" id="{EE1D3418-51D4-5391-448E-744257B6D5F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Slide Number">
            <a:extLst>
              <a:ext uri="{FF2B5EF4-FFF2-40B4-BE49-F238E27FC236}">
                <a16:creationId xmlns:a16="http://schemas.microsoft.com/office/drawing/2014/main" id="{D9CD5BD8-2663-9BE4-201E-456E71D4564A}"/>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14640555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 name="Slide Number">
            <a:extLst>
              <a:ext uri="{FF2B5EF4-FFF2-40B4-BE49-F238E27FC236}">
                <a16:creationId xmlns:a16="http://schemas.microsoft.com/office/drawing/2014/main" id="{D26A8D4C-8114-AAF3-B69E-60AB80EB26DE}"/>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17267001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1EC11-3BB4-5CD5-B5D8-F851882A7B2D}"/>
              </a:ext>
            </a:extLst>
          </p:cNvPr>
          <p:cNvSpPr>
            <a:spLocks noGrp="1"/>
          </p:cNvSpPr>
          <p:nvPr>
            <p:ph type="title"/>
          </p:nvPr>
        </p:nvSpPr>
        <p:spPr/>
        <p:txBody>
          <a:bodyPr/>
          <a:lstStyle/>
          <a:p>
            <a:r>
              <a:rPr lang="en-GB"/>
              <a:t>Click to edit Master title style</a:t>
            </a:r>
            <a:endParaRPr lang="de-DE"/>
          </a:p>
        </p:txBody>
      </p:sp>
    </p:spTree>
    <p:extLst>
      <p:ext uri="{BB962C8B-B14F-4D97-AF65-F5344CB8AC3E}">
        <p14:creationId xmlns:p14="http://schemas.microsoft.com/office/powerpoint/2010/main" val="35776427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5.xml"/><Relationship Id="rId39" Type="http://schemas.openxmlformats.org/officeDocument/2006/relationships/tags" Target="../tags/tag18.xml"/><Relationship Id="rId21" Type="http://schemas.openxmlformats.org/officeDocument/2006/relationships/theme" Target="../theme/theme1.xml"/><Relationship Id="rId34" Type="http://schemas.openxmlformats.org/officeDocument/2006/relationships/tags" Target="../tags/tag13.xml"/><Relationship Id="rId42" Type="http://schemas.openxmlformats.org/officeDocument/2006/relationships/tags" Target="../tags/tag2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tags" Target="../tags/tag8.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3.xml"/><Relationship Id="rId32" Type="http://schemas.openxmlformats.org/officeDocument/2006/relationships/tags" Target="../tags/tag11.xml"/><Relationship Id="rId37" Type="http://schemas.openxmlformats.org/officeDocument/2006/relationships/tags" Target="../tags/tag16.xml"/><Relationship Id="rId40" Type="http://schemas.openxmlformats.org/officeDocument/2006/relationships/tags" Target="../tags/tag19.xml"/><Relationship Id="rId45"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28" Type="http://schemas.openxmlformats.org/officeDocument/2006/relationships/tags" Target="../tags/tag7.xml"/><Relationship Id="rId36" Type="http://schemas.openxmlformats.org/officeDocument/2006/relationships/tags" Target="../tags/tag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10.xml"/><Relationship Id="rId44" Type="http://schemas.openxmlformats.org/officeDocument/2006/relationships/tags" Target="../tags/tag2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1.xml"/><Relationship Id="rId27" Type="http://schemas.openxmlformats.org/officeDocument/2006/relationships/tags" Target="../tags/tag6.xml"/><Relationship Id="rId30" Type="http://schemas.openxmlformats.org/officeDocument/2006/relationships/tags" Target="../tags/tag9.xml"/><Relationship Id="rId35" Type="http://schemas.openxmlformats.org/officeDocument/2006/relationships/tags" Target="../tags/tag14.xml"/><Relationship Id="rId43" Type="http://schemas.openxmlformats.org/officeDocument/2006/relationships/tags" Target="../tags/tag22.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4.xml"/><Relationship Id="rId33" Type="http://schemas.openxmlformats.org/officeDocument/2006/relationships/tags" Target="../tags/tag12.xml"/><Relationship Id="rId38" Type="http://schemas.openxmlformats.org/officeDocument/2006/relationships/tags" Target="../tags/tag17.xml"/><Relationship Id="rId46" Type="http://schemas.openxmlformats.org/officeDocument/2006/relationships/image" Target="../media/image1.emf"/><Relationship Id="rId20" Type="http://schemas.openxmlformats.org/officeDocument/2006/relationships/slideLayout" Target="../slideLayouts/slideLayout20.xml"/><Relationship Id="rId41" Type="http://schemas.openxmlformats.org/officeDocument/2006/relationships/tags" Target="../tags/tag2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tags" Target="../tags/tag153.xml"/><Relationship Id="rId39" Type="http://schemas.openxmlformats.org/officeDocument/2006/relationships/tags" Target="../tags/tag166.xml"/><Relationship Id="rId21" Type="http://schemas.openxmlformats.org/officeDocument/2006/relationships/theme" Target="../theme/theme3.xml"/><Relationship Id="rId34" Type="http://schemas.openxmlformats.org/officeDocument/2006/relationships/tags" Target="../tags/tag161.xml"/><Relationship Id="rId42" Type="http://schemas.openxmlformats.org/officeDocument/2006/relationships/tags" Target="../tags/tag169.xml"/><Relationship Id="rId7" Type="http://schemas.openxmlformats.org/officeDocument/2006/relationships/slideLayout" Target="../slideLayouts/slideLayout38.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9" Type="http://schemas.openxmlformats.org/officeDocument/2006/relationships/tags" Target="../tags/tag156.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tags" Target="../tags/tag151.xml"/><Relationship Id="rId32" Type="http://schemas.openxmlformats.org/officeDocument/2006/relationships/tags" Target="../tags/tag159.xml"/><Relationship Id="rId37" Type="http://schemas.openxmlformats.org/officeDocument/2006/relationships/tags" Target="../tags/tag164.xml"/><Relationship Id="rId40" Type="http://schemas.openxmlformats.org/officeDocument/2006/relationships/tags" Target="../tags/tag167.xml"/><Relationship Id="rId45" Type="http://schemas.openxmlformats.org/officeDocument/2006/relationships/oleObject" Target="../embeddings/oleObject1.bin"/><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tags" Target="../tags/tag150.xml"/><Relationship Id="rId28" Type="http://schemas.openxmlformats.org/officeDocument/2006/relationships/tags" Target="../tags/tag155.xml"/><Relationship Id="rId36" Type="http://schemas.openxmlformats.org/officeDocument/2006/relationships/tags" Target="../tags/tag163.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31" Type="http://schemas.openxmlformats.org/officeDocument/2006/relationships/tags" Target="../tags/tag158.xml"/><Relationship Id="rId44" Type="http://schemas.openxmlformats.org/officeDocument/2006/relationships/tags" Target="../tags/tag17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tags" Target="../tags/tag149.xml"/><Relationship Id="rId27" Type="http://schemas.openxmlformats.org/officeDocument/2006/relationships/tags" Target="../tags/tag154.xml"/><Relationship Id="rId30" Type="http://schemas.openxmlformats.org/officeDocument/2006/relationships/tags" Target="../tags/tag157.xml"/><Relationship Id="rId35" Type="http://schemas.openxmlformats.org/officeDocument/2006/relationships/tags" Target="../tags/tag162.xml"/><Relationship Id="rId43" Type="http://schemas.openxmlformats.org/officeDocument/2006/relationships/tags" Target="../tags/tag170.xml"/><Relationship Id="rId8" Type="http://schemas.openxmlformats.org/officeDocument/2006/relationships/slideLayout" Target="../slideLayouts/slideLayout39.xml"/><Relationship Id="rId3" Type="http://schemas.openxmlformats.org/officeDocument/2006/relationships/slideLayout" Target="../slideLayouts/slideLayout34.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tags" Target="../tags/tag152.xml"/><Relationship Id="rId33" Type="http://schemas.openxmlformats.org/officeDocument/2006/relationships/tags" Target="../tags/tag160.xml"/><Relationship Id="rId38" Type="http://schemas.openxmlformats.org/officeDocument/2006/relationships/tags" Target="../tags/tag165.xml"/><Relationship Id="rId46" Type="http://schemas.openxmlformats.org/officeDocument/2006/relationships/image" Target="../media/image1.emf"/><Relationship Id="rId20" Type="http://schemas.openxmlformats.org/officeDocument/2006/relationships/slideLayout" Target="../slideLayouts/slideLayout51.xml"/><Relationship Id="rId41" Type="http://schemas.openxmlformats.org/officeDocument/2006/relationships/tags" Target="../tags/tag1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22"/>
            </p:custDataLst>
            <p:extLst>
              <p:ext uri="{D42A27DB-BD31-4B8C-83A1-F6EECF244321}">
                <p14:modId xmlns:p14="http://schemas.microsoft.com/office/powerpoint/2010/main" val="1231278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5" imgW="413" imgH="416" progId="TCLayout.ActiveDocument.1">
                  <p:embed/>
                </p:oleObj>
              </mc:Choice>
              <mc:Fallback>
                <p:oleObj name="think-cell Slide" r:id="rId45"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4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2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4"/>
            </p:custDataLst>
          </p:nvPr>
        </p:nvSpPr>
        <p:spPr>
          <a:xfrm>
            <a:off x="8930636" y="6499381"/>
            <a:ext cx="2346796"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Frankfurt School of Finance and Management</a:t>
            </a:r>
          </a:p>
        </p:txBody>
      </p:sp>
      <p:cxnSp>
        <p:nvCxnSpPr>
          <p:cNvPr id="106" name="BottomLine">
            <a:extLst>
              <a:ext uri="{FF2B5EF4-FFF2-40B4-BE49-F238E27FC236}">
                <a16:creationId xmlns:a16="http://schemas.microsoft.com/office/drawing/2014/main" id="{8B868434-776E-46FC-90D6-2CC6F63A9A51}"/>
              </a:ext>
            </a:extLst>
          </p:cNvPr>
          <p:cNvCxnSpPr/>
          <p:nvPr userDrawn="1">
            <p:custDataLst>
              <p:tags r:id="rId25"/>
            </p:custDataLst>
          </p:nvPr>
        </p:nvCxnSpPr>
        <p:spPr>
          <a:xfrm>
            <a:off x="554736" y="6453769"/>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
            <a:extLst>
              <a:ext uri="{FF2B5EF4-FFF2-40B4-BE49-F238E27FC236}">
                <a16:creationId xmlns:a16="http://schemas.microsoft.com/office/drawing/2014/main" id="{00E8CD27-C104-4563-9322-C0A2ABFCB5E3}"/>
              </a:ext>
            </a:extLst>
          </p:cNvPr>
          <p:cNvCxnSpPr/>
          <p:nvPr userDrawn="1">
            <p:custDataLst>
              <p:tags r:id="rId26"/>
            </p:custDataLst>
          </p:nvPr>
        </p:nvCxnSpPr>
        <p:spPr>
          <a:xfrm>
            <a:off x="554736" y="1181906"/>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7"/>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8"/>
            </p:custDataLst>
          </p:nvPr>
        </p:nvSpPr>
        <p:spPr>
          <a:xfrm>
            <a:off x="554736" y="35509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9" name="Grid" hidden="1">
            <a:extLst>
              <a:ext uri="{FF2B5EF4-FFF2-40B4-BE49-F238E27FC236}">
                <a16:creationId xmlns:a16="http://schemas.microsoft.com/office/drawing/2014/main" id="{D35250B8-D61E-4F1A-9ACD-6E1BB958B78E}"/>
              </a:ext>
            </a:extLst>
          </p:cNvPr>
          <p:cNvGrpSpPr/>
          <p:nvPr userDrawn="1">
            <p:custDataLst>
              <p:tags r:id="rId29"/>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554770" y="4322824"/>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148" name="LegendMoons" hidden="1">
            <a:extLst>
              <a:ext uri="{FF2B5EF4-FFF2-40B4-BE49-F238E27FC236}">
                <a16:creationId xmlns:a16="http://schemas.microsoft.com/office/drawing/2014/main" id="{DDFB4BFF-188C-450D-B4D3-DF8BD2DB3D7F}"/>
              </a:ext>
            </a:extLst>
          </p:cNvPr>
          <p:cNvGrpSpPr/>
          <p:nvPr userDrawn="1"/>
        </p:nvGrpSpPr>
        <p:grpSpPr>
          <a:xfrm>
            <a:off x="7723680" y="1702457"/>
            <a:ext cx="1023616" cy="1731859"/>
            <a:chOff x="7723680" y="1702457"/>
            <a:chExt cx="1023616" cy="1731859"/>
          </a:xfrm>
        </p:grpSpPr>
        <p:sp>
          <p:nvSpPr>
            <p:cNvPr id="149" name="Legend1">
              <a:extLst>
                <a:ext uri="{FF2B5EF4-FFF2-40B4-BE49-F238E27FC236}">
                  <a16:creationId xmlns:a16="http://schemas.microsoft.com/office/drawing/2014/main" id="{66D8D147-F2B4-4250-9C41-767555E1432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0" name="Legend2">
              <a:extLst>
                <a:ext uri="{FF2B5EF4-FFF2-40B4-BE49-F238E27FC236}">
                  <a16:creationId xmlns:a16="http://schemas.microsoft.com/office/drawing/2014/main" id="{E9DCC6EC-92E6-47D0-B23D-94365AC17441}"/>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1" name="Legend3">
              <a:extLst>
                <a:ext uri="{FF2B5EF4-FFF2-40B4-BE49-F238E27FC236}">
                  <a16:creationId xmlns:a16="http://schemas.microsoft.com/office/drawing/2014/main" id="{8451F4C0-E484-44FD-B923-EE0B1E1D1274}"/>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2" name="Legend4">
              <a:extLst>
                <a:ext uri="{FF2B5EF4-FFF2-40B4-BE49-F238E27FC236}">
                  <a16:creationId xmlns:a16="http://schemas.microsoft.com/office/drawing/2014/main" id="{508A2D78-9A17-4FB2-A405-02E4BB25DD6C}"/>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3" name="Legend5">
              <a:extLst>
                <a:ext uri="{FF2B5EF4-FFF2-40B4-BE49-F238E27FC236}">
                  <a16:creationId xmlns:a16="http://schemas.microsoft.com/office/drawing/2014/main" id="{CF32E1C9-EF64-41BC-8B8E-B7FED880E653}"/>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54" name="MoonLegend1">
              <a:extLst>
                <a:ext uri="{FF2B5EF4-FFF2-40B4-BE49-F238E27FC236}">
                  <a16:creationId xmlns:a16="http://schemas.microsoft.com/office/drawing/2014/main" id="{496CCEDB-0BDA-47D9-9BA4-03BD59D6EEC2}"/>
                </a:ext>
              </a:extLst>
            </p:cNvPr>
            <p:cNvGrpSpPr>
              <a:grpSpLocks noChangeAspect="1"/>
            </p:cNvGrpSpPr>
            <p:nvPr>
              <p:custDataLst>
                <p:tags r:id="rId30"/>
              </p:custDataLst>
            </p:nvPr>
          </p:nvGrpSpPr>
          <p:grpSpPr>
            <a:xfrm>
              <a:off x="7723680" y="1702457"/>
              <a:ext cx="228600" cy="228600"/>
              <a:chOff x="762000" y="1270000"/>
              <a:chExt cx="254000" cy="254000"/>
            </a:xfrm>
          </p:grpSpPr>
          <p:sp>
            <p:nvSpPr>
              <p:cNvPr id="167" name="Oval 166">
                <a:extLst>
                  <a:ext uri="{FF2B5EF4-FFF2-40B4-BE49-F238E27FC236}">
                    <a16:creationId xmlns:a16="http://schemas.microsoft.com/office/drawing/2014/main" id="{F21E8F0F-ACA9-405E-8484-3FE9B6124FFD}"/>
                  </a:ext>
                </a:extLst>
              </p:cNvPr>
              <p:cNvSpPr/>
              <p:nvPr>
                <p:custDataLst>
                  <p:tags r:id="rId4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8" name="Arc 167" hidden="1">
                <a:extLst>
                  <a:ext uri="{FF2B5EF4-FFF2-40B4-BE49-F238E27FC236}">
                    <a16:creationId xmlns:a16="http://schemas.microsoft.com/office/drawing/2014/main" id="{315D8D40-04AC-475B-AFC0-F08E492D131D}"/>
                  </a:ext>
                </a:extLst>
              </p:cNvPr>
              <p:cNvSpPr/>
              <p:nvPr>
                <p:custDataLst>
                  <p:tags r:id="rId4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5" name="MoonLegend2">
              <a:extLst>
                <a:ext uri="{FF2B5EF4-FFF2-40B4-BE49-F238E27FC236}">
                  <a16:creationId xmlns:a16="http://schemas.microsoft.com/office/drawing/2014/main" id="{BCF3BE62-91BA-488B-84C7-3FE20CFBDB9A}"/>
                </a:ext>
              </a:extLst>
            </p:cNvPr>
            <p:cNvGrpSpPr>
              <a:grpSpLocks noChangeAspect="1"/>
            </p:cNvGrpSpPr>
            <p:nvPr>
              <p:custDataLst>
                <p:tags r:id="rId31"/>
              </p:custDataLst>
            </p:nvPr>
          </p:nvGrpSpPr>
          <p:grpSpPr>
            <a:xfrm>
              <a:off x="7723680" y="2078270"/>
              <a:ext cx="228600" cy="228600"/>
              <a:chOff x="762000" y="1270000"/>
              <a:chExt cx="254000" cy="254000"/>
            </a:xfrm>
          </p:grpSpPr>
          <p:sp>
            <p:nvSpPr>
              <p:cNvPr id="165" name="Oval 164">
                <a:extLst>
                  <a:ext uri="{FF2B5EF4-FFF2-40B4-BE49-F238E27FC236}">
                    <a16:creationId xmlns:a16="http://schemas.microsoft.com/office/drawing/2014/main" id="{D27FF75E-C9E0-4D28-8F47-85C2D2EE375F}"/>
                  </a:ext>
                </a:extLst>
              </p:cNvPr>
              <p:cNvSpPr/>
              <p:nvPr>
                <p:custDataLst>
                  <p:tags r:id="rId4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6" name="Arc 165">
                <a:extLst>
                  <a:ext uri="{FF2B5EF4-FFF2-40B4-BE49-F238E27FC236}">
                    <a16:creationId xmlns:a16="http://schemas.microsoft.com/office/drawing/2014/main" id="{BDC4F596-0330-4D95-8A02-83794DACDB00}"/>
                  </a:ext>
                </a:extLst>
              </p:cNvPr>
              <p:cNvSpPr/>
              <p:nvPr>
                <p:custDataLst>
                  <p:tags r:id="rId42"/>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6" name="MoonLegend3">
              <a:extLst>
                <a:ext uri="{FF2B5EF4-FFF2-40B4-BE49-F238E27FC236}">
                  <a16:creationId xmlns:a16="http://schemas.microsoft.com/office/drawing/2014/main" id="{E4482EDB-85E9-4926-9441-26A85880E202}"/>
                </a:ext>
              </a:extLst>
            </p:cNvPr>
            <p:cNvGrpSpPr>
              <a:grpSpLocks noChangeAspect="1"/>
            </p:cNvGrpSpPr>
            <p:nvPr>
              <p:custDataLst>
                <p:tags r:id="rId32"/>
              </p:custDataLst>
            </p:nvPr>
          </p:nvGrpSpPr>
          <p:grpSpPr>
            <a:xfrm>
              <a:off x="7723680" y="2454085"/>
              <a:ext cx="228600" cy="228600"/>
              <a:chOff x="762000" y="1270000"/>
              <a:chExt cx="254000" cy="254000"/>
            </a:xfrm>
          </p:grpSpPr>
          <p:sp>
            <p:nvSpPr>
              <p:cNvPr id="163" name="Oval 162">
                <a:extLst>
                  <a:ext uri="{FF2B5EF4-FFF2-40B4-BE49-F238E27FC236}">
                    <a16:creationId xmlns:a16="http://schemas.microsoft.com/office/drawing/2014/main" id="{6B270099-CB45-46A3-8BC6-ADF0FABD3567}"/>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4" name="Arc 163">
                <a:extLst>
                  <a:ext uri="{FF2B5EF4-FFF2-40B4-BE49-F238E27FC236}">
                    <a16:creationId xmlns:a16="http://schemas.microsoft.com/office/drawing/2014/main" id="{4D910DDA-12F5-450E-85C1-CD98B4A9EE80}"/>
                  </a:ext>
                </a:extLst>
              </p:cNvPr>
              <p:cNvSpPr/>
              <p:nvPr>
                <p:custDataLst>
                  <p:tags r:id="rId40"/>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7" name="MoonLegend4">
              <a:extLst>
                <a:ext uri="{FF2B5EF4-FFF2-40B4-BE49-F238E27FC236}">
                  <a16:creationId xmlns:a16="http://schemas.microsoft.com/office/drawing/2014/main" id="{2606D4D9-DA1B-4BEB-8CC9-41FDA33CC5A0}"/>
                </a:ext>
              </a:extLst>
            </p:cNvPr>
            <p:cNvGrpSpPr>
              <a:grpSpLocks noChangeAspect="1"/>
            </p:cNvGrpSpPr>
            <p:nvPr>
              <p:custDataLst>
                <p:tags r:id="rId33"/>
              </p:custDataLst>
            </p:nvPr>
          </p:nvGrpSpPr>
          <p:grpSpPr>
            <a:xfrm>
              <a:off x="7723680" y="2829900"/>
              <a:ext cx="228600" cy="228600"/>
              <a:chOff x="762000" y="1270000"/>
              <a:chExt cx="254000" cy="254000"/>
            </a:xfrm>
          </p:grpSpPr>
          <p:sp>
            <p:nvSpPr>
              <p:cNvPr id="161" name="Oval 160">
                <a:extLst>
                  <a:ext uri="{FF2B5EF4-FFF2-40B4-BE49-F238E27FC236}">
                    <a16:creationId xmlns:a16="http://schemas.microsoft.com/office/drawing/2014/main" id="{81477097-8655-4968-A993-EA579ADDDBCF}"/>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2" name="Arc 161">
                <a:extLst>
                  <a:ext uri="{FF2B5EF4-FFF2-40B4-BE49-F238E27FC236}">
                    <a16:creationId xmlns:a16="http://schemas.microsoft.com/office/drawing/2014/main" id="{EAFFF099-23A4-4400-9308-28EB2E760A74}"/>
                  </a:ext>
                </a:extLst>
              </p:cNvPr>
              <p:cNvSpPr/>
              <p:nvPr>
                <p:custDataLst>
                  <p:tags r:id="rId38"/>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8" name="MoonLegend5">
              <a:extLst>
                <a:ext uri="{FF2B5EF4-FFF2-40B4-BE49-F238E27FC236}">
                  <a16:creationId xmlns:a16="http://schemas.microsoft.com/office/drawing/2014/main" id="{157F392C-3A22-465F-B4F0-A7E9FD7A01A1}"/>
                </a:ext>
              </a:extLst>
            </p:cNvPr>
            <p:cNvGrpSpPr>
              <a:grpSpLocks noChangeAspect="1"/>
            </p:cNvGrpSpPr>
            <p:nvPr>
              <p:custDataLst>
                <p:tags r:id="rId34"/>
              </p:custDataLst>
            </p:nvPr>
          </p:nvGrpSpPr>
          <p:grpSpPr>
            <a:xfrm>
              <a:off x="7723680" y="3205716"/>
              <a:ext cx="228600" cy="228600"/>
              <a:chOff x="762000" y="1270000"/>
              <a:chExt cx="254000" cy="254000"/>
            </a:xfrm>
          </p:grpSpPr>
          <p:sp>
            <p:nvSpPr>
              <p:cNvPr id="159" name="Oval 158">
                <a:extLst>
                  <a:ext uri="{FF2B5EF4-FFF2-40B4-BE49-F238E27FC236}">
                    <a16:creationId xmlns:a16="http://schemas.microsoft.com/office/drawing/2014/main" id="{BE9440E9-0BAB-4509-A556-8A80E9683FAB}"/>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0" name="Arc 159">
                <a:extLst>
                  <a:ext uri="{FF2B5EF4-FFF2-40B4-BE49-F238E27FC236}">
                    <a16:creationId xmlns:a16="http://schemas.microsoft.com/office/drawing/2014/main" id="{CA6DB424-2E98-4F1D-87A4-EE09FA805687}"/>
                  </a:ext>
                </a:extLst>
              </p:cNvPr>
              <p:cNvSpPr/>
              <p:nvPr>
                <p:custDataLst>
                  <p:tags r:id="rId36"/>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367929" y="3301675"/>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18289106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92" r:id="rId20"/>
  </p:sldLayoutIdLst>
  <p:txStyles>
    <p:titleStyle>
      <a:lvl1pPr algn="l" defTabSz="914400" rtl="0" eaLnBrk="1" latinLnBrk="0" hangingPunct="1">
        <a:lnSpc>
          <a:spcPct val="100000"/>
        </a:lnSpc>
        <a:spcBef>
          <a:spcPct val="0"/>
        </a:spcBef>
        <a:buNone/>
        <a:defRPr sz="2500" b="1" kern="1200" spc="0" baseline="0">
          <a:ln w="6350" cap="flat">
            <a:noFill/>
            <a:miter lim="800000"/>
          </a:ln>
          <a:solidFill>
            <a:schemeClr val="bg2"/>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44">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126A91-4BF3-A837-8808-2DAE4A39D5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de-DE"/>
          </a:p>
        </p:txBody>
      </p:sp>
      <p:sp>
        <p:nvSpPr>
          <p:cNvPr id="3" name="Text Placeholder 2">
            <a:extLst>
              <a:ext uri="{FF2B5EF4-FFF2-40B4-BE49-F238E27FC236}">
                <a16:creationId xmlns:a16="http://schemas.microsoft.com/office/drawing/2014/main" id="{0F318806-8655-4167-2E16-05AE5702D2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4" name="Date Placeholder 3">
            <a:extLst>
              <a:ext uri="{FF2B5EF4-FFF2-40B4-BE49-F238E27FC236}">
                <a16:creationId xmlns:a16="http://schemas.microsoft.com/office/drawing/2014/main" id="{659795AB-5B67-5155-BCB5-CDA7046C13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7EEE09-68BD-4499-9EE4-DE5DF8CE7CC5}" type="datetimeFigureOut">
              <a:rPr lang="de-DE" smtClean="0"/>
              <a:t>23.09.2025</a:t>
            </a:fld>
            <a:endParaRPr lang="de-DE"/>
          </a:p>
        </p:txBody>
      </p:sp>
      <p:sp>
        <p:nvSpPr>
          <p:cNvPr id="5" name="Footer Placeholder 4">
            <a:extLst>
              <a:ext uri="{FF2B5EF4-FFF2-40B4-BE49-F238E27FC236}">
                <a16:creationId xmlns:a16="http://schemas.microsoft.com/office/drawing/2014/main" id="{05DBD0E2-83AF-30CC-2D48-7EF53246F2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Slide Number Placeholder 5">
            <a:extLst>
              <a:ext uri="{FF2B5EF4-FFF2-40B4-BE49-F238E27FC236}">
                <a16:creationId xmlns:a16="http://schemas.microsoft.com/office/drawing/2014/main" id="{2A06C1A8-BC88-1D7C-250C-474B728D7B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FE4E82-220D-4AC2-876C-3A7ED49B49B8}" type="slidenum">
              <a:rPr lang="de-DE" smtClean="0"/>
              <a:t>‹#›</a:t>
            </a:fld>
            <a:endParaRPr lang="de-DE"/>
          </a:p>
        </p:txBody>
      </p:sp>
    </p:spTree>
    <p:extLst>
      <p:ext uri="{BB962C8B-B14F-4D97-AF65-F5344CB8AC3E}">
        <p14:creationId xmlns:p14="http://schemas.microsoft.com/office/powerpoint/2010/main" val="400273475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2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5" imgW="413" imgH="416" progId="TCLayout.ActiveDocument.1">
                  <p:embed/>
                </p:oleObj>
              </mc:Choice>
              <mc:Fallback>
                <p:oleObj name="think-cell Slide" r:id="rId45"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4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2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4"/>
            </p:custDataLst>
          </p:nvPr>
        </p:nvSpPr>
        <p:spPr>
          <a:xfrm>
            <a:off x="8930636" y="6499381"/>
            <a:ext cx="2346796"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Frankfurt School of Finance and Management</a:t>
            </a:r>
          </a:p>
        </p:txBody>
      </p:sp>
      <p:cxnSp>
        <p:nvCxnSpPr>
          <p:cNvPr id="106" name="BottomLine">
            <a:extLst>
              <a:ext uri="{FF2B5EF4-FFF2-40B4-BE49-F238E27FC236}">
                <a16:creationId xmlns:a16="http://schemas.microsoft.com/office/drawing/2014/main" id="{8B868434-776E-46FC-90D6-2CC6F63A9A51}"/>
              </a:ext>
            </a:extLst>
          </p:cNvPr>
          <p:cNvCxnSpPr/>
          <p:nvPr userDrawn="1">
            <p:custDataLst>
              <p:tags r:id="rId25"/>
            </p:custDataLst>
          </p:nvPr>
        </p:nvCxnSpPr>
        <p:spPr>
          <a:xfrm>
            <a:off x="554736" y="6453769"/>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
            <a:extLst>
              <a:ext uri="{FF2B5EF4-FFF2-40B4-BE49-F238E27FC236}">
                <a16:creationId xmlns:a16="http://schemas.microsoft.com/office/drawing/2014/main" id="{00E8CD27-C104-4563-9322-C0A2ABFCB5E3}"/>
              </a:ext>
            </a:extLst>
          </p:cNvPr>
          <p:cNvCxnSpPr/>
          <p:nvPr userDrawn="1">
            <p:custDataLst>
              <p:tags r:id="rId26"/>
            </p:custDataLst>
          </p:nvPr>
        </p:nvCxnSpPr>
        <p:spPr>
          <a:xfrm>
            <a:off x="554736" y="1181906"/>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7"/>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8"/>
            </p:custDataLst>
          </p:nvPr>
        </p:nvSpPr>
        <p:spPr>
          <a:xfrm>
            <a:off x="554736" y="35509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9" name="Grid" hidden="1">
            <a:extLst>
              <a:ext uri="{FF2B5EF4-FFF2-40B4-BE49-F238E27FC236}">
                <a16:creationId xmlns:a16="http://schemas.microsoft.com/office/drawing/2014/main" id="{D35250B8-D61E-4F1A-9ACD-6E1BB958B78E}"/>
              </a:ext>
            </a:extLst>
          </p:cNvPr>
          <p:cNvGrpSpPr/>
          <p:nvPr userDrawn="1">
            <p:custDataLst>
              <p:tags r:id="rId29"/>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554770" y="4322824"/>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148" name="LegendMoons" hidden="1">
            <a:extLst>
              <a:ext uri="{FF2B5EF4-FFF2-40B4-BE49-F238E27FC236}">
                <a16:creationId xmlns:a16="http://schemas.microsoft.com/office/drawing/2014/main" id="{DDFB4BFF-188C-450D-B4D3-DF8BD2DB3D7F}"/>
              </a:ext>
            </a:extLst>
          </p:cNvPr>
          <p:cNvGrpSpPr/>
          <p:nvPr userDrawn="1"/>
        </p:nvGrpSpPr>
        <p:grpSpPr>
          <a:xfrm>
            <a:off x="7723680" y="1702457"/>
            <a:ext cx="1023616" cy="1731859"/>
            <a:chOff x="7723680" y="1702457"/>
            <a:chExt cx="1023616" cy="1731859"/>
          </a:xfrm>
        </p:grpSpPr>
        <p:sp>
          <p:nvSpPr>
            <p:cNvPr id="149" name="Legend1">
              <a:extLst>
                <a:ext uri="{FF2B5EF4-FFF2-40B4-BE49-F238E27FC236}">
                  <a16:creationId xmlns:a16="http://schemas.microsoft.com/office/drawing/2014/main" id="{66D8D147-F2B4-4250-9C41-767555E1432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0" name="Legend2">
              <a:extLst>
                <a:ext uri="{FF2B5EF4-FFF2-40B4-BE49-F238E27FC236}">
                  <a16:creationId xmlns:a16="http://schemas.microsoft.com/office/drawing/2014/main" id="{E9DCC6EC-92E6-47D0-B23D-94365AC17441}"/>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1" name="Legend3">
              <a:extLst>
                <a:ext uri="{FF2B5EF4-FFF2-40B4-BE49-F238E27FC236}">
                  <a16:creationId xmlns:a16="http://schemas.microsoft.com/office/drawing/2014/main" id="{8451F4C0-E484-44FD-B923-EE0B1E1D1274}"/>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2" name="Legend4">
              <a:extLst>
                <a:ext uri="{FF2B5EF4-FFF2-40B4-BE49-F238E27FC236}">
                  <a16:creationId xmlns:a16="http://schemas.microsoft.com/office/drawing/2014/main" id="{508A2D78-9A17-4FB2-A405-02E4BB25DD6C}"/>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3" name="Legend5">
              <a:extLst>
                <a:ext uri="{FF2B5EF4-FFF2-40B4-BE49-F238E27FC236}">
                  <a16:creationId xmlns:a16="http://schemas.microsoft.com/office/drawing/2014/main" id="{CF32E1C9-EF64-41BC-8B8E-B7FED880E653}"/>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54" name="MoonLegend1">
              <a:extLst>
                <a:ext uri="{FF2B5EF4-FFF2-40B4-BE49-F238E27FC236}">
                  <a16:creationId xmlns:a16="http://schemas.microsoft.com/office/drawing/2014/main" id="{496CCEDB-0BDA-47D9-9BA4-03BD59D6EEC2}"/>
                </a:ext>
              </a:extLst>
            </p:cNvPr>
            <p:cNvGrpSpPr>
              <a:grpSpLocks noChangeAspect="1"/>
            </p:cNvGrpSpPr>
            <p:nvPr>
              <p:custDataLst>
                <p:tags r:id="rId30"/>
              </p:custDataLst>
            </p:nvPr>
          </p:nvGrpSpPr>
          <p:grpSpPr>
            <a:xfrm>
              <a:off x="7723680" y="1702457"/>
              <a:ext cx="228600" cy="228600"/>
              <a:chOff x="762000" y="1270000"/>
              <a:chExt cx="254000" cy="254000"/>
            </a:xfrm>
          </p:grpSpPr>
          <p:sp>
            <p:nvSpPr>
              <p:cNvPr id="167" name="Oval 166">
                <a:extLst>
                  <a:ext uri="{FF2B5EF4-FFF2-40B4-BE49-F238E27FC236}">
                    <a16:creationId xmlns:a16="http://schemas.microsoft.com/office/drawing/2014/main" id="{F21E8F0F-ACA9-405E-8484-3FE9B6124FFD}"/>
                  </a:ext>
                </a:extLst>
              </p:cNvPr>
              <p:cNvSpPr/>
              <p:nvPr>
                <p:custDataLst>
                  <p:tags r:id="rId4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8" name="Arc 167" hidden="1">
                <a:extLst>
                  <a:ext uri="{FF2B5EF4-FFF2-40B4-BE49-F238E27FC236}">
                    <a16:creationId xmlns:a16="http://schemas.microsoft.com/office/drawing/2014/main" id="{315D8D40-04AC-475B-AFC0-F08E492D131D}"/>
                  </a:ext>
                </a:extLst>
              </p:cNvPr>
              <p:cNvSpPr/>
              <p:nvPr>
                <p:custDataLst>
                  <p:tags r:id="rId4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5" name="MoonLegend2">
              <a:extLst>
                <a:ext uri="{FF2B5EF4-FFF2-40B4-BE49-F238E27FC236}">
                  <a16:creationId xmlns:a16="http://schemas.microsoft.com/office/drawing/2014/main" id="{BCF3BE62-91BA-488B-84C7-3FE20CFBDB9A}"/>
                </a:ext>
              </a:extLst>
            </p:cNvPr>
            <p:cNvGrpSpPr>
              <a:grpSpLocks noChangeAspect="1"/>
            </p:cNvGrpSpPr>
            <p:nvPr>
              <p:custDataLst>
                <p:tags r:id="rId31"/>
              </p:custDataLst>
            </p:nvPr>
          </p:nvGrpSpPr>
          <p:grpSpPr>
            <a:xfrm>
              <a:off x="7723680" y="2078270"/>
              <a:ext cx="228600" cy="228600"/>
              <a:chOff x="762000" y="1270000"/>
              <a:chExt cx="254000" cy="254000"/>
            </a:xfrm>
          </p:grpSpPr>
          <p:sp>
            <p:nvSpPr>
              <p:cNvPr id="165" name="Oval 164">
                <a:extLst>
                  <a:ext uri="{FF2B5EF4-FFF2-40B4-BE49-F238E27FC236}">
                    <a16:creationId xmlns:a16="http://schemas.microsoft.com/office/drawing/2014/main" id="{D27FF75E-C9E0-4D28-8F47-85C2D2EE375F}"/>
                  </a:ext>
                </a:extLst>
              </p:cNvPr>
              <p:cNvSpPr/>
              <p:nvPr>
                <p:custDataLst>
                  <p:tags r:id="rId4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6" name="Arc 165">
                <a:extLst>
                  <a:ext uri="{FF2B5EF4-FFF2-40B4-BE49-F238E27FC236}">
                    <a16:creationId xmlns:a16="http://schemas.microsoft.com/office/drawing/2014/main" id="{BDC4F596-0330-4D95-8A02-83794DACDB00}"/>
                  </a:ext>
                </a:extLst>
              </p:cNvPr>
              <p:cNvSpPr/>
              <p:nvPr>
                <p:custDataLst>
                  <p:tags r:id="rId42"/>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6" name="MoonLegend3">
              <a:extLst>
                <a:ext uri="{FF2B5EF4-FFF2-40B4-BE49-F238E27FC236}">
                  <a16:creationId xmlns:a16="http://schemas.microsoft.com/office/drawing/2014/main" id="{E4482EDB-85E9-4926-9441-26A85880E202}"/>
                </a:ext>
              </a:extLst>
            </p:cNvPr>
            <p:cNvGrpSpPr>
              <a:grpSpLocks noChangeAspect="1"/>
            </p:cNvGrpSpPr>
            <p:nvPr>
              <p:custDataLst>
                <p:tags r:id="rId32"/>
              </p:custDataLst>
            </p:nvPr>
          </p:nvGrpSpPr>
          <p:grpSpPr>
            <a:xfrm>
              <a:off x="7723680" y="2454085"/>
              <a:ext cx="228600" cy="228600"/>
              <a:chOff x="762000" y="1270000"/>
              <a:chExt cx="254000" cy="254000"/>
            </a:xfrm>
          </p:grpSpPr>
          <p:sp>
            <p:nvSpPr>
              <p:cNvPr id="163" name="Oval 162">
                <a:extLst>
                  <a:ext uri="{FF2B5EF4-FFF2-40B4-BE49-F238E27FC236}">
                    <a16:creationId xmlns:a16="http://schemas.microsoft.com/office/drawing/2014/main" id="{6B270099-CB45-46A3-8BC6-ADF0FABD3567}"/>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4" name="Arc 163">
                <a:extLst>
                  <a:ext uri="{FF2B5EF4-FFF2-40B4-BE49-F238E27FC236}">
                    <a16:creationId xmlns:a16="http://schemas.microsoft.com/office/drawing/2014/main" id="{4D910DDA-12F5-450E-85C1-CD98B4A9EE80}"/>
                  </a:ext>
                </a:extLst>
              </p:cNvPr>
              <p:cNvSpPr/>
              <p:nvPr>
                <p:custDataLst>
                  <p:tags r:id="rId40"/>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7" name="MoonLegend4">
              <a:extLst>
                <a:ext uri="{FF2B5EF4-FFF2-40B4-BE49-F238E27FC236}">
                  <a16:creationId xmlns:a16="http://schemas.microsoft.com/office/drawing/2014/main" id="{2606D4D9-DA1B-4BEB-8CC9-41FDA33CC5A0}"/>
                </a:ext>
              </a:extLst>
            </p:cNvPr>
            <p:cNvGrpSpPr>
              <a:grpSpLocks noChangeAspect="1"/>
            </p:cNvGrpSpPr>
            <p:nvPr>
              <p:custDataLst>
                <p:tags r:id="rId33"/>
              </p:custDataLst>
            </p:nvPr>
          </p:nvGrpSpPr>
          <p:grpSpPr>
            <a:xfrm>
              <a:off x="7723680" y="2829900"/>
              <a:ext cx="228600" cy="228600"/>
              <a:chOff x="762000" y="1270000"/>
              <a:chExt cx="254000" cy="254000"/>
            </a:xfrm>
          </p:grpSpPr>
          <p:sp>
            <p:nvSpPr>
              <p:cNvPr id="161" name="Oval 160">
                <a:extLst>
                  <a:ext uri="{FF2B5EF4-FFF2-40B4-BE49-F238E27FC236}">
                    <a16:creationId xmlns:a16="http://schemas.microsoft.com/office/drawing/2014/main" id="{81477097-8655-4968-A993-EA579ADDDBCF}"/>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2" name="Arc 161">
                <a:extLst>
                  <a:ext uri="{FF2B5EF4-FFF2-40B4-BE49-F238E27FC236}">
                    <a16:creationId xmlns:a16="http://schemas.microsoft.com/office/drawing/2014/main" id="{EAFFF099-23A4-4400-9308-28EB2E760A74}"/>
                  </a:ext>
                </a:extLst>
              </p:cNvPr>
              <p:cNvSpPr/>
              <p:nvPr>
                <p:custDataLst>
                  <p:tags r:id="rId38"/>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8" name="MoonLegend5">
              <a:extLst>
                <a:ext uri="{FF2B5EF4-FFF2-40B4-BE49-F238E27FC236}">
                  <a16:creationId xmlns:a16="http://schemas.microsoft.com/office/drawing/2014/main" id="{157F392C-3A22-465F-B4F0-A7E9FD7A01A1}"/>
                </a:ext>
              </a:extLst>
            </p:cNvPr>
            <p:cNvGrpSpPr>
              <a:grpSpLocks noChangeAspect="1"/>
            </p:cNvGrpSpPr>
            <p:nvPr>
              <p:custDataLst>
                <p:tags r:id="rId34"/>
              </p:custDataLst>
            </p:nvPr>
          </p:nvGrpSpPr>
          <p:grpSpPr>
            <a:xfrm>
              <a:off x="7723680" y="3205716"/>
              <a:ext cx="228600" cy="228600"/>
              <a:chOff x="762000" y="1270000"/>
              <a:chExt cx="254000" cy="254000"/>
            </a:xfrm>
          </p:grpSpPr>
          <p:sp>
            <p:nvSpPr>
              <p:cNvPr id="159" name="Oval 158">
                <a:extLst>
                  <a:ext uri="{FF2B5EF4-FFF2-40B4-BE49-F238E27FC236}">
                    <a16:creationId xmlns:a16="http://schemas.microsoft.com/office/drawing/2014/main" id="{BE9440E9-0BAB-4509-A556-8A80E9683FAB}"/>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0" name="Arc 159">
                <a:extLst>
                  <a:ext uri="{FF2B5EF4-FFF2-40B4-BE49-F238E27FC236}">
                    <a16:creationId xmlns:a16="http://schemas.microsoft.com/office/drawing/2014/main" id="{CA6DB424-2E98-4F1D-87A4-EE09FA805687}"/>
                  </a:ext>
                </a:extLst>
              </p:cNvPr>
              <p:cNvSpPr/>
              <p:nvPr>
                <p:custDataLst>
                  <p:tags r:id="rId36"/>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367929" y="3301675"/>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182891062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Lst>
  <p:txStyles>
    <p:titleStyle>
      <a:lvl1pPr algn="l" defTabSz="914400" rtl="0" eaLnBrk="1" latinLnBrk="0" hangingPunct="1">
        <a:lnSpc>
          <a:spcPct val="100000"/>
        </a:lnSpc>
        <a:spcBef>
          <a:spcPct val="0"/>
        </a:spcBef>
        <a:buNone/>
        <a:defRPr sz="2500" b="1" kern="1200" spc="0" baseline="0">
          <a:ln w="6350" cap="flat">
            <a:noFill/>
            <a:miter lim="800000"/>
          </a:ln>
          <a:solidFill>
            <a:schemeClr val="bg2"/>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44">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9.png"/><Relationship Id="rId2" Type="http://schemas.openxmlformats.org/officeDocument/2006/relationships/slideLayout" Target="../slideLayouts/slideLayout15.xml"/><Relationship Id="rId1" Type="http://schemas.openxmlformats.org/officeDocument/2006/relationships/tags" Target="../tags/tag297.xml"/><Relationship Id="rId6" Type="http://schemas.openxmlformats.org/officeDocument/2006/relationships/image" Target="../media/image8.emf"/><Relationship Id="rId5" Type="http://schemas.openxmlformats.org/officeDocument/2006/relationships/oleObject" Target="../embeddings/oleObject13.bin"/><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3.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7FFFCF28_5FE722B1.xml"/><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chart" Target="../charts/chart2.xml"/><Relationship Id="rId4" Type="http://schemas.openxmlformats.org/officeDocument/2006/relationships/chart" Target="../charts/char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6.jpeg"/><Relationship Id="rId7" Type="http://schemas.openxmlformats.org/officeDocument/2006/relationships/image" Target="../media/image30.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 Id="rId9" Type="http://schemas.openxmlformats.org/officeDocument/2006/relationships/image" Target="../media/image32.jpeg"/></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l="-20000" r="-20000"/>
          </a:stretch>
        </a:blipFill>
        <a:effectLst/>
      </p:bgPr>
    </p:bg>
    <p:spTree>
      <p:nvGrpSpPr>
        <p:cNvPr id="1" name="Shape 183"/>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4EDA1D79-6266-FA82-C685-2E7463F42785}"/>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10" name="Object 9" hidden="1">
                        <a:extLst>
                          <a:ext uri="{FF2B5EF4-FFF2-40B4-BE49-F238E27FC236}">
                            <a16:creationId xmlns:a16="http://schemas.microsoft.com/office/drawing/2014/main" id="{4EDA1D79-6266-FA82-C685-2E7463F42785}"/>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85" name="Google Shape;185;p1"/>
          <p:cNvSpPr/>
          <p:nvPr/>
        </p:nvSpPr>
        <p:spPr>
          <a:xfrm>
            <a:off x="-2" y="4670853"/>
            <a:ext cx="12192001" cy="2216701"/>
          </a:xfrm>
          <a:prstGeom prst="rect">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61F32"/>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87" name="Google Shape;187;p1"/>
          <p:cNvSpPr txBox="1"/>
          <p:nvPr/>
        </p:nvSpPr>
        <p:spPr>
          <a:xfrm>
            <a:off x="478849" y="4786575"/>
            <a:ext cx="8754696" cy="2431394"/>
          </a:xfrm>
          <a:prstGeom prst="rect">
            <a:avLst/>
          </a:prstGeom>
          <a:noFill/>
          <a:ln>
            <a:noFill/>
          </a:ln>
        </p:spPr>
        <p:txBody>
          <a:bodyPr spcFirstLastPara="1" wrap="square" lIns="91425" tIns="45700" rIns="91425" bIns="45700" anchor="t" anchorCtr="0">
            <a:spAutoFit/>
          </a:bodyPr>
          <a:lstStyle/>
          <a:p>
            <a:pPr>
              <a:defRPr/>
            </a:pPr>
            <a:r>
              <a:rPr lang="en-US" sz="4400" b="1" kern="0" dirty="0">
                <a:solidFill>
                  <a:schemeClr val="bg1"/>
                </a:solidFill>
                <a:latin typeface="Georgia"/>
                <a:sym typeface="Georgia"/>
              </a:rPr>
              <a:t>Title</a:t>
            </a:r>
          </a:p>
          <a:p>
            <a:pPr>
              <a:defRPr/>
            </a:pPr>
            <a:endParaRPr lang="en-US" sz="2400" kern="0" dirty="0">
              <a:solidFill>
                <a:schemeClr val="bg1"/>
              </a:solidFill>
              <a:latin typeface="Arial"/>
              <a:cs typeface="Arial"/>
              <a:sym typeface="Georgia"/>
            </a:endParaRPr>
          </a:p>
          <a:p>
            <a:pPr>
              <a:defRPr/>
            </a:pPr>
            <a:r>
              <a:rPr lang="en-US" sz="2600" b="1" kern="0" dirty="0">
                <a:solidFill>
                  <a:schemeClr val="bg1"/>
                </a:solidFill>
                <a:latin typeface="Arial"/>
                <a:cs typeface="Arial"/>
                <a:sym typeface="Georgia"/>
              </a:rPr>
              <a:t>Case 2 A – Group 3</a:t>
            </a:r>
          </a:p>
          <a:p>
            <a:pPr>
              <a:defRPr/>
            </a:pPr>
            <a:r>
              <a:rPr lang="en-US" sz="2600" b="1" kern="0" dirty="0">
                <a:solidFill>
                  <a:schemeClr val="bg1"/>
                </a:solidFill>
                <a:latin typeface="Arial"/>
                <a:cs typeface="Arial"/>
              </a:rPr>
              <a:t>Financial Engineering</a:t>
            </a:r>
          </a:p>
          <a:p>
            <a:pPr>
              <a:defRPr/>
            </a:pPr>
            <a:endParaRPr lang="en-US" sz="3200" b="1" kern="0" dirty="0">
              <a:solidFill>
                <a:schemeClr val="bg1"/>
              </a:solidFill>
              <a:latin typeface="Arial"/>
              <a:cs typeface="Arial"/>
            </a:endParaRPr>
          </a:p>
        </p:txBody>
      </p:sp>
      <p:sp>
        <p:nvSpPr>
          <p:cNvPr id="4" name="Google Shape;185;p1">
            <a:extLst>
              <a:ext uri="{FF2B5EF4-FFF2-40B4-BE49-F238E27FC236}">
                <a16:creationId xmlns:a16="http://schemas.microsoft.com/office/drawing/2014/main" id="{66764A82-63E1-395A-F829-82115BADC905}"/>
              </a:ext>
            </a:extLst>
          </p:cNvPr>
          <p:cNvSpPr/>
          <p:nvPr/>
        </p:nvSpPr>
        <p:spPr>
          <a:xfrm rot="5400000">
            <a:off x="5612767" y="-5611231"/>
            <a:ext cx="975224" cy="12192769"/>
          </a:xfrm>
          <a:prstGeom prst="rect">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61F32"/>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6" name="Picture 5">
            <a:extLst>
              <a:ext uri="{FF2B5EF4-FFF2-40B4-BE49-F238E27FC236}">
                <a16:creationId xmlns:a16="http://schemas.microsoft.com/office/drawing/2014/main" id="{22EB317C-480B-0627-851A-767C20288838}"/>
              </a:ext>
            </a:extLst>
          </p:cNvPr>
          <p:cNvPicPr>
            <a:picLocks noChangeAspect="1"/>
          </p:cNvPicPr>
          <p:nvPr/>
        </p:nvPicPr>
        <p:blipFill>
          <a:blip r:embed="rId7"/>
          <a:stretch>
            <a:fillRect/>
          </a:stretch>
        </p:blipFill>
        <p:spPr>
          <a:xfrm>
            <a:off x="10028657" y="171655"/>
            <a:ext cx="1944415" cy="626996"/>
          </a:xfrm>
          <a:prstGeom prst="rect">
            <a:avLst/>
          </a:prstGeom>
        </p:spPr>
      </p:pic>
      <p:sp>
        <p:nvSpPr>
          <p:cNvPr id="2" name="TextBox 1">
            <a:extLst>
              <a:ext uri="{FF2B5EF4-FFF2-40B4-BE49-F238E27FC236}">
                <a16:creationId xmlns:a16="http://schemas.microsoft.com/office/drawing/2014/main" id="{6C977018-831D-3B09-A090-9DF7108BECF5}"/>
              </a:ext>
            </a:extLst>
          </p:cNvPr>
          <p:cNvSpPr txBox="1"/>
          <p:nvPr/>
        </p:nvSpPr>
        <p:spPr>
          <a:xfrm>
            <a:off x="478849" y="166665"/>
            <a:ext cx="3002254" cy="1036732"/>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de-DE" sz="2000" b="1">
              <a:solidFill>
                <a:schemeClr val="bg1"/>
              </a:solidFill>
            </a:endParaRPr>
          </a:p>
        </p:txBody>
      </p:sp>
    </p:spTree>
    <p:extLst>
      <p:ext uri="{BB962C8B-B14F-4D97-AF65-F5344CB8AC3E}">
        <p14:creationId xmlns:p14="http://schemas.microsoft.com/office/powerpoint/2010/main" val="2579588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
          <p:cNvSpPr txBox="1">
            <a:spLocks noGrp="1"/>
          </p:cNvSpPr>
          <p:nvPr>
            <p:ph type="title"/>
          </p:nvPr>
        </p:nvSpPr>
        <p:spPr>
          <a:xfrm>
            <a:off x="653624" y="325675"/>
            <a:ext cx="3128495" cy="81121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71616"/>
              </a:buClr>
              <a:buSzPts val="2500"/>
              <a:buFont typeface="Georgia"/>
              <a:buNone/>
            </a:pPr>
            <a:r>
              <a:rPr lang="en-US"/>
              <a:t>Presentation Roadmap</a:t>
            </a:r>
          </a:p>
        </p:txBody>
      </p:sp>
      <p:sp>
        <p:nvSpPr>
          <p:cNvPr id="194" name="Google Shape;194;p2"/>
          <p:cNvSpPr txBox="1">
            <a:spLocks noGrp="1"/>
          </p:cNvSpPr>
          <p:nvPr>
            <p:ph type="body" idx="1"/>
          </p:nvPr>
        </p:nvSpPr>
        <p:spPr>
          <a:xfrm>
            <a:off x="653624" y="1587811"/>
            <a:ext cx="4395039" cy="4446532"/>
          </a:xfrm>
          <a:prstGeom prst="rect">
            <a:avLst/>
          </a:prstGeom>
          <a:noFill/>
          <a:ln>
            <a:noFill/>
          </a:ln>
        </p:spPr>
        <p:txBody>
          <a:bodyPr spcFirstLastPara="1" wrap="square" lIns="91425" tIns="45700" rIns="91425" bIns="45700" anchor="t" anchorCtr="0">
            <a:normAutofit/>
          </a:bodyPr>
          <a:lstStyle/>
          <a:p>
            <a:pPr marL="342900" indent="-342900">
              <a:lnSpc>
                <a:spcPct val="100000"/>
              </a:lnSpc>
              <a:spcBef>
                <a:spcPts val="0"/>
              </a:spcBef>
              <a:spcAft>
                <a:spcPts val="1800"/>
              </a:spcAft>
              <a:buClr>
                <a:schemeClr val="tx1"/>
              </a:buClr>
              <a:buSzPts val="1500"/>
              <a:buFont typeface="Arial"/>
              <a:buAutoNum type="arabicPeriod"/>
            </a:pPr>
            <a:r>
              <a:rPr lang="en-US" sz="1700" dirty="0">
                <a:solidFill>
                  <a:schemeClr val="bg1"/>
                </a:solidFill>
                <a:cs typeface="Arial"/>
              </a:rPr>
              <a:t>Market Environment</a:t>
            </a:r>
          </a:p>
          <a:p>
            <a:pPr marL="342900" indent="-342900">
              <a:lnSpc>
                <a:spcPct val="100000"/>
              </a:lnSpc>
              <a:spcBef>
                <a:spcPts val="0"/>
              </a:spcBef>
              <a:spcAft>
                <a:spcPts val="1800"/>
              </a:spcAft>
              <a:buClr>
                <a:schemeClr val="tx1"/>
              </a:buClr>
              <a:buSzPts val="1500"/>
              <a:buAutoNum type="arabicPeriod"/>
            </a:pPr>
            <a:r>
              <a:rPr lang="en-US" sz="1700" dirty="0">
                <a:solidFill>
                  <a:schemeClr val="bg1"/>
                </a:solidFill>
                <a:cs typeface="Arial"/>
              </a:rPr>
              <a:t>Product 1  – What is Reverse Floater</a:t>
            </a:r>
          </a:p>
          <a:p>
            <a:pPr marL="342900" indent="-342900">
              <a:lnSpc>
                <a:spcPct val="100000"/>
              </a:lnSpc>
              <a:spcBef>
                <a:spcPts val="0"/>
              </a:spcBef>
              <a:spcAft>
                <a:spcPts val="1800"/>
              </a:spcAft>
              <a:buClr>
                <a:schemeClr val="tx1"/>
              </a:buClr>
              <a:buSzPts val="1500"/>
              <a:buAutoNum type="arabicPeriod"/>
            </a:pPr>
            <a:r>
              <a:rPr lang="en-US" sz="1700" dirty="0">
                <a:solidFill>
                  <a:schemeClr val="bg1"/>
                </a:solidFill>
                <a:cs typeface="Arial"/>
              </a:rPr>
              <a:t>Pricing</a:t>
            </a:r>
          </a:p>
          <a:p>
            <a:pPr marL="342900" indent="-342900">
              <a:lnSpc>
                <a:spcPct val="100000"/>
              </a:lnSpc>
              <a:spcBef>
                <a:spcPts val="0"/>
              </a:spcBef>
              <a:spcAft>
                <a:spcPts val="1800"/>
              </a:spcAft>
              <a:buClr>
                <a:schemeClr val="tx1"/>
              </a:buClr>
              <a:buSzPts val="1500"/>
              <a:buAutoNum type="arabicPeriod"/>
            </a:pPr>
            <a:r>
              <a:rPr lang="en-US" sz="1700" dirty="0">
                <a:solidFill>
                  <a:schemeClr val="bg1"/>
                </a:solidFill>
                <a:cs typeface="Arial"/>
              </a:rPr>
              <a:t>Scenario Analysis</a:t>
            </a:r>
            <a:endParaRPr lang="en-US" dirty="0">
              <a:solidFill>
                <a:schemeClr val="bg1"/>
              </a:solidFill>
            </a:endParaRPr>
          </a:p>
          <a:p>
            <a:pPr marL="342900" indent="-342900">
              <a:lnSpc>
                <a:spcPct val="100000"/>
              </a:lnSpc>
              <a:spcBef>
                <a:spcPts val="0"/>
              </a:spcBef>
              <a:spcAft>
                <a:spcPts val="1800"/>
              </a:spcAft>
              <a:buClr>
                <a:schemeClr val="tx1"/>
              </a:buClr>
              <a:buSzPts val="1500"/>
              <a:buFont typeface="Arial"/>
              <a:buAutoNum type="arabicPeriod"/>
            </a:pPr>
            <a:r>
              <a:rPr lang="en-US" sz="1700" dirty="0">
                <a:solidFill>
                  <a:schemeClr val="bg1"/>
                </a:solidFill>
                <a:cs typeface="Arial"/>
              </a:rPr>
              <a:t>Interest Rate Scenarios</a:t>
            </a:r>
          </a:p>
          <a:p>
            <a:pPr marL="342900" indent="-342900">
              <a:lnSpc>
                <a:spcPct val="100000"/>
              </a:lnSpc>
              <a:spcBef>
                <a:spcPts val="0"/>
              </a:spcBef>
              <a:spcAft>
                <a:spcPts val="1800"/>
              </a:spcAft>
              <a:buClr>
                <a:schemeClr val="tx1"/>
              </a:buClr>
              <a:buSzPts val="1500"/>
              <a:buFont typeface="Arial"/>
              <a:buAutoNum type="arabicPeriod"/>
            </a:pPr>
            <a:r>
              <a:rPr lang="en-US" sz="1700" dirty="0">
                <a:solidFill>
                  <a:schemeClr val="bg1"/>
                </a:solidFill>
                <a:cs typeface="Arial"/>
              </a:rPr>
              <a:t>Risk Analysis</a:t>
            </a:r>
          </a:p>
          <a:p>
            <a:pPr marL="342900" indent="-342900">
              <a:lnSpc>
                <a:spcPct val="100000"/>
              </a:lnSpc>
              <a:spcBef>
                <a:spcPts val="0"/>
              </a:spcBef>
              <a:spcAft>
                <a:spcPts val="1800"/>
              </a:spcAft>
              <a:buClr>
                <a:schemeClr val="tx1"/>
              </a:buClr>
              <a:buSzPts val="1500"/>
              <a:buFont typeface="Arial"/>
              <a:buAutoNum type="arabicPeriod"/>
            </a:pPr>
            <a:r>
              <a:rPr lang="en-US" sz="1700" dirty="0">
                <a:solidFill>
                  <a:schemeClr val="bg1"/>
                </a:solidFill>
                <a:cs typeface="Arial"/>
              </a:rPr>
              <a:t>Investor Profile and Use Cases</a:t>
            </a:r>
          </a:p>
          <a:p>
            <a:pPr marL="342900" indent="-342900">
              <a:lnSpc>
                <a:spcPct val="100000"/>
              </a:lnSpc>
              <a:spcBef>
                <a:spcPts val="0"/>
              </a:spcBef>
              <a:spcAft>
                <a:spcPts val="1800"/>
              </a:spcAft>
              <a:buClr>
                <a:schemeClr val="tx1"/>
              </a:buClr>
              <a:buSzPts val="1500"/>
              <a:buFont typeface="Arial"/>
              <a:buAutoNum type="arabicPeriod"/>
            </a:pPr>
            <a:r>
              <a:rPr lang="en-US" sz="1700" dirty="0">
                <a:solidFill>
                  <a:schemeClr val="bg1"/>
                </a:solidFill>
                <a:cs typeface="Arial"/>
              </a:rPr>
              <a:t>Key Selling Points</a:t>
            </a:r>
          </a:p>
          <a:p>
            <a:pPr marL="342900" indent="-342900">
              <a:lnSpc>
                <a:spcPct val="100000"/>
              </a:lnSpc>
              <a:spcBef>
                <a:spcPts val="0"/>
              </a:spcBef>
              <a:spcAft>
                <a:spcPts val="1800"/>
              </a:spcAft>
              <a:buClr>
                <a:srgbClr val="FFFFFF"/>
              </a:buClr>
              <a:buSzPts val="1500"/>
              <a:buAutoNum type="arabicPeriod"/>
            </a:pPr>
            <a:endParaRPr lang="en-US" dirty="0"/>
          </a:p>
        </p:txBody>
      </p:sp>
      <p:sp>
        <p:nvSpPr>
          <p:cNvPr id="195" name="Google Shape;195;p2"/>
          <p:cNvSpPr/>
          <p:nvPr/>
        </p:nvSpPr>
        <p:spPr>
          <a:xfrm>
            <a:off x="653624" y="1587811"/>
            <a:ext cx="324000" cy="324000"/>
          </a:xfrm>
          <a:prstGeom prst="ellipse">
            <a:avLst/>
          </a:prstGeom>
          <a:solidFill>
            <a:schemeClr val="bg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1</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96" name="Google Shape;196;p2"/>
          <p:cNvSpPr/>
          <p:nvPr/>
        </p:nvSpPr>
        <p:spPr>
          <a:xfrm>
            <a:off x="653624" y="2061753"/>
            <a:ext cx="324000" cy="324000"/>
          </a:xfrm>
          <a:prstGeom prst="ellipse">
            <a:avLst/>
          </a:prstGeom>
          <a:solidFill>
            <a:schemeClr val="bg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2</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97" name="Google Shape;197;p2"/>
          <p:cNvSpPr/>
          <p:nvPr/>
        </p:nvSpPr>
        <p:spPr>
          <a:xfrm>
            <a:off x="653624" y="2556741"/>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3</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98" name="Google Shape;198;p2"/>
          <p:cNvSpPr/>
          <p:nvPr/>
        </p:nvSpPr>
        <p:spPr>
          <a:xfrm>
            <a:off x="653624" y="3544723"/>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5</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99" name="Google Shape;199;p2"/>
          <p:cNvSpPr/>
          <p:nvPr/>
        </p:nvSpPr>
        <p:spPr>
          <a:xfrm>
            <a:off x="653624" y="4014301"/>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6</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0" name="Google Shape;199;p2">
            <a:extLst>
              <a:ext uri="{FF2B5EF4-FFF2-40B4-BE49-F238E27FC236}">
                <a16:creationId xmlns:a16="http://schemas.microsoft.com/office/drawing/2014/main" id="{ECC4DE19-3818-D141-BE24-765A9967FB50}"/>
              </a:ext>
            </a:extLst>
          </p:cNvPr>
          <p:cNvSpPr/>
          <p:nvPr/>
        </p:nvSpPr>
        <p:spPr>
          <a:xfrm>
            <a:off x="653624" y="4521979"/>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7</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5" name="Google Shape;197;p2">
            <a:extLst>
              <a:ext uri="{FF2B5EF4-FFF2-40B4-BE49-F238E27FC236}">
                <a16:creationId xmlns:a16="http://schemas.microsoft.com/office/drawing/2014/main" id="{3B199066-DED2-06B8-AA2C-B681A44E7A5B}"/>
              </a:ext>
            </a:extLst>
          </p:cNvPr>
          <p:cNvSpPr/>
          <p:nvPr/>
        </p:nvSpPr>
        <p:spPr>
          <a:xfrm>
            <a:off x="653624" y="3046627"/>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4</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6" name="TextBox 5">
            <a:extLst>
              <a:ext uri="{FF2B5EF4-FFF2-40B4-BE49-F238E27FC236}">
                <a16:creationId xmlns:a16="http://schemas.microsoft.com/office/drawing/2014/main" id="{CC629FEB-1BF2-6D37-BF0C-07FAD45FD215}"/>
              </a:ext>
            </a:extLst>
          </p:cNvPr>
          <p:cNvSpPr txBox="1"/>
          <p:nvPr/>
        </p:nvSpPr>
        <p:spPr>
          <a:xfrm>
            <a:off x="3150703" y="387653"/>
            <a:ext cx="8506206" cy="923330"/>
          </a:xfrm>
          <a:prstGeom prst="rect">
            <a:avLst/>
          </a:prstGeom>
          <a:noFill/>
          <a:ln w="6350">
            <a:noFill/>
            <a:miter lim="800000"/>
          </a:ln>
        </p:spPr>
        <p:txBody>
          <a:bodyPr wrap="square">
            <a:spAutoFit/>
          </a:bodyPr>
          <a:lstStyle/>
          <a:p>
            <a:pPr algn="just">
              <a:buNone/>
            </a:pPr>
            <a:r>
              <a:rPr lang="en-US" b="0" dirty="0">
                <a:solidFill>
                  <a:schemeClr val="bg1"/>
                </a:solidFill>
                <a:effectLst/>
              </a:rPr>
              <a:t>Our Goal</a:t>
            </a:r>
            <a:r>
              <a:rPr lang="en-US" dirty="0">
                <a:solidFill>
                  <a:schemeClr val="bg1"/>
                </a:solidFill>
              </a:rPr>
              <a:t> is to help you understand, </a:t>
            </a:r>
            <a:r>
              <a:rPr lang="en-US" b="0" i="1" dirty="0">
                <a:solidFill>
                  <a:schemeClr val="bg1"/>
                </a:solidFill>
                <a:effectLst/>
              </a:rPr>
              <a:t>"How much cash flow risk can we accept, how to identify it, and what's the price to hedge it?</a:t>
            </a:r>
            <a:br>
              <a:rPr lang="en-US" b="0" dirty="0">
                <a:solidFill>
                  <a:schemeClr val="bg1"/>
                </a:solidFill>
                <a:effectLst/>
              </a:rPr>
            </a:br>
            <a:endParaRPr lang="en-US" b="0" dirty="0">
              <a:solidFill>
                <a:schemeClr val="bg1"/>
              </a:solidFill>
              <a:effectLst/>
            </a:endParaRPr>
          </a:p>
        </p:txBody>
      </p:sp>
      <p:sp>
        <p:nvSpPr>
          <p:cNvPr id="2" name="Google Shape;199;p2">
            <a:extLst>
              <a:ext uri="{FF2B5EF4-FFF2-40B4-BE49-F238E27FC236}">
                <a16:creationId xmlns:a16="http://schemas.microsoft.com/office/drawing/2014/main" id="{6A4186C2-A3B5-8D5B-70DF-686D5E2CAF99}"/>
              </a:ext>
            </a:extLst>
          </p:cNvPr>
          <p:cNvSpPr/>
          <p:nvPr/>
        </p:nvSpPr>
        <p:spPr>
          <a:xfrm>
            <a:off x="653624" y="5029657"/>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solidFill>
                  <a:srgbClr val="FFFFFF"/>
                </a:solidFill>
                <a:latin typeface="Arial"/>
                <a:cs typeface="Arial"/>
                <a:sym typeface="Arial"/>
              </a:rPr>
              <a:t>8</a:t>
            </a:r>
            <a:endParaRPr kumimoji="0"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3" name="Google Shape;194;p2">
            <a:extLst>
              <a:ext uri="{FF2B5EF4-FFF2-40B4-BE49-F238E27FC236}">
                <a16:creationId xmlns:a16="http://schemas.microsoft.com/office/drawing/2014/main" id="{2E7B62A7-8EDC-06F9-8E27-465A1588CEEC}"/>
              </a:ext>
            </a:extLst>
          </p:cNvPr>
          <p:cNvSpPr txBox="1">
            <a:spLocks/>
          </p:cNvSpPr>
          <p:nvPr/>
        </p:nvSpPr>
        <p:spPr>
          <a:xfrm>
            <a:off x="5877557" y="1587811"/>
            <a:ext cx="4395039" cy="4446532"/>
          </a:xfrm>
          <a:prstGeom prst="rect">
            <a:avLst/>
          </a:prstGeom>
          <a:noFill/>
          <a:ln>
            <a:noFill/>
          </a:ln>
        </p:spPr>
        <p:txBody>
          <a:bodyPr spcFirstLastPara="1" vert="horz" wrap="square" lIns="91425" tIns="45700" rIns="91425" bIns="45700" rtlCol="0" anchor="t" anchorCtr="0">
            <a:normAutofit/>
          </a:bodyPr>
          <a:lstStyle>
            <a:lvl1pPr marL="457200" lvl="0" indent="-330200" algn="l" defTabSz="914400" rtl="0" eaLnBrk="1" latinLnBrk="0" hangingPunct="1">
              <a:lnSpc>
                <a:spcPct val="150000"/>
              </a:lnSpc>
              <a:spcBef>
                <a:spcPts val="1000"/>
              </a:spcBef>
              <a:spcAft>
                <a:spcPts val="0"/>
              </a:spcAft>
              <a:buClr>
                <a:srgbClr val="171616"/>
              </a:buClr>
              <a:buSzPts val="1600"/>
              <a:buFont typeface="Segoe UI" panose="020B0502040204020203" pitchFamily="34" charset="0"/>
              <a:buChar char="•"/>
              <a:defRPr sz="1600" b="0" kern="1200">
                <a:solidFill>
                  <a:srgbClr val="171616"/>
                </a:solidFill>
                <a:latin typeface="+mn-lt"/>
                <a:ea typeface="+mn-ea"/>
                <a:cs typeface="Arial" panose="020B0604020202020204" pitchFamily="34" charset="0"/>
              </a:defRPr>
            </a:lvl1pPr>
            <a:lvl2pPr marL="914400" lvl="1" indent="-330200" algn="l" defTabSz="914400" rtl="0" eaLnBrk="1" latinLnBrk="0" hangingPunct="1">
              <a:lnSpc>
                <a:spcPct val="150000"/>
              </a:lnSpc>
              <a:spcBef>
                <a:spcPts val="500"/>
              </a:spcBef>
              <a:spcAft>
                <a:spcPts val="0"/>
              </a:spcAft>
              <a:buClr>
                <a:srgbClr val="171616"/>
              </a:buClr>
              <a:buSzPts val="1600"/>
              <a:buFont typeface="Wingdings" panose="05000000000000000000" pitchFamily="2" charset="2"/>
              <a:buChar char="•"/>
              <a:defRPr sz="1600" b="0" kern="1200">
                <a:solidFill>
                  <a:srgbClr val="171616"/>
                </a:solidFill>
                <a:latin typeface="+mn-lt"/>
                <a:ea typeface="+mn-ea"/>
                <a:cs typeface="Arial" panose="020B0604020202020204" pitchFamily="34" charset="0"/>
              </a:defRPr>
            </a:lvl2pPr>
            <a:lvl3pPr marL="1371600" lvl="2" indent="-330200" algn="l" defTabSz="914400" rtl="0" eaLnBrk="1" latinLnBrk="0" hangingPunct="1">
              <a:lnSpc>
                <a:spcPct val="150000"/>
              </a:lnSpc>
              <a:spcBef>
                <a:spcPts val="500"/>
              </a:spcBef>
              <a:spcAft>
                <a:spcPts val="0"/>
              </a:spcAft>
              <a:buClr>
                <a:srgbClr val="171616"/>
              </a:buClr>
              <a:buSzPts val="1600"/>
              <a:buFont typeface="Arial" panose="020B0604020202020204" pitchFamily="34" charset="0"/>
              <a:buChar char="•"/>
              <a:defRPr sz="1600" b="0" kern="1200">
                <a:solidFill>
                  <a:srgbClr val="171616"/>
                </a:solidFill>
                <a:latin typeface="+mn-lt"/>
                <a:ea typeface="+mn-ea"/>
                <a:cs typeface="Arial" panose="020B0604020202020204" pitchFamily="34" charset="0"/>
              </a:defRPr>
            </a:lvl3pPr>
            <a:lvl4pPr marL="1828800" lvl="3" indent="-330200" algn="l" defTabSz="914400" rtl="0" eaLnBrk="1" latinLnBrk="0" hangingPunct="1">
              <a:lnSpc>
                <a:spcPct val="150000"/>
              </a:lnSpc>
              <a:spcBef>
                <a:spcPts val="500"/>
              </a:spcBef>
              <a:spcAft>
                <a:spcPts val="0"/>
              </a:spcAft>
              <a:buClr>
                <a:srgbClr val="171616"/>
              </a:buClr>
              <a:buSzPts val="1600"/>
              <a:buFont typeface="Arial" panose="020B0604020202020204" pitchFamily="34" charset="0"/>
              <a:buChar char="•"/>
              <a:defRPr sz="1600" b="0" kern="1200">
                <a:solidFill>
                  <a:srgbClr val="171616"/>
                </a:solidFill>
                <a:latin typeface="+mn-lt"/>
                <a:ea typeface="+mn-ea"/>
                <a:cs typeface="Arial" panose="020B0604020202020204" pitchFamily="34" charset="0"/>
              </a:defRPr>
            </a:lvl4pPr>
            <a:lvl5pPr marL="2286000" lvl="4" indent="-330200" algn="l" defTabSz="914400" rtl="0" eaLnBrk="1" latinLnBrk="0" hangingPunct="1">
              <a:lnSpc>
                <a:spcPct val="150000"/>
              </a:lnSpc>
              <a:spcBef>
                <a:spcPts val="500"/>
              </a:spcBef>
              <a:spcAft>
                <a:spcPts val="0"/>
              </a:spcAft>
              <a:buClr>
                <a:srgbClr val="171616"/>
              </a:buClr>
              <a:buSzPts val="1600"/>
              <a:buFont typeface="Arial" panose="020B0604020202020204" pitchFamily="34" charset="0"/>
              <a:buChar char="•"/>
              <a:defRPr sz="1600" b="0" kern="1200">
                <a:solidFill>
                  <a:srgbClr val="171616"/>
                </a:solidFill>
                <a:latin typeface="+mn-lt"/>
                <a:ea typeface="+mn-ea"/>
                <a:cs typeface="Arial" panose="020B0604020202020204" pitchFamily="34" charset="0"/>
              </a:defRPr>
            </a:lvl5pPr>
            <a:lvl6pPr marL="2743200" lvl="5"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3200400" lvl="6"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3657600" lvl="7"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4114800" lvl="8"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342900" indent="-342900">
              <a:lnSpc>
                <a:spcPct val="100000"/>
              </a:lnSpc>
              <a:spcBef>
                <a:spcPts val="0"/>
              </a:spcBef>
              <a:spcAft>
                <a:spcPts val="1800"/>
              </a:spcAft>
              <a:buClr>
                <a:schemeClr val="tx1"/>
              </a:buClr>
              <a:buSzPts val="1500"/>
              <a:buFont typeface="Arial"/>
              <a:buAutoNum type="arabicPeriod"/>
            </a:pPr>
            <a:r>
              <a:rPr lang="en-US" sz="1700" dirty="0">
                <a:solidFill>
                  <a:schemeClr val="bg1"/>
                </a:solidFill>
                <a:cs typeface="Arial"/>
              </a:rPr>
              <a:t>Market Environment</a:t>
            </a:r>
          </a:p>
          <a:p>
            <a:pPr marL="342900" indent="-342900">
              <a:lnSpc>
                <a:spcPct val="100000"/>
              </a:lnSpc>
              <a:spcBef>
                <a:spcPts val="0"/>
              </a:spcBef>
              <a:spcAft>
                <a:spcPts val="1800"/>
              </a:spcAft>
              <a:buClr>
                <a:schemeClr val="tx1"/>
              </a:buClr>
              <a:buSzPts val="1500"/>
              <a:buFont typeface="Segoe UI" panose="020B0502040204020203" pitchFamily="34" charset="0"/>
              <a:buAutoNum type="arabicPeriod"/>
            </a:pPr>
            <a:r>
              <a:rPr lang="en-US" sz="1700" dirty="0">
                <a:solidFill>
                  <a:schemeClr val="bg1"/>
                </a:solidFill>
                <a:cs typeface="Arial"/>
              </a:rPr>
              <a:t>Product 1  – What is Reverse Floater</a:t>
            </a:r>
          </a:p>
          <a:p>
            <a:pPr marL="342900" indent="-342900">
              <a:lnSpc>
                <a:spcPct val="100000"/>
              </a:lnSpc>
              <a:spcBef>
                <a:spcPts val="0"/>
              </a:spcBef>
              <a:spcAft>
                <a:spcPts val="1800"/>
              </a:spcAft>
              <a:buClr>
                <a:schemeClr val="tx1"/>
              </a:buClr>
              <a:buSzPts val="1500"/>
              <a:buFont typeface="Segoe UI" panose="020B0502040204020203" pitchFamily="34" charset="0"/>
              <a:buAutoNum type="arabicPeriod"/>
            </a:pPr>
            <a:r>
              <a:rPr lang="en-US" sz="1700" dirty="0">
                <a:solidFill>
                  <a:schemeClr val="bg1"/>
                </a:solidFill>
                <a:cs typeface="Arial"/>
              </a:rPr>
              <a:t>Pricing</a:t>
            </a:r>
          </a:p>
          <a:p>
            <a:pPr marL="342900" indent="-342900">
              <a:lnSpc>
                <a:spcPct val="100000"/>
              </a:lnSpc>
              <a:spcBef>
                <a:spcPts val="0"/>
              </a:spcBef>
              <a:spcAft>
                <a:spcPts val="1800"/>
              </a:spcAft>
              <a:buClr>
                <a:schemeClr val="tx1"/>
              </a:buClr>
              <a:buSzPts val="1500"/>
              <a:buFont typeface="Segoe UI" panose="020B0502040204020203" pitchFamily="34" charset="0"/>
              <a:buAutoNum type="arabicPeriod"/>
            </a:pPr>
            <a:r>
              <a:rPr lang="en-US" sz="1700" dirty="0">
                <a:solidFill>
                  <a:schemeClr val="bg1"/>
                </a:solidFill>
                <a:cs typeface="Arial"/>
              </a:rPr>
              <a:t>Scenario Analysis</a:t>
            </a:r>
            <a:endParaRPr lang="en-US" dirty="0">
              <a:solidFill>
                <a:schemeClr val="bg1"/>
              </a:solidFill>
            </a:endParaRPr>
          </a:p>
          <a:p>
            <a:pPr marL="342900" indent="-342900">
              <a:lnSpc>
                <a:spcPct val="100000"/>
              </a:lnSpc>
              <a:spcBef>
                <a:spcPts val="0"/>
              </a:spcBef>
              <a:spcAft>
                <a:spcPts val="1800"/>
              </a:spcAft>
              <a:buClr>
                <a:schemeClr val="tx1"/>
              </a:buClr>
              <a:buSzPts val="1500"/>
              <a:buFont typeface="Arial"/>
              <a:buAutoNum type="arabicPeriod"/>
            </a:pPr>
            <a:r>
              <a:rPr lang="en-US" sz="1700" dirty="0">
                <a:solidFill>
                  <a:schemeClr val="bg1"/>
                </a:solidFill>
                <a:cs typeface="Arial"/>
              </a:rPr>
              <a:t>Interest Rate Scenarios</a:t>
            </a:r>
          </a:p>
          <a:p>
            <a:pPr marL="342900" indent="-342900">
              <a:lnSpc>
                <a:spcPct val="100000"/>
              </a:lnSpc>
              <a:spcBef>
                <a:spcPts val="0"/>
              </a:spcBef>
              <a:spcAft>
                <a:spcPts val="1800"/>
              </a:spcAft>
              <a:buClr>
                <a:schemeClr val="tx1"/>
              </a:buClr>
              <a:buSzPts val="1500"/>
              <a:buFont typeface="Arial"/>
              <a:buAutoNum type="arabicPeriod"/>
            </a:pPr>
            <a:r>
              <a:rPr lang="en-US" sz="1700" dirty="0">
                <a:solidFill>
                  <a:schemeClr val="bg1"/>
                </a:solidFill>
                <a:cs typeface="Arial"/>
              </a:rPr>
              <a:t>Risk Analysis</a:t>
            </a:r>
          </a:p>
          <a:p>
            <a:pPr marL="342900" indent="-342900">
              <a:lnSpc>
                <a:spcPct val="100000"/>
              </a:lnSpc>
              <a:spcBef>
                <a:spcPts val="0"/>
              </a:spcBef>
              <a:spcAft>
                <a:spcPts val="1800"/>
              </a:spcAft>
              <a:buClr>
                <a:schemeClr val="tx1"/>
              </a:buClr>
              <a:buSzPts val="1500"/>
              <a:buFont typeface="Arial"/>
              <a:buAutoNum type="arabicPeriod"/>
            </a:pPr>
            <a:r>
              <a:rPr lang="en-US" sz="1700" dirty="0">
                <a:solidFill>
                  <a:schemeClr val="bg1"/>
                </a:solidFill>
                <a:cs typeface="Arial"/>
              </a:rPr>
              <a:t>Investor Profile and Use Cases</a:t>
            </a:r>
          </a:p>
          <a:p>
            <a:pPr marL="342900" indent="-342900">
              <a:lnSpc>
                <a:spcPct val="100000"/>
              </a:lnSpc>
              <a:spcBef>
                <a:spcPts val="0"/>
              </a:spcBef>
              <a:spcAft>
                <a:spcPts val="1800"/>
              </a:spcAft>
              <a:buClr>
                <a:schemeClr val="tx1"/>
              </a:buClr>
              <a:buSzPts val="1500"/>
              <a:buFont typeface="Arial"/>
              <a:buAutoNum type="arabicPeriod"/>
            </a:pPr>
            <a:r>
              <a:rPr lang="en-US" sz="1700" dirty="0">
                <a:solidFill>
                  <a:schemeClr val="bg1"/>
                </a:solidFill>
                <a:cs typeface="Arial"/>
              </a:rPr>
              <a:t>Key Selling Points</a:t>
            </a:r>
          </a:p>
          <a:p>
            <a:pPr marL="342900" indent="-342900">
              <a:lnSpc>
                <a:spcPct val="100000"/>
              </a:lnSpc>
              <a:spcBef>
                <a:spcPts val="0"/>
              </a:spcBef>
              <a:spcAft>
                <a:spcPts val="1800"/>
              </a:spcAft>
              <a:buClr>
                <a:srgbClr val="FFFFFF"/>
              </a:buClr>
              <a:buSzPts val="1500"/>
              <a:buFont typeface="Segoe UI" panose="020B0502040204020203" pitchFamily="34" charset="0"/>
              <a:buAutoNum type="arabicPeriod"/>
            </a:pPr>
            <a:endParaRPr lang="en-US" dirty="0"/>
          </a:p>
        </p:txBody>
      </p:sp>
      <p:sp>
        <p:nvSpPr>
          <p:cNvPr id="4" name="Google Shape;195;p2">
            <a:extLst>
              <a:ext uri="{FF2B5EF4-FFF2-40B4-BE49-F238E27FC236}">
                <a16:creationId xmlns:a16="http://schemas.microsoft.com/office/drawing/2014/main" id="{53C194F8-0AED-84EA-3231-46748418DBB9}"/>
              </a:ext>
            </a:extLst>
          </p:cNvPr>
          <p:cNvSpPr/>
          <p:nvPr/>
        </p:nvSpPr>
        <p:spPr>
          <a:xfrm>
            <a:off x="5715557" y="1587811"/>
            <a:ext cx="324000" cy="324000"/>
          </a:xfrm>
          <a:prstGeom prst="ellipse">
            <a:avLst/>
          </a:prstGeom>
          <a:solidFill>
            <a:schemeClr val="bg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1</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7" name="Google Shape;196;p2">
            <a:extLst>
              <a:ext uri="{FF2B5EF4-FFF2-40B4-BE49-F238E27FC236}">
                <a16:creationId xmlns:a16="http://schemas.microsoft.com/office/drawing/2014/main" id="{0CE715A1-0A8F-A779-4179-266ED6611F92}"/>
              </a:ext>
            </a:extLst>
          </p:cNvPr>
          <p:cNvSpPr/>
          <p:nvPr/>
        </p:nvSpPr>
        <p:spPr>
          <a:xfrm>
            <a:off x="5715557" y="2061753"/>
            <a:ext cx="324000" cy="324000"/>
          </a:xfrm>
          <a:prstGeom prst="ellipse">
            <a:avLst/>
          </a:prstGeom>
          <a:solidFill>
            <a:schemeClr val="bg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2</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8" name="Google Shape;197;p2">
            <a:extLst>
              <a:ext uri="{FF2B5EF4-FFF2-40B4-BE49-F238E27FC236}">
                <a16:creationId xmlns:a16="http://schemas.microsoft.com/office/drawing/2014/main" id="{5C0BB778-6480-2EBB-8AB1-DA4D7424D623}"/>
              </a:ext>
            </a:extLst>
          </p:cNvPr>
          <p:cNvSpPr/>
          <p:nvPr/>
        </p:nvSpPr>
        <p:spPr>
          <a:xfrm>
            <a:off x="5715557" y="2556741"/>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3</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9" name="Google Shape;198;p2">
            <a:extLst>
              <a:ext uri="{FF2B5EF4-FFF2-40B4-BE49-F238E27FC236}">
                <a16:creationId xmlns:a16="http://schemas.microsoft.com/office/drawing/2014/main" id="{5BDEAD1E-E8F3-D8E0-31ED-D6AAF06A9891}"/>
              </a:ext>
            </a:extLst>
          </p:cNvPr>
          <p:cNvSpPr/>
          <p:nvPr/>
        </p:nvSpPr>
        <p:spPr>
          <a:xfrm>
            <a:off x="5715557" y="3544723"/>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5</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1" name="Google Shape;199;p2">
            <a:extLst>
              <a:ext uri="{FF2B5EF4-FFF2-40B4-BE49-F238E27FC236}">
                <a16:creationId xmlns:a16="http://schemas.microsoft.com/office/drawing/2014/main" id="{A72BC2B8-D447-A4ED-095E-0ACD575A2324}"/>
              </a:ext>
            </a:extLst>
          </p:cNvPr>
          <p:cNvSpPr/>
          <p:nvPr/>
        </p:nvSpPr>
        <p:spPr>
          <a:xfrm>
            <a:off x="5715557" y="4014301"/>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6</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Google Shape;199;p2">
            <a:extLst>
              <a:ext uri="{FF2B5EF4-FFF2-40B4-BE49-F238E27FC236}">
                <a16:creationId xmlns:a16="http://schemas.microsoft.com/office/drawing/2014/main" id="{8B3DDEEF-5616-1541-4C2E-33DF2AF4E2AC}"/>
              </a:ext>
            </a:extLst>
          </p:cNvPr>
          <p:cNvSpPr/>
          <p:nvPr/>
        </p:nvSpPr>
        <p:spPr>
          <a:xfrm>
            <a:off x="5715557" y="4521979"/>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7</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3" name="Google Shape;197;p2">
            <a:extLst>
              <a:ext uri="{FF2B5EF4-FFF2-40B4-BE49-F238E27FC236}">
                <a16:creationId xmlns:a16="http://schemas.microsoft.com/office/drawing/2014/main" id="{19453132-2E83-6D2D-3D88-4817788A8E36}"/>
              </a:ext>
            </a:extLst>
          </p:cNvPr>
          <p:cNvSpPr/>
          <p:nvPr/>
        </p:nvSpPr>
        <p:spPr>
          <a:xfrm>
            <a:off x="5715557" y="3046627"/>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4</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4" name="Google Shape;199;p2">
            <a:extLst>
              <a:ext uri="{FF2B5EF4-FFF2-40B4-BE49-F238E27FC236}">
                <a16:creationId xmlns:a16="http://schemas.microsoft.com/office/drawing/2014/main" id="{07BC4D9F-E40F-FA90-99E6-682481CBB2C1}"/>
              </a:ext>
            </a:extLst>
          </p:cNvPr>
          <p:cNvSpPr/>
          <p:nvPr/>
        </p:nvSpPr>
        <p:spPr>
          <a:xfrm>
            <a:off x="5715557" y="5029657"/>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solidFill>
                  <a:srgbClr val="FFFFFF"/>
                </a:solidFill>
                <a:latin typeface="Arial"/>
                <a:cs typeface="Arial"/>
                <a:sym typeface="Arial"/>
              </a:rPr>
              <a:t>8</a:t>
            </a:r>
            <a:endParaRPr kumimoji="0" sz="18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643194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7160-F115-DE5F-8F29-4D9B6BAED357}"/>
              </a:ext>
            </a:extLst>
          </p:cNvPr>
          <p:cNvSpPr>
            <a:spLocks noGrp="1"/>
          </p:cNvSpPr>
          <p:nvPr>
            <p:ph type="title"/>
          </p:nvPr>
        </p:nvSpPr>
        <p:spPr/>
        <p:txBody>
          <a:bodyPr/>
          <a:lstStyle/>
          <a:p>
            <a:r>
              <a:rPr lang="en-US"/>
              <a:t>The Challenge</a:t>
            </a:r>
          </a:p>
        </p:txBody>
      </p:sp>
      <p:sp>
        <p:nvSpPr>
          <p:cNvPr id="5" name="Text Placeholder 5">
            <a:extLst>
              <a:ext uri="{FF2B5EF4-FFF2-40B4-BE49-F238E27FC236}">
                <a16:creationId xmlns:a16="http://schemas.microsoft.com/office/drawing/2014/main" id="{A151E2E0-6437-BF34-25B2-9758B83504B6}"/>
              </a:ext>
            </a:extLst>
          </p:cNvPr>
          <p:cNvSpPr txBox="1">
            <a:spLocks/>
          </p:cNvSpPr>
          <p:nvPr/>
        </p:nvSpPr>
        <p:spPr>
          <a:xfrm>
            <a:off x="554736" y="1520827"/>
            <a:ext cx="11321952" cy="3436553"/>
          </a:xfrm>
          <a:prstGeom prst="rect">
            <a:avLst/>
          </a:prstGeom>
          <a:solidFill>
            <a:schemeClr val="tx1"/>
          </a:solidFill>
        </p:spPr>
        <p:txBody>
          <a:bodyPr vert="horz" lIns="0" tIns="0" rIns="0" bIns="0" rtlCol="0" anchor="t">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buNone/>
            </a:pPr>
            <a:r>
              <a:rPr lang="en-US" sz="2000">
                <a:ea typeface="+mn-lt"/>
                <a:cs typeface="+mn-lt"/>
              </a:rPr>
              <a:t>With rates more volatile than at any time in the past decade, treasurers face multiple challenges including refinancing at uncertain costs, absorbing higher floating debt expenses, and navigating unpredictable reinvestment opportunities.</a:t>
            </a:r>
            <a:endParaRPr lang="en-US" sz="2000">
              <a:solidFill>
                <a:srgbClr val="061F32"/>
              </a:solidFill>
              <a:ea typeface="+mn-lt"/>
            </a:endParaRPr>
          </a:p>
          <a:p>
            <a:pPr>
              <a:buNone/>
            </a:pPr>
            <a:br>
              <a:rPr lang="en-US" sz="2000" dirty="0">
                <a:ea typeface="+mn-lt"/>
                <a:cs typeface="+mn-lt"/>
              </a:rPr>
            </a:br>
            <a:r>
              <a:rPr lang="en-US" sz="2000" dirty="0">
                <a:solidFill>
                  <a:srgbClr val="000000"/>
                </a:solidFill>
                <a:ea typeface="+mn-lt"/>
                <a:cs typeface="Arial"/>
              </a:rPr>
              <a:t>These challenges can be categorized into</a:t>
            </a:r>
            <a:endParaRPr lang="en-US" sz="2000" dirty="0">
              <a:solidFill>
                <a:srgbClr val="061F32"/>
              </a:solidFill>
              <a:ea typeface="+mn-lt"/>
            </a:endParaRPr>
          </a:p>
          <a:p>
            <a:pPr marL="631825" lvl="1" indent="-342900">
              <a:buFont typeface="Arial" panose="020B0502040204020203" pitchFamily="34" charset="0"/>
              <a:buChar char="•"/>
            </a:pPr>
            <a:r>
              <a:rPr lang="en-US" sz="2000" b="1" dirty="0">
                <a:solidFill>
                  <a:srgbClr val="000000"/>
                </a:solidFill>
                <a:ea typeface="+mn-lt"/>
                <a:cs typeface="+mn-lt"/>
              </a:rPr>
              <a:t>Uncertainty:  </a:t>
            </a:r>
            <a:r>
              <a:rPr lang="en-US" sz="2000" dirty="0">
                <a:solidFill>
                  <a:srgbClr val="000000"/>
                </a:solidFill>
                <a:ea typeface="+mn-lt"/>
                <a:cs typeface="+mn-lt"/>
              </a:rPr>
              <a:t>Rate environment is more volatile than the past decade.</a:t>
            </a:r>
            <a:endParaRPr lang="en-US" sz="2000" dirty="0">
              <a:solidFill>
                <a:srgbClr val="000000"/>
              </a:solidFill>
              <a:ea typeface="+mn-lt"/>
            </a:endParaRPr>
          </a:p>
          <a:p>
            <a:pPr marL="631825" lvl="1" indent="-342900">
              <a:buFont typeface="Arial" panose="020B0502040204020203" pitchFamily="34" charset="0"/>
              <a:buChar char="•"/>
            </a:pPr>
            <a:r>
              <a:rPr lang="en-US" sz="2000" b="1" dirty="0">
                <a:solidFill>
                  <a:srgbClr val="000000"/>
                </a:solidFill>
                <a:ea typeface="+mn-lt"/>
                <a:cs typeface="+mn-lt"/>
              </a:rPr>
              <a:t>Complexity: </a:t>
            </a:r>
            <a:r>
              <a:rPr lang="en-US" sz="2000" dirty="0">
                <a:solidFill>
                  <a:srgbClr val="000000"/>
                </a:solidFill>
                <a:ea typeface="+mn-lt"/>
                <a:cs typeface="+mn-lt"/>
              </a:rPr>
              <a:t>Multiple exposures across different time horizons.</a:t>
            </a:r>
            <a:endParaRPr lang="en-US" sz="2000" dirty="0">
              <a:solidFill>
                <a:srgbClr val="000000"/>
              </a:solidFill>
              <a:ea typeface="+mn-lt"/>
            </a:endParaRPr>
          </a:p>
          <a:p>
            <a:pPr marL="631825" lvl="1" indent="-342900">
              <a:buFont typeface="Arial" panose="020B0502040204020203" pitchFamily="34" charset="0"/>
              <a:buChar char="•"/>
            </a:pPr>
            <a:r>
              <a:rPr lang="en-US" sz="2000" b="1" dirty="0">
                <a:solidFill>
                  <a:srgbClr val="000000"/>
                </a:solidFill>
                <a:ea typeface="+mn-lt"/>
                <a:cs typeface="+mn-lt"/>
              </a:rPr>
              <a:t>Planning: </a:t>
            </a:r>
            <a:r>
              <a:rPr lang="en-US" sz="2000" dirty="0">
                <a:solidFill>
                  <a:srgbClr val="000000"/>
                </a:solidFill>
                <a:ea typeface="+mn-lt"/>
                <a:cs typeface="+mn-lt"/>
              </a:rPr>
              <a:t>Budget cycles need probabilistic risk assessment.</a:t>
            </a:r>
            <a:endParaRPr lang="en-US" sz="2000" dirty="0">
              <a:solidFill>
                <a:srgbClr val="000000"/>
              </a:solidFill>
              <a:ea typeface="+mn-lt"/>
            </a:endParaRPr>
          </a:p>
          <a:p>
            <a:pPr marL="631825" lvl="1" indent="-342900">
              <a:buFont typeface="Arial" panose="020B0502040204020203" pitchFamily="34" charset="0"/>
              <a:buChar char="•"/>
            </a:pPr>
            <a:r>
              <a:rPr lang="en-US" sz="2000" b="1" dirty="0">
                <a:solidFill>
                  <a:srgbClr val="000000"/>
                </a:solidFill>
                <a:ea typeface="+mn-lt"/>
                <a:cs typeface="+mn-lt"/>
              </a:rPr>
              <a:t>Stakeholders: </a:t>
            </a:r>
            <a:r>
              <a:rPr lang="en-US" sz="2000" dirty="0">
                <a:solidFill>
                  <a:srgbClr val="000000"/>
                </a:solidFill>
                <a:ea typeface="+mn-lt"/>
                <a:cs typeface="+mn-lt"/>
              </a:rPr>
              <a:t>CFO &amp; board demand clear, forward-looking communication.</a:t>
            </a:r>
            <a:endParaRPr lang="en-US" sz="2000" dirty="0"/>
          </a:p>
          <a:p>
            <a:pPr>
              <a:buNone/>
            </a:pPr>
            <a:endParaRPr lang="en-US" sz="2000" dirty="0">
              <a:solidFill>
                <a:srgbClr val="000000"/>
              </a:solidFill>
              <a:latin typeface="Arial"/>
              <a:ea typeface="Consolas"/>
              <a:cs typeface="Arial"/>
            </a:endParaRPr>
          </a:p>
          <a:p>
            <a:pPr>
              <a:buFont typeface="Arial" panose="020B0502040204020203" pitchFamily="34" charset="0"/>
              <a:buChar char="•"/>
            </a:pPr>
            <a:endParaRPr lang="en-US" sz="2000" dirty="0">
              <a:solidFill>
                <a:schemeClr val="bg1"/>
              </a:solidFill>
              <a:latin typeface="Arial"/>
            </a:endParaRPr>
          </a:p>
        </p:txBody>
      </p:sp>
    </p:spTree>
    <p:extLst>
      <p:ext uri="{BB962C8B-B14F-4D97-AF65-F5344CB8AC3E}">
        <p14:creationId xmlns:p14="http://schemas.microsoft.com/office/powerpoint/2010/main" val="3926404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0E6BF-B450-AD54-1BA3-7E2CE704B67C}"/>
              </a:ext>
            </a:extLst>
          </p:cNvPr>
          <p:cNvSpPr>
            <a:spLocks noGrp="1"/>
          </p:cNvSpPr>
          <p:nvPr>
            <p:ph type="title"/>
          </p:nvPr>
        </p:nvSpPr>
        <p:spPr/>
        <p:txBody>
          <a:bodyPr/>
          <a:lstStyle/>
          <a:p>
            <a:r>
              <a:rPr lang="en-US">
                <a:ea typeface="+mj-lt"/>
                <a:cs typeface="+mj-lt"/>
              </a:rPr>
              <a:t>Where does cash flow volatility come from?</a:t>
            </a:r>
            <a:endParaRPr lang="en-US"/>
          </a:p>
        </p:txBody>
      </p:sp>
      <p:sp>
        <p:nvSpPr>
          <p:cNvPr id="3" name="Subtitle 2">
            <a:extLst>
              <a:ext uri="{FF2B5EF4-FFF2-40B4-BE49-F238E27FC236}">
                <a16:creationId xmlns:a16="http://schemas.microsoft.com/office/drawing/2014/main" id="{3C664C31-644B-1F2D-1887-337202D15C85}"/>
              </a:ext>
            </a:extLst>
          </p:cNvPr>
          <p:cNvSpPr>
            <a:spLocks noGrp="1"/>
          </p:cNvSpPr>
          <p:nvPr>
            <p:ph type="subTitle" idx="1"/>
          </p:nvPr>
        </p:nvSpPr>
        <p:spPr>
          <a:xfrm>
            <a:off x="554736" y="1472647"/>
            <a:ext cx="11082528" cy="1871436"/>
          </a:xfrm>
        </p:spPr>
        <p:txBody>
          <a:bodyPr vert="horz" wrap="square" lIns="0" tIns="0" rIns="0" bIns="0" rtlCol="0" anchor="t">
            <a:noAutofit/>
          </a:bodyPr>
          <a:lstStyle/>
          <a:p>
            <a:pPr marL="285750" indent="-285750">
              <a:buFont typeface="Arial"/>
              <a:buChar char="•"/>
            </a:pPr>
            <a:r>
              <a:rPr lang="en-US" b="1">
                <a:ea typeface="+mn-lt"/>
                <a:cs typeface="+mn-lt"/>
              </a:rPr>
              <a:t>Revenue</a:t>
            </a:r>
            <a:r>
              <a:rPr lang="en-US">
                <a:ea typeface="+mn-lt"/>
                <a:cs typeface="+mn-lt"/>
              </a:rPr>
              <a:t> → FX exposure, demand risk, commodity-linked sales, </a:t>
            </a:r>
          </a:p>
          <a:p>
            <a:pPr marL="285750" indent="-285750">
              <a:buFont typeface="Arial"/>
              <a:buChar char="•"/>
            </a:pPr>
            <a:r>
              <a:rPr lang="en-US" b="1">
                <a:ea typeface="+mn-lt"/>
                <a:cs typeface="+mn-lt"/>
              </a:rPr>
              <a:t>Operating Expenses</a:t>
            </a:r>
            <a:r>
              <a:rPr lang="en-US">
                <a:ea typeface="+mn-lt"/>
                <a:cs typeface="+mn-lt"/>
              </a:rPr>
              <a:t> → energy/raw material price volatility</a:t>
            </a:r>
            <a:endParaRPr lang="en-US">
              <a:ea typeface="+mn-lt"/>
            </a:endParaRPr>
          </a:p>
          <a:p>
            <a:pPr marL="285750" indent="-285750">
              <a:buFont typeface="Arial"/>
              <a:buChar char="•"/>
            </a:pPr>
            <a:r>
              <a:rPr lang="en-US" b="1">
                <a:ea typeface="+mn-lt"/>
                <a:cs typeface="+mn-lt"/>
              </a:rPr>
              <a:t>Assets</a:t>
            </a:r>
            <a:r>
              <a:rPr lang="en-US">
                <a:ea typeface="+mn-lt"/>
                <a:cs typeface="+mn-lt"/>
              </a:rPr>
              <a:t> → cash (reinvestment risk), fixed bonds (market value risk), customer payment terms</a:t>
            </a:r>
            <a:endParaRPr lang="en-US"/>
          </a:p>
          <a:p>
            <a:pPr marL="285750" indent="-285750">
              <a:buFont typeface="Arial"/>
              <a:buChar char="•"/>
            </a:pPr>
            <a:r>
              <a:rPr lang="en-US" b="1">
                <a:ea typeface="+mn-lt"/>
                <a:cs typeface="+mn-lt"/>
              </a:rPr>
              <a:t>Liabilities</a:t>
            </a:r>
            <a:r>
              <a:rPr lang="en-US">
                <a:ea typeface="+mn-lt"/>
                <a:cs typeface="+mn-lt"/>
              </a:rPr>
              <a:t> → floating-rate debt (Interest rate exposure), fixed-rate debt (refinancing risk), supplier payment terms</a:t>
            </a:r>
            <a:endParaRPr lang="en-US"/>
          </a:p>
        </p:txBody>
      </p:sp>
      <p:pic>
        <p:nvPicPr>
          <p:cNvPr id="7" name="Picture 6">
            <a:extLst>
              <a:ext uri="{FF2B5EF4-FFF2-40B4-BE49-F238E27FC236}">
                <a16:creationId xmlns:a16="http://schemas.microsoft.com/office/drawing/2014/main" id="{BB423FD4-49ED-B7E1-C7D3-3807C0BAED3F}"/>
              </a:ext>
            </a:extLst>
          </p:cNvPr>
          <p:cNvPicPr>
            <a:picLocks noChangeAspect="1"/>
          </p:cNvPicPr>
          <p:nvPr/>
        </p:nvPicPr>
        <p:blipFill>
          <a:blip r:embed="rId2"/>
          <a:srcRect t="741" r="-118" b="51111"/>
          <a:stretch>
            <a:fillRect/>
          </a:stretch>
        </p:blipFill>
        <p:spPr>
          <a:xfrm>
            <a:off x="1947152" y="3740290"/>
            <a:ext cx="8297695" cy="2444374"/>
          </a:xfrm>
          <a:prstGeom prst="rect">
            <a:avLst/>
          </a:prstGeom>
        </p:spPr>
      </p:pic>
      <p:sp>
        <p:nvSpPr>
          <p:cNvPr id="6" name="TextBox 5">
            <a:extLst>
              <a:ext uri="{FF2B5EF4-FFF2-40B4-BE49-F238E27FC236}">
                <a16:creationId xmlns:a16="http://schemas.microsoft.com/office/drawing/2014/main" id="{4BF67EAA-229B-592F-F5C3-6415B6E4EDEF}"/>
              </a:ext>
            </a:extLst>
          </p:cNvPr>
          <p:cNvSpPr txBox="1"/>
          <p:nvPr/>
        </p:nvSpPr>
        <p:spPr>
          <a:xfrm>
            <a:off x="5072973" y="3363106"/>
            <a:ext cx="2046052" cy="199452"/>
          </a:xfrm>
          <a:prstGeom prst="rect">
            <a:avLst/>
          </a:prstGeom>
          <a:ln w="6350">
            <a:noFill/>
            <a:miter lim="800000"/>
          </a:ln>
        </p:spPr>
        <p:txBody>
          <a:bodyPr vert="horz" wrap="none" lIns="0" tIns="0" rIns="0" bIns="0" rtlCol="0" anchor="t">
            <a:noAutofit/>
          </a:bodyPr>
          <a:lstStyle/>
          <a:p>
            <a:pPr algn="l">
              <a:spcBef>
                <a:spcPts val="300"/>
              </a:spcBef>
              <a:spcAft>
                <a:spcPts val="300"/>
              </a:spcAft>
              <a:buNone/>
            </a:pPr>
            <a:r>
              <a:rPr lang="de-DE" b="1">
                <a:solidFill>
                  <a:srgbClr val="061F32"/>
                </a:solidFill>
              </a:rPr>
              <a:t>A Reference Example</a:t>
            </a:r>
          </a:p>
        </p:txBody>
      </p:sp>
    </p:spTree>
    <p:extLst>
      <p:ext uri="{BB962C8B-B14F-4D97-AF65-F5344CB8AC3E}">
        <p14:creationId xmlns:p14="http://schemas.microsoft.com/office/powerpoint/2010/main" val="2354108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FF585-EAE0-5DF2-9B95-E1A151B422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6B892-8C75-4A2D-53C4-779722A7D80F}"/>
              </a:ext>
            </a:extLst>
          </p:cNvPr>
          <p:cNvSpPr>
            <a:spLocks noGrp="1"/>
          </p:cNvSpPr>
          <p:nvPr>
            <p:ph type="title"/>
          </p:nvPr>
        </p:nvSpPr>
        <p:spPr/>
        <p:txBody>
          <a:bodyPr/>
          <a:lstStyle/>
          <a:p>
            <a:r>
              <a:rPr lang="en-US"/>
              <a:t>Concept of Cashflow at Risk</a:t>
            </a:r>
          </a:p>
        </p:txBody>
      </p:sp>
      <p:grpSp>
        <p:nvGrpSpPr>
          <p:cNvPr id="24" name="组合 23">
            <a:extLst>
              <a:ext uri="{FF2B5EF4-FFF2-40B4-BE49-F238E27FC236}">
                <a16:creationId xmlns:a16="http://schemas.microsoft.com/office/drawing/2014/main" id="{E3336AF8-7C32-1AE5-5CBB-B43E5AE7B546}"/>
              </a:ext>
            </a:extLst>
          </p:cNvPr>
          <p:cNvGrpSpPr/>
          <p:nvPr/>
        </p:nvGrpSpPr>
        <p:grpSpPr>
          <a:xfrm>
            <a:off x="509334" y="1499020"/>
            <a:ext cx="11173331" cy="1570949"/>
            <a:chOff x="558608" y="1774578"/>
            <a:chExt cx="11173331" cy="1570949"/>
          </a:xfrm>
        </p:grpSpPr>
        <p:sp>
          <p:nvSpPr>
            <p:cNvPr id="3" name="TextBox 6">
              <a:extLst>
                <a:ext uri="{FF2B5EF4-FFF2-40B4-BE49-F238E27FC236}">
                  <a16:creationId xmlns:a16="http://schemas.microsoft.com/office/drawing/2014/main" id="{1256CB72-26DB-3F13-285A-7D2CA1D38E92}"/>
                </a:ext>
              </a:extLst>
            </p:cNvPr>
            <p:cNvSpPr txBox="1"/>
            <p:nvPr/>
          </p:nvSpPr>
          <p:spPr>
            <a:xfrm>
              <a:off x="558608" y="1774578"/>
              <a:ext cx="11173331" cy="923330"/>
            </a:xfrm>
            <a:prstGeom prst="rect">
              <a:avLst/>
            </a:prstGeom>
            <a:noFill/>
          </p:spPr>
          <p:txBody>
            <a:bodyPr wrap="square" rtlCol="0">
              <a:spAutoFit/>
            </a:bodyPr>
            <a:lstStyle/>
            <a:p>
              <a:r>
                <a:rPr lang="en-US" b="1" err="1">
                  <a:solidFill>
                    <a:schemeClr val="bg1"/>
                  </a:solidFill>
                </a:rPr>
                <a:t>CFaR</a:t>
              </a:r>
              <a:r>
                <a:rPr lang="en-US" b="1">
                  <a:solidFill>
                    <a:schemeClr val="bg1"/>
                  </a:solidFill>
                </a:rPr>
                <a:t> or Cash Flow at Risk measures the potential adverse impact on future cash flows due to interest rate movements over a specific time horizon at a given confidence level.</a:t>
              </a:r>
            </a:p>
            <a:p>
              <a:endParaRPr lang="en-US" b="1">
                <a:solidFill>
                  <a:schemeClr val="bg1"/>
                </a:solidFill>
              </a:endParaRPr>
            </a:p>
          </p:txBody>
        </p:sp>
        <mc:AlternateContent xmlns:mc="http://schemas.openxmlformats.org/markup-compatibility/2006" xmlns:a14="http://schemas.microsoft.com/office/drawing/2010/main">
          <mc:Choice Requires="a14">
            <p:sp>
              <p:nvSpPr>
                <p:cNvPr id="13" name="TextBox 7">
                  <a:extLst>
                    <a:ext uri="{FF2B5EF4-FFF2-40B4-BE49-F238E27FC236}">
                      <a16:creationId xmlns:a16="http://schemas.microsoft.com/office/drawing/2014/main" id="{C08238FE-3EBA-AEC5-6430-029B51BA0C56}"/>
                    </a:ext>
                  </a:extLst>
                </p:cNvPr>
                <p:cNvSpPr txBox="1"/>
                <p:nvPr/>
              </p:nvSpPr>
              <p:spPr>
                <a:xfrm>
                  <a:off x="753330" y="2587055"/>
                  <a:ext cx="10783886" cy="3893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𝐶𝐹𝑎</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𝑅</m:t>
                            </m:r>
                          </m:e>
                          <m:sub>
                            <m:r>
                              <a:rPr lang="en-US" i="1" smtClean="0">
                                <a:solidFill>
                                  <a:schemeClr val="bg1"/>
                                </a:solidFill>
                                <a:latin typeface="Cambria Math" panose="02040503050406030204" pitchFamily="18" charset="0"/>
                                <a:ea typeface="Cambria Math" panose="02040503050406030204" pitchFamily="18" charset="0"/>
                              </a:rPr>
                              <m:t>𝛼</m:t>
                            </m:r>
                          </m:sub>
                        </m:sSub>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𝐸𝑥𝑝𝑒𝑐𝑡𝑒𝑑</m:t>
                        </m:r>
                        <m:r>
                          <a:rPr lang="en-US" i="1">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𝐶𝑎𝑠h</m:t>
                        </m:r>
                        <m:r>
                          <a:rPr lang="en-US" i="1">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𝐹𝑙𝑜𝑤</m:t>
                        </m:r>
                        <m:r>
                          <a:rPr lang="en-US" i="1">
                            <a:solidFill>
                              <a:schemeClr val="bg1"/>
                            </a:solidFill>
                            <a:latin typeface="Cambria Math" panose="02040503050406030204" pitchFamily="18" charset="0"/>
                          </a:rPr>
                          <m:t> − </m:t>
                        </m:r>
                        <m:r>
                          <a:rPr lang="en-US" i="1">
                            <a:solidFill>
                              <a:schemeClr val="bg1"/>
                            </a:solidFill>
                            <a:latin typeface="Cambria Math" panose="02040503050406030204" pitchFamily="18" charset="0"/>
                          </a:rPr>
                          <m:t>𝑊𝑜𝑟𝑠𝑡</m:t>
                        </m:r>
                        <m:r>
                          <a:rPr lang="de-DE" b="0" i="1" smtClean="0">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𝐶𝑎𝑠𝑒</m:t>
                        </m:r>
                        <m:r>
                          <a:rPr lang="en-US" i="1">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𝐶𝑎𝑠h</m:t>
                        </m:r>
                        <m:r>
                          <a:rPr lang="en-US" i="1">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𝐹𝑙𝑜𝑤</m:t>
                        </m:r>
                        <m:r>
                          <a:rPr lang="en-US" i="1">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𝑎𝑡</m:t>
                        </m:r>
                        <m:r>
                          <a:rPr lang="en-US" i="1">
                            <a:solidFill>
                              <a:schemeClr val="bg1"/>
                            </a:solidFill>
                            <a:latin typeface="Cambria Math" panose="02040503050406030204" pitchFamily="18" charset="0"/>
                          </a:rPr>
                          <m:t> </m:t>
                        </m:r>
                        <m:r>
                          <a:rPr lang="el-GR" b="0" i="1">
                            <a:solidFill>
                              <a:schemeClr val="bg1"/>
                            </a:solidFill>
                            <a:latin typeface="Cambria Math" panose="02040503050406030204" pitchFamily="18" charset="0"/>
                          </a:rPr>
                          <m:t>𝛼</m:t>
                        </m:r>
                        <m:r>
                          <a:rPr lang="en-US" b="0" i="1">
                            <a:solidFill>
                              <a:schemeClr val="bg1"/>
                            </a:solidFill>
                            <a:latin typeface="Cambria Math" panose="02040503050406030204" pitchFamily="18" charset="0"/>
                          </a:rPr>
                          <m:t> </m:t>
                        </m:r>
                        <m:r>
                          <a:rPr lang="en-US" b="0" i="1">
                            <a:solidFill>
                              <a:schemeClr val="bg1"/>
                            </a:solidFill>
                            <a:latin typeface="Cambria Math" panose="02040503050406030204" pitchFamily="18" charset="0"/>
                          </a:rPr>
                          <m:t>𝑙𝑒𝑣𝑒𝑙</m:t>
                        </m:r>
                        <m:r>
                          <a:rPr lang="en-US" b="0" i="1">
                            <a:solidFill>
                              <a:schemeClr val="bg1"/>
                            </a:solidFill>
                            <a:latin typeface="Cambria Math" panose="02040503050406030204" pitchFamily="18" charset="0"/>
                          </a:rPr>
                          <m:t>)= </m:t>
                        </m:r>
                        <m:sSub>
                          <m:sSubPr>
                            <m:ctrlPr>
                              <a:rPr lang="en-US" i="1">
                                <a:solidFill>
                                  <a:schemeClr val="bg1"/>
                                </a:solidFill>
                                <a:latin typeface="Cambria Math" panose="02040503050406030204" pitchFamily="18" charset="0"/>
                              </a:rPr>
                            </m:ctrlPr>
                          </m:sSubPr>
                          <m:e>
                            <m:r>
                              <a:rPr lang="en-US" altLang="zh-CN" i="1">
                                <a:solidFill>
                                  <a:schemeClr val="bg1"/>
                                </a:solidFill>
                                <a:latin typeface="Cambria Math" panose="02040503050406030204" pitchFamily="18" charset="0"/>
                              </a:rPr>
                              <m:t>𝐸</m:t>
                            </m:r>
                            <m:d>
                              <m:dPr>
                                <m:ctrlPr>
                                  <a:rPr lang="en-US" altLang="zh-CN" i="1">
                                    <a:solidFill>
                                      <a:schemeClr val="bg1"/>
                                    </a:solidFill>
                                    <a:latin typeface="Cambria Math" panose="02040503050406030204" pitchFamily="18" charset="0"/>
                                  </a:rPr>
                                </m:ctrlPr>
                              </m:dPr>
                              <m:e>
                                <m:r>
                                  <a:rPr lang="en-US" altLang="zh-CN" i="1">
                                    <a:solidFill>
                                      <a:schemeClr val="bg1"/>
                                    </a:solidFill>
                                    <a:latin typeface="Cambria Math" panose="02040503050406030204" pitchFamily="18" charset="0"/>
                                  </a:rPr>
                                  <m:t>𝐶𝐹</m:t>
                                </m:r>
                              </m:e>
                            </m:d>
                            <m:r>
                              <a:rPr lang="en-US" altLang="zh-CN" b="0" i="1" smtClean="0">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𝑄</m:t>
                            </m:r>
                          </m:e>
                          <m:sub>
                            <m:d>
                              <m:dPr>
                                <m:begChr m:val="{"/>
                                <m:endChr m:val="}"/>
                                <m:ctrlPr>
                                  <a:rPr lang="en-US" i="1">
                                    <a:solidFill>
                                      <a:schemeClr val="bg1"/>
                                    </a:solidFill>
                                    <a:latin typeface="Cambria Math" panose="02040503050406030204" pitchFamily="18" charset="0"/>
                                  </a:rPr>
                                </m:ctrlPr>
                              </m:dPr>
                              <m:e>
                                <m:r>
                                  <a:rPr lang="en-US" i="1" smtClean="0">
                                    <a:solidFill>
                                      <a:schemeClr val="bg1"/>
                                    </a:solidFill>
                                    <a:latin typeface="Cambria Math" panose="02040503050406030204" pitchFamily="18" charset="0"/>
                                    <a:ea typeface="Cambria Math" panose="02040503050406030204" pitchFamily="18" charset="0"/>
                                  </a:rPr>
                                  <m:t>𝛼</m:t>
                                </m:r>
                              </m:e>
                            </m:d>
                          </m:sub>
                        </m:sSub>
                        <m:d>
                          <m:dPr>
                            <m:ctrlPr>
                              <a:rPr lang="en-US" altLang="zh-CN" i="1">
                                <a:solidFill>
                                  <a:schemeClr val="bg1"/>
                                </a:solidFill>
                                <a:latin typeface="Cambria Math" panose="02040503050406030204" pitchFamily="18" charset="0"/>
                              </a:rPr>
                            </m:ctrlPr>
                          </m:dPr>
                          <m:e>
                            <m:r>
                              <a:rPr lang="en-US" altLang="zh-CN" i="1">
                                <a:solidFill>
                                  <a:schemeClr val="bg1"/>
                                </a:solidFill>
                                <a:latin typeface="Cambria Math" panose="02040503050406030204" pitchFamily="18" charset="0"/>
                              </a:rPr>
                              <m:t>𝐶𝐹</m:t>
                            </m:r>
                          </m:e>
                        </m:d>
                      </m:oMath>
                    </m:oMathPara>
                  </a14:m>
                  <a:endParaRPr lang="en-US" sz="1400" i="1">
                    <a:solidFill>
                      <a:schemeClr val="bg1"/>
                    </a:solidFill>
                    <a:latin typeface="Cambria Math" panose="02040503050406030204" pitchFamily="18" charset="0"/>
                  </a:endParaRPr>
                </a:p>
              </p:txBody>
            </p:sp>
          </mc:Choice>
          <mc:Fallback xmlns="">
            <p:sp>
              <p:nvSpPr>
                <p:cNvPr id="13" name="TextBox 7">
                  <a:extLst>
                    <a:ext uri="{FF2B5EF4-FFF2-40B4-BE49-F238E27FC236}">
                      <a16:creationId xmlns:a16="http://schemas.microsoft.com/office/drawing/2014/main" id="{C08238FE-3EBA-AEC5-6430-029B51BA0C56}"/>
                    </a:ext>
                  </a:extLst>
                </p:cNvPr>
                <p:cNvSpPr txBox="1">
                  <a:spLocks noRot="1" noChangeAspect="1" noMove="1" noResize="1" noEditPoints="1" noAdjustHandles="1" noChangeArrowheads="1" noChangeShapeType="1" noTextEdit="1"/>
                </p:cNvSpPr>
                <p:nvPr/>
              </p:nvSpPr>
              <p:spPr>
                <a:xfrm>
                  <a:off x="753330" y="2587055"/>
                  <a:ext cx="10783886" cy="389337"/>
                </a:xfrm>
                <a:prstGeom prst="rect">
                  <a:avLst/>
                </a:prstGeom>
                <a:blipFill>
                  <a:blip r:embed="rId2"/>
                  <a:stretch>
                    <a:fillRect b="-9375"/>
                  </a:stretch>
                </a:blipFill>
              </p:spPr>
              <p:txBody>
                <a:bodyPr/>
                <a:lstStyle/>
                <a:p>
                  <a:r>
                    <a:rPr lang="de-DE">
                      <a:noFill/>
                    </a:rPr>
                    <a:t> </a:t>
                  </a:r>
                </a:p>
              </p:txBody>
            </p:sp>
          </mc:Fallback>
        </mc:AlternateContent>
        <p:grpSp>
          <p:nvGrpSpPr>
            <p:cNvPr id="15" name="组合 14">
              <a:extLst>
                <a:ext uri="{FF2B5EF4-FFF2-40B4-BE49-F238E27FC236}">
                  <a16:creationId xmlns:a16="http://schemas.microsoft.com/office/drawing/2014/main" id="{9BD8A453-944B-6370-9CAF-ECC0987B3776}"/>
                </a:ext>
              </a:extLst>
            </p:cNvPr>
            <p:cNvGrpSpPr/>
            <p:nvPr/>
          </p:nvGrpSpPr>
          <p:grpSpPr>
            <a:xfrm>
              <a:off x="1793298" y="3006973"/>
              <a:ext cx="8520040" cy="338554"/>
              <a:chOff x="1781145" y="2504148"/>
              <a:chExt cx="8520040" cy="338554"/>
            </a:xfrm>
          </p:grpSpPr>
          <p:sp>
            <p:nvSpPr>
              <p:cNvPr id="16" name="TextBox 7">
                <a:extLst>
                  <a:ext uri="{FF2B5EF4-FFF2-40B4-BE49-F238E27FC236}">
                    <a16:creationId xmlns:a16="http://schemas.microsoft.com/office/drawing/2014/main" id="{D8A71D95-36C7-999F-4D96-50F8B074A199}"/>
                  </a:ext>
                </a:extLst>
              </p:cNvPr>
              <p:cNvSpPr txBox="1"/>
              <p:nvPr/>
            </p:nvSpPr>
            <p:spPr>
              <a:xfrm>
                <a:off x="1965055" y="2504148"/>
                <a:ext cx="8336130" cy="338554"/>
              </a:xfrm>
              <a:prstGeom prst="rect">
                <a:avLst/>
              </a:prstGeom>
              <a:noFill/>
            </p:spPr>
            <p:txBody>
              <a:bodyPr wrap="square" rtlCol="0">
                <a:spAutoFit/>
              </a:bodyPr>
              <a:lstStyle/>
              <a:p>
                <a:r>
                  <a:rPr lang="en-US" sz="1600">
                    <a:solidFill>
                      <a:schemeClr val="bg1"/>
                    </a:solidFill>
                  </a:rPr>
                  <a:t>Where  :  </a:t>
                </a:r>
                <a:r>
                  <a:rPr lang="el-GR" sz="1600">
                    <a:solidFill>
                      <a:schemeClr val="bg1"/>
                    </a:solidFill>
                  </a:rPr>
                  <a:t>α = </a:t>
                </a:r>
                <a:r>
                  <a:rPr lang="en-US" sz="1600">
                    <a:solidFill>
                      <a:schemeClr val="bg1"/>
                    </a:solidFill>
                  </a:rPr>
                  <a:t>confidence level (e.g., 95%); Q = quantile of cash flow distribution</a:t>
                </a:r>
              </a:p>
            </p:txBody>
          </p:sp>
          <p:sp>
            <p:nvSpPr>
              <p:cNvPr id="17" name="Triangle 13">
                <a:extLst>
                  <a:ext uri="{FF2B5EF4-FFF2-40B4-BE49-F238E27FC236}">
                    <a16:creationId xmlns:a16="http://schemas.microsoft.com/office/drawing/2014/main" id="{A635F95A-3D07-227E-F09C-2FFCF334782D}"/>
                  </a:ext>
                </a:extLst>
              </p:cNvPr>
              <p:cNvSpPr>
                <a:spLocks noChangeAspect="1"/>
              </p:cNvSpPr>
              <p:nvPr/>
            </p:nvSpPr>
            <p:spPr>
              <a:xfrm rot="5400000" flipH="1">
                <a:off x="1728882" y="2589310"/>
                <a:ext cx="288435" cy="18391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grpSp>
      </p:grpSp>
      <p:grpSp>
        <p:nvGrpSpPr>
          <p:cNvPr id="25" name="组合 24">
            <a:extLst>
              <a:ext uri="{FF2B5EF4-FFF2-40B4-BE49-F238E27FC236}">
                <a16:creationId xmlns:a16="http://schemas.microsoft.com/office/drawing/2014/main" id="{44311017-6616-538F-AE6B-D41CB3F60F00}"/>
              </a:ext>
            </a:extLst>
          </p:cNvPr>
          <p:cNvGrpSpPr/>
          <p:nvPr/>
        </p:nvGrpSpPr>
        <p:grpSpPr>
          <a:xfrm>
            <a:off x="704056" y="4530581"/>
            <a:ext cx="11173331" cy="1487205"/>
            <a:chOff x="558608" y="1774578"/>
            <a:chExt cx="11173331" cy="1487205"/>
          </a:xfrm>
        </p:grpSpPr>
        <p:sp>
          <p:nvSpPr>
            <p:cNvPr id="26" name="TextBox 6">
              <a:extLst>
                <a:ext uri="{FF2B5EF4-FFF2-40B4-BE49-F238E27FC236}">
                  <a16:creationId xmlns:a16="http://schemas.microsoft.com/office/drawing/2014/main" id="{D58AE1DA-C28B-A8CC-CCE5-F39EF56CEF2C}"/>
                </a:ext>
              </a:extLst>
            </p:cNvPr>
            <p:cNvSpPr txBox="1"/>
            <p:nvPr/>
          </p:nvSpPr>
          <p:spPr>
            <a:xfrm>
              <a:off x="558608" y="1774578"/>
              <a:ext cx="11173331" cy="369332"/>
            </a:xfrm>
            <a:prstGeom prst="rect">
              <a:avLst/>
            </a:prstGeom>
            <a:noFill/>
          </p:spPr>
          <p:txBody>
            <a:bodyPr wrap="square" rtlCol="0">
              <a:spAutoFit/>
            </a:bodyPr>
            <a:lstStyle/>
            <a:p>
              <a:r>
                <a:rPr lang="en-US" b="1">
                  <a:solidFill>
                    <a:schemeClr val="bg1"/>
                  </a:solidFill>
                </a:rPr>
                <a:t>“What if interest rates suddenly rise by 1% — how much more will our company pay in interest?”</a:t>
              </a:r>
            </a:p>
          </p:txBody>
        </p:sp>
        <mc:AlternateContent xmlns:mc="http://schemas.openxmlformats.org/markup-compatibility/2006" xmlns:a14="http://schemas.microsoft.com/office/drawing/2010/main">
          <mc:Choice Requires="a14">
            <p:sp>
              <p:nvSpPr>
                <p:cNvPr id="27" name="TextBox 7">
                  <a:extLst>
                    <a:ext uri="{FF2B5EF4-FFF2-40B4-BE49-F238E27FC236}">
                      <a16:creationId xmlns:a16="http://schemas.microsoft.com/office/drawing/2014/main" id="{726596A3-AA47-57C3-F965-3E435344C017}"/>
                    </a:ext>
                  </a:extLst>
                </p:cNvPr>
                <p:cNvSpPr txBox="1"/>
                <p:nvPr/>
              </p:nvSpPr>
              <p:spPr>
                <a:xfrm>
                  <a:off x="558608" y="2560634"/>
                  <a:ext cx="10783886" cy="35625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i="1" smtClean="0">
                            <a:solidFill>
                              <a:schemeClr val="bg1"/>
                            </a:solidFill>
                            <a:latin typeface="Cambria Math" panose="02040503050406030204" pitchFamily="18" charset="0"/>
                          </a:rPr>
                          <m:t>𝐶𝐹𝑎</m:t>
                        </m:r>
                        <m:sSub>
                          <m:sSubPr>
                            <m:ctrlPr>
                              <a:rPr lang="en-US" altLang="zh-CN" sz="1600" i="1">
                                <a:solidFill>
                                  <a:schemeClr val="bg1"/>
                                </a:solidFill>
                                <a:latin typeface="Cambria Math" panose="02040503050406030204" pitchFamily="18" charset="0"/>
                              </a:rPr>
                            </m:ctrlPr>
                          </m:sSubPr>
                          <m:e>
                            <m:r>
                              <a:rPr lang="en-US" altLang="zh-CN" sz="1600" i="1">
                                <a:solidFill>
                                  <a:schemeClr val="bg1"/>
                                </a:solidFill>
                                <a:latin typeface="Cambria Math" panose="02040503050406030204" pitchFamily="18" charset="0"/>
                              </a:rPr>
                              <m:t>𝑅</m:t>
                            </m:r>
                          </m:e>
                          <m:sub>
                            <m:d>
                              <m:dPr>
                                <m:begChr m:val="{"/>
                                <m:endChr m:val="}"/>
                                <m:ctrlPr>
                                  <a:rPr lang="en-US" altLang="zh-CN" sz="1600" i="1">
                                    <a:solidFill>
                                      <a:schemeClr val="bg1"/>
                                    </a:solidFill>
                                    <a:latin typeface="Cambria Math" panose="02040503050406030204" pitchFamily="18" charset="0"/>
                                  </a:rPr>
                                </m:ctrlPr>
                              </m:dPr>
                              <m:e>
                                <m:r>
                                  <a:rPr lang="en-US" altLang="zh-CN" sz="1600" i="1">
                                    <a:solidFill>
                                      <a:schemeClr val="bg1"/>
                                    </a:solidFill>
                                    <a:latin typeface="Cambria Math" panose="02040503050406030204" pitchFamily="18" charset="0"/>
                                  </a:rPr>
                                  <m:t>95%</m:t>
                                </m:r>
                              </m:e>
                            </m:d>
                          </m:sub>
                        </m:sSub>
                        <m:r>
                          <a:rPr lang="en-US" altLang="zh-CN" sz="1600" i="1">
                            <a:solidFill>
                              <a:schemeClr val="bg1"/>
                            </a:solidFill>
                            <a:latin typeface="Cambria Math" panose="02040503050406030204" pitchFamily="18" charset="0"/>
                          </a:rPr>
                          <m:t>=</m:t>
                        </m:r>
                        <m:r>
                          <a:rPr lang="en-US" altLang="zh-CN" sz="1600" i="1">
                            <a:solidFill>
                              <a:schemeClr val="bg1"/>
                            </a:solidFill>
                            <a:latin typeface="Cambria Math" panose="02040503050406030204" pitchFamily="18" charset="0"/>
                          </a:rPr>
                          <m:t>𝐸</m:t>
                        </m:r>
                        <m:d>
                          <m:dPr>
                            <m:ctrlPr>
                              <a:rPr lang="en-US" altLang="zh-CN" sz="1600" i="1">
                                <a:solidFill>
                                  <a:schemeClr val="bg1"/>
                                </a:solidFill>
                                <a:latin typeface="Cambria Math" panose="02040503050406030204" pitchFamily="18" charset="0"/>
                              </a:rPr>
                            </m:ctrlPr>
                          </m:dPr>
                          <m:e>
                            <m:r>
                              <a:rPr lang="en-US" altLang="zh-CN" sz="1600" b="0" i="1" smtClean="0">
                                <a:solidFill>
                                  <a:schemeClr val="bg1"/>
                                </a:solidFill>
                                <a:latin typeface="Cambria Math" panose="02040503050406030204" pitchFamily="18" charset="0"/>
                              </a:rPr>
                              <m:t>𝐶𝐹</m:t>
                            </m:r>
                          </m:e>
                        </m:d>
                        <m:r>
                          <a:rPr lang="en-US" altLang="zh-CN" sz="1600" b="0" i="1" smtClean="0">
                            <a:solidFill>
                              <a:schemeClr val="bg1"/>
                            </a:solidFill>
                            <a:latin typeface="Cambria Math" panose="02040503050406030204" pitchFamily="18" charset="0"/>
                          </a:rPr>
                          <m:t>−</m:t>
                        </m:r>
                        <m:r>
                          <a:rPr lang="en-US" altLang="zh-CN" sz="1600" i="1">
                            <a:solidFill>
                              <a:schemeClr val="bg1"/>
                            </a:solidFill>
                            <a:latin typeface="Cambria Math" panose="02040503050406030204" pitchFamily="18" charset="0"/>
                          </a:rPr>
                          <m:t>𝑄</m:t>
                        </m:r>
                        <m:r>
                          <a:rPr lang="en-US" altLang="zh-CN" sz="1600" i="1">
                            <a:solidFill>
                              <a:schemeClr val="bg1"/>
                            </a:solidFill>
                            <a:latin typeface="Cambria Math" panose="02040503050406030204" pitchFamily="18" charset="0"/>
                          </a:rPr>
                          <m:t>_{95%}(</m:t>
                        </m:r>
                        <m:r>
                          <a:rPr lang="en-US" altLang="zh-CN" sz="1600" b="0" i="1" smtClean="0">
                            <a:solidFill>
                              <a:schemeClr val="bg1"/>
                            </a:solidFill>
                            <a:latin typeface="Cambria Math" panose="02040503050406030204" pitchFamily="18" charset="0"/>
                          </a:rPr>
                          <m:t>𝐶𝐹</m:t>
                        </m:r>
                        <m:r>
                          <a:rPr lang="en-US" altLang="zh-CN" sz="1600" i="1">
                            <a:solidFill>
                              <a:schemeClr val="bg1"/>
                            </a:solidFill>
                            <a:latin typeface="Cambria Math" panose="02040503050406030204" pitchFamily="18" charset="0"/>
                          </a:rPr>
                          <m:t> | </m:t>
                        </m:r>
                        <m:r>
                          <a:rPr lang="el-GR" altLang="zh-CN" sz="1600" i="1">
                            <a:solidFill>
                              <a:schemeClr val="bg1"/>
                            </a:solidFill>
                            <a:latin typeface="Cambria Math" panose="02040503050406030204" pitchFamily="18" charset="0"/>
                          </a:rPr>
                          <m:t>𝛥</m:t>
                        </m:r>
                        <m:r>
                          <a:rPr lang="en-US" altLang="zh-CN" sz="1600" i="1">
                            <a:solidFill>
                              <a:schemeClr val="bg1"/>
                            </a:solidFill>
                            <a:latin typeface="Cambria Math" panose="02040503050406030204" pitchFamily="18" charset="0"/>
                          </a:rPr>
                          <m:t>𝑟</m:t>
                        </m:r>
                        <m:r>
                          <a:rPr lang="en-US" altLang="zh-CN" sz="1600" i="1">
                            <a:solidFill>
                              <a:schemeClr val="bg1"/>
                            </a:solidFill>
                            <a:latin typeface="Cambria Math" panose="02040503050406030204" pitchFamily="18" charset="0"/>
                          </a:rPr>
                          <m:t> = 1%)</m:t>
                        </m:r>
                      </m:oMath>
                    </m:oMathPara>
                  </a14:m>
                  <a:endParaRPr lang="en-US" altLang="zh-CN" sz="1600" i="1">
                    <a:solidFill>
                      <a:schemeClr val="bg1"/>
                    </a:solidFill>
                    <a:latin typeface="Cambria Math" panose="02040503050406030204" pitchFamily="18" charset="0"/>
                  </a:endParaRPr>
                </a:p>
              </p:txBody>
            </p:sp>
          </mc:Choice>
          <mc:Fallback xmlns="">
            <p:sp>
              <p:nvSpPr>
                <p:cNvPr id="27" name="TextBox 7">
                  <a:extLst>
                    <a:ext uri="{FF2B5EF4-FFF2-40B4-BE49-F238E27FC236}">
                      <a16:creationId xmlns:a16="http://schemas.microsoft.com/office/drawing/2014/main" id="{726596A3-AA47-57C3-F965-3E435344C017}"/>
                    </a:ext>
                  </a:extLst>
                </p:cNvPr>
                <p:cNvSpPr txBox="1">
                  <a:spLocks noRot="1" noChangeAspect="1" noMove="1" noResize="1" noEditPoints="1" noAdjustHandles="1" noChangeArrowheads="1" noChangeShapeType="1" noTextEdit="1"/>
                </p:cNvSpPr>
                <p:nvPr/>
              </p:nvSpPr>
              <p:spPr>
                <a:xfrm>
                  <a:off x="558608" y="2560634"/>
                  <a:ext cx="10783886" cy="356251"/>
                </a:xfrm>
                <a:prstGeom prst="rect">
                  <a:avLst/>
                </a:prstGeom>
                <a:blipFill>
                  <a:blip r:embed="rId3"/>
                  <a:stretch>
                    <a:fillRect b="-5085"/>
                  </a:stretch>
                </a:blipFill>
              </p:spPr>
              <p:txBody>
                <a:bodyPr/>
                <a:lstStyle/>
                <a:p>
                  <a:r>
                    <a:rPr lang="de-DE">
                      <a:noFill/>
                    </a:rPr>
                    <a:t> </a:t>
                  </a:r>
                </a:p>
              </p:txBody>
            </p:sp>
          </mc:Fallback>
        </mc:AlternateContent>
        <p:grpSp>
          <p:nvGrpSpPr>
            <p:cNvPr id="28" name="组合 27">
              <a:extLst>
                <a:ext uri="{FF2B5EF4-FFF2-40B4-BE49-F238E27FC236}">
                  <a16:creationId xmlns:a16="http://schemas.microsoft.com/office/drawing/2014/main" id="{D5F69E85-41DD-4AA7-7038-4B2BBD5A7BB2}"/>
                </a:ext>
              </a:extLst>
            </p:cNvPr>
            <p:cNvGrpSpPr/>
            <p:nvPr/>
          </p:nvGrpSpPr>
          <p:grpSpPr>
            <a:xfrm>
              <a:off x="3528948" y="2954006"/>
              <a:ext cx="5998302" cy="307777"/>
              <a:chOff x="3516795" y="2451181"/>
              <a:chExt cx="5998302" cy="307777"/>
            </a:xfrm>
          </p:grpSpPr>
          <p:sp>
            <p:nvSpPr>
              <p:cNvPr id="29" name="TextBox 7">
                <a:extLst>
                  <a:ext uri="{FF2B5EF4-FFF2-40B4-BE49-F238E27FC236}">
                    <a16:creationId xmlns:a16="http://schemas.microsoft.com/office/drawing/2014/main" id="{087BA47C-6BEB-30BE-FD5C-9B94296CF0F8}"/>
                  </a:ext>
                </a:extLst>
              </p:cNvPr>
              <p:cNvSpPr txBox="1"/>
              <p:nvPr/>
            </p:nvSpPr>
            <p:spPr>
              <a:xfrm>
                <a:off x="3678271" y="2451181"/>
                <a:ext cx="5836826" cy="307777"/>
              </a:xfrm>
              <a:prstGeom prst="rect">
                <a:avLst/>
              </a:prstGeom>
              <a:noFill/>
            </p:spPr>
            <p:txBody>
              <a:bodyPr wrap="square" rtlCol="0">
                <a:spAutoFit/>
              </a:bodyPr>
              <a:lstStyle/>
              <a:p>
                <a:r>
                  <a:rPr lang="en-US" altLang="zh-CN" sz="1400">
                    <a:solidFill>
                      <a:schemeClr val="bg1"/>
                    </a:solidFill>
                  </a:rPr>
                  <a:t>Where  :  </a:t>
                </a:r>
                <a:r>
                  <a:rPr lang="de-DE" altLang="zh-CN" sz="1400">
                    <a:solidFill>
                      <a:schemeClr val="bg1"/>
                    </a:solidFill>
                  </a:rPr>
                  <a:t>r = Interest Rate; </a:t>
                </a:r>
                <a:r>
                  <a:rPr lang="el-GR" altLang="zh-CN" sz="1400">
                    <a:solidFill>
                      <a:schemeClr val="bg1"/>
                    </a:solidFill>
                  </a:rPr>
                  <a:t>Δ</a:t>
                </a:r>
                <a:r>
                  <a:rPr lang="de-DE" altLang="zh-CN" sz="1400">
                    <a:solidFill>
                      <a:schemeClr val="bg1"/>
                    </a:solidFill>
                  </a:rPr>
                  <a:t>r = 1% (Interest rate </a:t>
                </a:r>
                <a:r>
                  <a:rPr lang="de-DE" altLang="zh-CN" sz="1400" err="1">
                    <a:solidFill>
                      <a:schemeClr val="bg1"/>
                    </a:solidFill>
                  </a:rPr>
                  <a:t>increase</a:t>
                </a:r>
                <a:r>
                  <a:rPr lang="de-DE" altLang="zh-CN" sz="1400">
                    <a:solidFill>
                      <a:schemeClr val="bg1"/>
                    </a:solidFill>
                  </a:rPr>
                  <a:t>)</a:t>
                </a:r>
              </a:p>
            </p:txBody>
          </p:sp>
          <p:sp>
            <p:nvSpPr>
              <p:cNvPr id="30" name="Triangle 13">
                <a:extLst>
                  <a:ext uri="{FF2B5EF4-FFF2-40B4-BE49-F238E27FC236}">
                    <a16:creationId xmlns:a16="http://schemas.microsoft.com/office/drawing/2014/main" id="{25FD41D9-5048-47CF-3215-E2B15C31AD3D}"/>
                  </a:ext>
                </a:extLst>
              </p:cNvPr>
              <p:cNvSpPr>
                <a:spLocks noChangeAspect="1"/>
              </p:cNvSpPr>
              <p:nvPr/>
            </p:nvSpPr>
            <p:spPr>
              <a:xfrm rot="5400000">
                <a:off x="3488302" y="2559214"/>
                <a:ext cx="172117" cy="11513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grpSp>
      </p:grpSp>
      <p:sp>
        <p:nvSpPr>
          <p:cNvPr id="4" name="TextBox 3">
            <a:extLst>
              <a:ext uri="{FF2B5EF4-FFF2-40B4-BE49-F238E27FC236}">
                <a16:creationId xmlns:a16="http://schemas.microsoft.com/office/drawing/2014/main" id="{83F61A64-6387-43E6-7318-02943C6DEAB7}"/>
              </a:ext>
            </a:extLst>
          </p:cNvPr>
          <p:cNvSpPr txBox="1"/>
          <p:nvPr/>
        </p:nvSpPr>
        <p:spPr>
          <a:xfrm>
            <a:off x="846306" y="4082820"/>
            <a:ext cx="4114800" cy="338554"/>
          </a:xfrm>
          <a:prstGeom prst="rect">
            <a:avLst/>
          </a:prstGeom>
          <a:ln w="6350">
            <a:noFill/>
            <a:miter lim="800000"/>
          </a:ln>
        </p:spPr>
        <p:txBody>
          <a:bodyPr vert="horz" wrap="none" lIns="0" tIns="0" rIns="0" bIns="0" rtlCol="0">
            <a:noAutofit/>
          </a:bodyPr>
          <a:lstStyle/>
          <a:p>
            <a:pPr algn="l">
              <a:spcBef>
                <a:spcPts val="300"/>
              </a:spcBef>
              <a:spcAft>
                <a:spcPts val="300"/>
              </a:spcAft>
              <a:buNone/>
            </a:pPr>
            <a:r>
              <a:rPr lang="de-DE" err="1">
                <a:solidFill>
                  <a:schemeClr val="bg1"/>
                </a:solidFill>
              </a:rPr>
              <a:t>Lets</a:t>
            </a:r>
            <a:r>
              <a:rPr lang="de-DE">
                <a:solidFill>
                  <a:schemeClr val="bg1"/>
                </a:solidFill>
              </a:rPr>
              <a:t> </a:t>
            </a:r>
            <a:r>
              <a:rPr lang="de-DE" err="1">
                <a:solidFill>
                  <a:schemeClr val="bg1"/>
                </a:solidFill>
              </a:rPr>
              <a:t>understand</a:t>
            </a:r>
            <a:r>
              <a:rPr lang="de-DE">
                <a:solidFill>
                  <a:schemeClr val="bg1"/>
                </a:solidFill>
              </a:rPr>
              <a:t> </a:t>
            </a:r>
            <a:r>
              <a:rPr lang="de-DE" err="1">
                <a:solidFill>
                  <a:schemeClr val="bg1"/>
                </a:solidFill>
              </a:rPr>
              <a:t>this</a:t>
            </a:r>
            <a:r>
              <a:rPr lang="de-DE">
                <a:solidFill>
                  <a:schemeClr val="bg1"/>
                </a:solidFill>
              </a:rPr>
              <a:t> </a:t>
            </a:r>
            <a:r>
              <a:rPr lang="de-DE" err="1">
                <a:solidFill>
                  <a:schemeClr val="bg1"/>
                </a:solidFill>
              </a:rPr>
              <a:t>with</a:t>
            </a:r>
            <a:r>
              <a:rPr lang="de-DE">
                <a:solidFill>
                  <a:schemeClr val="bg1"/>
                </a:solidFill>
              </a:rPr>
              <a:t> a simple </a:t>
            </a:r>
            <a:r>
              <a:rPr lang="de-DE" err="1">
                <a:solidFill>
                  <a:schemeClr val="bg1"/>
                </a:solidFill>
              </a:rPr>
              <a:t>question</a:t>
            </a:r>
            <a:r>
              <a:rPr lang="de-DE">
                <a:solidFill>
                  <a:schemeClr val="bg1"/>
                </a:solidFill>
              </a:rPr>
              <a:t>,</a:t>
            </a:r>
          </a:p>
        </p:txBody>
      </p:sp>
    </p:spTree>
    <p:extLst>
      <p:ext uri="{BB962C8B-B14F-4D97-AF65-F5344CB8AC3E}">
        <p14:creationId xmlns:p14="http://schemas.microsoft.com/office/powerpoint/2010/main" val="2222144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BEC6E-BC4B-D1BE-7301-3BC6E9B36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38755-70AC-721D-4A4D-C44653A1326E}"/>
              </a:ext>
            </a:extLst>
          </p:cNvPr>
          <p:cNvSpPr>
            <a:spLocks noGrp="1"/>
          </p:cNvSpPr>
          <p:nvPr>
            <p:ph type="title"/>
          </p:nvPr>
        </p:nvSpPr>
        <p:spPr/>
        <p:txBody>
          <a:bodyPr/>
          <a:lstStyle/>
          <a:p>
            <a:r>
              <a:rPr lang="en-US"/>
              <a:t>One Simple Example</a:t>
            </a:r>
          </a:p>
        </p:txBody>
      </p:sp>
      <p:sp>
        <p:nvSpPr>
          <p:cNvPr id="6" name="TextBox 7">
            <a:extLst>
              <a:ext uri="{FF2B5EF4-FFF2-40B4-BE49-F238E27FC236}">
                <a16:creationId xmlns:a16="http://schemas.microsoft.com/office/drawing/2014/main" id="{CF6D38DF-0FAE-B58B-EAEC-15D003DFE4D8}"/>
              </a:ext>
            </a:extLst>
          </p:cNvPr>
          <p:cNvSpPr txBox="1"/>
          <p:nvPr/>
        </p:nvSpPr>
        <p:spPr>
          <a:xfrm>
            <a:off x="554736" y="1316050"/>
            <a:ext cx="11194437" cy="1077218"/>
          </a:xfrm>
          <a:prstGeom prst="rect">
            <a:avLst/>
          </a:prstGeom>
          <a:noFill/>
        </p:spPr>
        <p:txBody>
          <a:bodyPr wrap="square" lIns="91440" tIns="45720" rIns="91440" bIns="45720" rtlCol="0" anchor="t">
            <a:spAutoFit/>
          </a:bodyPr>
          <a:lstStyle/>
          <a:p>
            <a:r>
              <a:rPr lang="en-US" sz="1600">
                <a:solidFill>
                  <a:schemeClr val="bg1"/>
                </a:solidFill>
                <a:ea typeface="+mn-lt"/>
                <a:cs typeface="+mn-lt"/>
              </a:rPr>
              <a:t>Let’s assume a floating loan of notional € 100 M</a:t>
            </a:r>
            <a:endParaRPr lang="en-US" sz="1600">
              <a:solidFill>
                <a:schemeClr val="bg1"/>
              </a:solidFill>
              <a:cs typeface="Arial"/>
            </a:endParaRPr>
          </a:p>
          <a:p>
            <a:pPr marL="285750" indent="-285750">
              <a:buFont typeface="Arial"/>
              <a:buChar char="•"/>
            </a:pPr>
            <a:r>
              <a:rPr lang="en-US" sz="1600">
                <a:solidFill>
                  <a:schemeClr val="bg1"/>
                </a:solidFill>
                <a:ea typeface="+mn-lt"/>
                <a:cs typeface="+mn-lt"/>
              </a:rPr>
              <a:t>Expected interest at 4% = €4m</a:t>
            </a:r>
            <a:endParaRPr lang="en-US" sz="1600">
              <a:solidFill>
                <a:schemeClr val="bg1"/>
              </a:solidFill>
              <a:cs typeface="Arial"/>
            </a:endParaRPr>
          </a:p>
          <a:p>
            <a:pPr marL="285750" indent="-285750">
              <a:buFont typeface="Arial"/>
              <a:buChar char="•"/>
            </a:pPr>
            <a:r>
              <a:rPr lang="en-US" sz="1600">
                <a:solidFill>
                  <a:schemeClr val="bg1"/>
                </a:solidFill>
                <a:ea typeface="+mn-lt"/>
                <a:cs typeface="+mn-lt"/>
              </a:rPr>
              <a:t>Let's say that after simulating multiple interest rate change scenarios, we find that </a:t>
            </a:r>
            <a:r>
              <a:rPr lang="en-US" sz="1600">
                <a:solidFill>
                  <a:srgbClr val="000000"/>
                </a:solidFill>
                <a:ea typeface="+mn-lt"/>
                <a:cs typeface="+mn-lt"/>
              </a:rPr>
              <a:t>With 95% probability, annual interest expense will not exceed €5.2m. In 5% of cases, it could be higher</a:t>
            </a:r>
            <a:endParaRPr lang="en-US" sz="1600">
              <a:ea typeface="+mn-lt"/>
              <a:cs typeface="+mn-lt"/>
            </a:endParaRPr>
          </a:p>
        </p:txBody>
      </p:sp>
      <p:pic>
        <p:nvPicPr>
          <p:cNvPr id="3" name="Picture 2">
            <a:extLst>
              <a:ext uri="{FF2B5EF4-FFF2-40B4-BE49-F238E27FC236}">
                <a16:creationId xmlns:a16="http://schemas.microsoft.com/office/drawing/2014/main" id="{06E23CFE-9B30-8D15-8A06-25657689C49A}"/>
              </a:ext>
            </a:extLst>
          </p:cNvPr>
          <p:cNvPicPr>
            <a:picLocks noChangeAspect="1"/>
          </p:cNvPicPr>
          <p:nvPr/>
        </p:nvPicPr>
        <p:blipFill>
          <a:blip r:embed="rId2"/>
          <a:stretch>
            <a:fillRect/>
          </a:stretch>
        </p:blipFill>
        <p:spPr>
          <a:xfrm>
            <a:off x="3603362" y="2622706"/>
            <a:ext cx="4985276" cy="3222422"/>
          </a:xfrm>
          <a:prstGeom prst="rect">
            <a:avLst/>
          </a:prstGeom>
        </p:spPr>
      </p:pic>
      <p:sp>
        <p:nvSpPr>
          <p:cNvPr id="4" name="TextBox 7">
            <a:extLst>
              <a:ext uri="{FF2B5EF4-FFF2-40B4-BE49-F238E27FC236}">
                <a16:creationId xmlns:a16="http://schemas.microsoft.com/office/drawing/2014/main" id="{D359CD54-1093-288D-8D02-714AC6C4B782}"/>
              </a:ext>
            </a:extLst>
          </p:cNvPr>
          <p:cNvSpPr txBox="1"/>
          <p:nvPr/>
        </p:nvSpPr>
        <p:spPr>
          <a:xfrm>
            <a:off x="554736" y="5845128"/>
            <a:ext cx="10783886" cy="738664"/>
          </a:xfrm>
          <a:prstGeom prst="rect">
            <a:avLst/>
          </a:prstGeom>
          <a:noFill/>
        </p:spPr>
        <p:txBody>
          <a:bodyPr wrap="square" lIns="91440" tIns="45720" rIns="91440" bIns="45720" rtlCol="0" anchor="t">
            <a:spAutoFit/>
          </a:bodyPr>
          <a:lstStyle/>
          <a:p>
            <a:r>
              <a:rPr lang="en-US" sz="1400">
                <a:solidFill>
                  <a:schemeClr val="bg1"/>
                </a:solidFill>
                <a:ea typeface="+mn-lt"/>
                <a:cs typeface="+mn-lt"/>
              </a:rPr>
              <a:t>“With 95% confidence, interest expense will not exceed €5.2m, which is still €1.2m worse than the budget”</a:t>
            </a:r>
            <a:endParaRPr lang="en-US" sz="1400">
              <a:solidFill>
                <a:schemeClr val="bg1"/>
              </a:solidFill>
              <a:cs typeface="Arial"/>
            </a:endParaRPr>
          </a:p>
          <a:p>
            <a:r>
              <a:rPr lang="en-US" sz="1400">
                <a:solidFill>
                  <a:schemeClr val="bg1"/>
                </a:solidFill>
                <a:ea typeface="+mn-lt"/>
                <a:cs typeface="+mn-lt"/>
              </a:rPr>
              <a:t>This is not just an abstract number. It tells the treasurer: keep at least €1.2m of additional liquidity in reserve or consider hedging</a:t>
            </a:r>
            <a:endParaRPr lang="en-US" sz="1400">
              <a:solidFill>
                <a:schemeClr val="bg1"/>
              </a:solidFill>
              <a:cs typeface="Arial"/>
            </a:endParaRPr>
          </a:p>
          <a:p>
            <a:endParaRPr lang="en-US" sz="1400">
              <a:solidFill>
                <a:schemeClr val="bg1"/>
              </a:solidFill>
              <a:cs typeface="Arial"/>
            </a:endParaRPr>
          </a:p>
        </p:txBody>
      </p:sp>
    </p:spTree>
    <p:extLst>
      <p:ext uri="{BB962C8B-B14F-4D97-AF65-F5344CB8AC3E}">
        <p14:creationId xmlns:p14="http://schemas.microsoft.com/office/powerpoint/2010/main" val="2180265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D8554-565A-B4AF-8D14-52DEFE1A3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13CDF7-F5C8-2FE4-31DA-C491388B577F}"/>
              </a:ext>
            </a:extLst>
          </p:cNvPr>
          <p:cNvSpPr>
            <a:spLocks noGrp="1"/>
          </p:cNvSpPr>
          <p:nvPr>
            <p:ph type="title"/>
          </p:nvPr>
        </p:nvSpPr>
        <p:spPr/>
        <p:txBody>
          <a:bodyPr/>
          <a:lstStyle/>
          <a:p>
            <a:r>
              <a:rPr lang="en-US" altLang="zh-CN"/>
              <a:t>Advantages &amp; Disadvantages</a:t>
            </a:r>
            <a:endParaRPr lang="zh-CN"/>
          </a:p>
        </p:txBody>
      </p:sp>
      <p:cxnSp>
        <p:nvCxnSpPr>
          <p:cNvPr id="3" name="Straight Connector 2">
            <a:extLst>
              <a:ext uri="{FF2B5EF4-FFF2-40B4-BE49-F238E27FC236}">
                <a16:creationId xmlns:a16="http://schemas.microsoft.com/office/drawing/2014/main" id="{CACD2B77-D6EC-B7F4-CEF2-588FF9A00A8F}"/>
              </a:ext>
            </a:extLst>
          </p:cNvPr>
          <p:cNvCxnSpPr>
            <a:cxnSpLocks/>
          </p:cNvCxnSpPr>
          <p:nvPr/>
        </p:nvCxnSpPr>
        <p:spPr>
          <a:xfrm>
            <a:off x="554736" y="2185599"/>
            <a:ext cx="11082528" cy="0"/>
          </a:xfrm>
          <a:prstGeom prst="line">
            <a:avLst/>
          </a:prstGeom>
          <a:ln w="952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ACCA534B-34C0-7227-1C0B-0656B5042348}"/>
              </a:ext>
            </a:extLst>
          </p:cNvPr>
          <p:cNvSpPr/>
          <p:nvPr/>
        </p:nvSpPr>
        <p:spPr>
          <a:xfrm>
            <a:off x="554736" y="1661409"/>
            <a:ext cx="2049316" cy="4354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a:solidFill>
                  <a:srgbClr val="FFFFFF"/>
                </a:solidFill>
                <a:latin typeface="Arial"/>
              </a:rPr>
              <a:t>Duration/Convexity</a:t>
            </a:r>
            <a:endParaRPr kumimoji="0" lang="en-US" sz="1400" b="1" i="0" u="none" strike="noStrike" kern="1200" cap="none" spc="0" normalizeH="0" baseline="0" noProof="0">
              <a:ln>
                <a:noFill/>
              </a:ln>
              <a:solidFill>
                <a:srgbClr val="FFFFFF"/>
              </a:solidFill>
              <a:effectLst/>
              <a:uLnTx/>
              <a:uFillTx/>
              <a:latin typeface="Arial"/>
              <a:ea typeface="+mn-ea"/>
              <a:cs typeface="+mn-cs"/>
            </a:endParaRPr>
          </a:p>
        </p:txBody>
      </p:sp>
      <p:sp>
        <p:nvSpPr>
          <p:cNvPr id="5" name="Rectangle 4">
            <a:extLst>
              <a:ext uri="{FF2B5EF4-FFF2-40B4-BE49-F238E27FC236}">
                <a16:creationId xmlns:a16="http://schemas.microsoft.com/office/drawing/2014/main" id="{7381803A-7B36-2C24-1062-6A599C0B51C6}"/>
              </a:ext>
            </a:extLst>
          </p:cNvPr>
          <p:cNvSpPr/>
          <p:nvPr/>
        </p:nvSpPr>
        <p:spPr>
          <a:xfrm>
            <a:off x="554736" y="2274367"/>
            <a:ext cx="2049316" cy="4354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en-US" sz="1400" b="1" i="0" u="none" strike="noStrike" kern="1200" cap="none" spc="0" normalizeH="0" baseline="0" noProof="0">
                <a:ln>
                  <a:noFill/>
                </a:ln>
                <a:solidFill>
                  <a:srgbClr val="FFFFFF"/>
                </a:solidFill>
                <a:effectLst/>
                <a:uLnTx/>
                <a:uFillTx/>
                <a:latin typeface="Arial"/>
                <a:ea typeface="+mn-ea"/>
                <a:cs typeface="+mn-cs"/>
              </a:rPr>
              <a:t>Value at Risk (</a:t>
            </a:r>
            <a:r>
              <a:rPr kumimoji="0" lang="en-US" sz="1400" b="1" i="0" u="none" strike="noStrike" kern="1200" cap="none" spc="0" normalizeH="0" baseline="0" noProof="0" err="1">
                <a:ln>
                  <a:noFill/>
                </a:ln>
                <a:solidFill>
                  <a:srgbClr val="FFFFFF"/>
                </a:solidFill>
                <a:effectLst/>
                <a:uLnTx/>
                <a:uFillTx/>
                <a:latin typeface="Arial"/>
                <a:ea typeface="+mn-ea"/>
                <a:cs typeface="+mn-cs"/>
              </a:rPr>
              <a:t>VaR</a:t>
            </a:r>
            <a:r>
              <a:rPr kumimoji="0" lang="en-US" sz="1400" b="1" i="0" u="none" strike="noStrike" kern="1200" cap="none" spc="0" normalizeH="0" baseline="0" noProof="0">
                <a:ln>
                  <a:noFill/>
                </a:ln>
                <a:solidFill>
                  <a:srgbClr val="FFFFFF"/>
                </a:solidFill>
                <a:effectLst/>
                <a:uLnTx/>
                <a:uFillTx/>
                <a:latin typeface="Arial"/>
                <a:ea typeface="+mn-ea"/>
                <a:cs typeface="+mn-cs"/>
              </a:rPr>
              <a:t>)</a:t>
            </a:r>
          </a:p>
        </p:txBody>
      </p:sp>
      <p:sp>
        <p:nvSpPr>
          <p:cNvPr id="7" name="Rectangle 6">
            <a:extLst>
              <a:ext uri="{FF2B5EF4-FFF2-40B4-BE49-F238E27FC236}">
                <a16:creationId xmlns:a16="http://schemas.microsoft.com/office/drawing/2014/main" id="{E13B48CE-9DCE-5F11-AC79-AB2A0167A4E9}"/>
              </a:ext>
            </a:extLst>
          </p:cNvPr>
          <p:cNvSpPr/>
          <p:nvPr/>
        </p:nvSpPr>
        <p:spPr>
          <a:xfrm>
            <a:off x="554736" y="2887325"/>
            <a:ext cx="2049316" cy="4354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en-US" sz="1400" b="1" i="0" u="none" strike="noStrike" kern="1200" cap="none" spc="0" normalizeH="0" baseline="0" noProof="0">
                <a:ln>
                  <a:noFill/>
                </a:ln>
                <a:solidFill>
                  <a:srgbClr val="FFFFFF"/>
                </a:solidFill>
                <a:effectLst/>
                <a:uLnTx/>
                <a:uFillTx/>
                <a:latin typeface="Arial"/>
                <a:ea typeface="+mn-ea"/>
                <a:cs typeface="+mn-cs"/>
              </a:rPr>
              <a:t>Earning at Risk (</a:t>
            </a:r>
            <a:r>
              <a:rPr kumimoji="0" lang="en-US" sz="1400" b="1" i="0" u="none" strike="noStrike" kern="1200" cap="none" spc="0" normalizeH="0" baseline="0" noProof="0" err="1">
                <a:ln>
                  <a:noFill/>
                </a:ln>
                <a:solidFill>
                  <a:srgbClr val="FFFFFF"/>
                </a:solidFill>
                <a:effectLst/>
                <a:uLnTx/>
                <a:uFillTx/>
                <a:latin typeface="Arial"/>
                <a:ea typeface="+mn-ea"/>
                <a:cs typeface="+mn-cs"/>
              </a:rPr>
              <a:t>EaR</a:t>
            </a:r>
            <a:r>
              <a:rPr kumimoji="0" lang="en-US" sz="1400" b="1" i="0" u="none" strike="noStrike" kern="1200" cap="none" spc="0" normalizeH="0" baseline="0" noProof="0">
                <a:ln>
                  <a:noFill/>
                </a:ln>
                <a:solidFill>
                  <a:srgbClr val="FFFFFF"/>
                </a:solidFill>
                <a:effectLst/>
                <a:uLnTx/>
                <a:uFillTx/>
                <a:latin typeface="Arial"/>
                <a:ea typeface="+mn-ea"/>
                <a:cs typeface="+mn-cs"/>
              </a:rPr>
              <a:t>)</a:t>
            </a:r>
          </a:p>
        </p:txBody>
      </p:sp>
      <p:sp>
        <p:nvSpPr>
          <p:cNvPr id="8" name="TextBox 7">
            <a:extLst>
              <a:ext uri="{FF2B5EF4-FFF2-40B4-BE49-F238E27FC236}">
                <a16:creationId xmlns:a16="http://schemas.microsoft.com/office/drawing/2014/main" id="{FF521791-389D-AEF3-F0BF-BA5883175114}"/>
              </a:ext>
            </a:extLst>
          </p:cNvPr>
          <p:cNvSpPr txBox="1"/>
          <p:nvPr/>
        </p:nvSpPr>
        <p:spPr>
          <a:xfrm>
            <a:off x="2786847" y="1663677"/>
            <a:ext cx="279319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Simple, intuitive measure of interest rate sensitivity</a:t>
            </a:r>
          </a:p>
        </p:txBody>
      </p:sp>
      <p:sp>
        <p:nvSpPr>
          <p:cNvPr id="9" name="TextBox 8">
            <a:extLst>
              <a:ext uri="{FF2B5EF4-FFF2-40B4-BE49-F238E27FC236}">
                <a16:creationId xmlns:a16="http://schemas.microsoft.com/office/drawing/2014/main" id="{D5E95089-2437-987B-092E-F94A11B50232}"/>
              </a:ext>
            </a:extLst>
          </p:cNvPr>
          <p:cNvSpPr txBox="1"/>
          <p:nvPr/>
        </p:nvSpPr>
        <p:spPr>
          <a:xfrm>
            <a:off x="5972426" y="1663676"/>
            <a:ext cx="2601530"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lang="en-US" sz="1400">
                <a:solidFill>
                  <a:srgbClr val="061F32"/>
                </a:solidFill>
                <a:latin typeface="Arial"/>
              </a:rPr>
              <a:t>I</a:t>
            </a: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gnores distribution and tail risk</a:t>
            </a:r>
          </a:p>
        </p:txBody>
      </p:sp>
      <p:sp>
        <p:nvSpPr>
          <p:cNvPr id="10" name="TextBox 9">
            <a:extLst>
              <a:ext uri="{FF2B5EF4-FFF2-40B4-BE49-F238E27FC236}">
                <a16:creationId xmlns:a16="http://schemas.microsoft.com/office/drawing/2014/main" id="{CCF1EB15-C7F5-FC97-59E7-90CF57CAC1D2}"/>
              </a:ext>
            </a:extLst>
          </p:cNvPr>
          <p:cNvSpPr txBox="1"/>
          <p:nvPr/>
        </p:nvSpPr>
        <p:spPr>
          <a:xfrm>
            <a:off x="5971714" y="2276634"/>
            <a:ext cx="2402187"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Focuses on portfolio value rather than liquidity</a:t>
            </a:r>
          </a:p>
        </p:txBody>
      </p:sp>
      <p:sp>
        <p:nvSpPr>
          <p:cNvPr id="11" name="TextBox 10">
            <a:extLst>
              <a:ext uri="{FF2B5EF4-FFF2-40B4-BE49-F238E27FC236}">
                <a16:creationId xmlns:a16="http://schemas.microsoft.com/office/drawing/2014/main" id="{45ACCA50-7D76-D04B-4FC7-EFD0CDB47479}"/>
              </a:ext>
            </a:extLst>
          </p:cNvPr>
          <p:cNvSpPr txBox="1"/>
          <p:nvPr/>
        </p:nvSpPr>
        <p:spPr>
          <a:xfrm>
            <a:off x="2786847" y="2276635"/>
            <a:ext cx="279319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Widely used, regulator-recognized, strong comparability</a:t>
            </a:r>
          </a:p>
        </p:txBody>
      </p:sp>
      <p:sp>
        <p:nvSpPr>
          <p:cNvPr id="12" name="TextBox 11">
            <a:extLst>
              <a:ext uri="{FF2B5EF4-FFF2-40B4-BE49-F238E27FC236}">
                <a16:creationId xmlns:a16="http://schemas.microsoft.com/office/drawing/2014/main" id="{D9FD6659-7A95-ADB5-402E-1A6BDB76F402}"/>
              </a:ext>
            </a:extLst>
          </p:cNvPr>
          <p:cNvSpPr txBox="1"/>
          <p:nvPr/>
        </p:nvSpPr>
        <p:spPr>
          <a:xfrm>
            <a:off x="2786847" y="2906279"/>
            <a:ext cx="279319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Linked to accounting earnings, aligns with financial statements</a:t>
            </a:r>
          </a:p>
        </p:txBody>
      </p:sp>
      <p:sp>
        <p:nvSpPr>
          <p:cNvPr id="13" name="TextBox 12">
            <a:extLst>
              <a:ext uri="{FF2B5EF4-FFF2-40B4-BE49-F238E27FC236}">
                <a16:creationId xmlns:a16="http://schemas.microsoft.com/office/drawing/2014/main" id="{F0D8FE0B-B5B1-AEA6-C7FA-352179D39548}"/>
              </a:ext>
            </a:extLst>
          </p:cNvPr>
          <p:cNvSpPr txBox="1"/>
          <p:nvPr/>
        </p:nvSpPr>
        <p:spPr>
          <a:xfrm>
            <a:off x="5982535" y="2893752"/>
            <a:ext cx="2400610"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May underestimate liquidity stress</a:t>
            </a:r>
          </a:p>
        </p:txBody>
      </p:sp>
      <p:sp>
        <p:nvSpPr>
          <p:cNvPr id="14" name="TextBox 13">
            <a:extLst>
              <a:ext uri="{FF2B5EF4-FFF2-40B4-BE49-F238E27FC236}">
                <a16:creationId xmlns:a16="http://schemas.microsoft.com/office/drawing/2014/main" id="{E3FBFADF-7536-1821-D2BA-065F8B57DC8B}"/>
              </a:ext>
            </a:extLst>
          </p:cNvPr>
          <p:cNvSpPr txBox="1"/>
          <p:nvPr/>
        </p:nvSpPr>
        <p:spPr>
          <a:xfrm>
            <a:off x="554736" y="1275004"/>
            <a:ext cx="2049316" cy="246223"/>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061F32"/>
                </a:solidFill>
                <a:latin typeface="Arial"/>
              </a:rPr>
              <a:t>Approach</a:t>
            </a:r>
            <a:endParaRPr kumimoji="0" lang="en-US" sz="1600" b="1" i="0" u="none" strike="noStrike" kern="1200" cap="none" spc="0" normalizeH="0" baseline="0" noProof="0">
              <a:ln>
                <a:noFill/>
              </a:ln>
              <a:solidFill>
                <a:srgbClr val="061F32"/>
              </a:solidFill>
              <a:effectLst/>
              <a:uLnTx/>
              <a:uFillTx/>
              <a:latin typeface="Arial"/>
              <a:ea typeface="+mn-ea"/>
              <a:cs typeface="+mn-cs"/>
            </a:endParaRPr>
          </a:p>
        </p:txBody>
      </p:sp>
      <p:cxnSp>
        <p:nvCxnSpPr>
          <p:cNvPr id="15" name="Straight Connector 14">
            <a:extLst>
              <a:ext uri="{FF2B5EF4-FFF2-40B4-BE49-F238E27FC236}">
                <a16:creationId xmlns:a16="http://schemas.microsoft.com/office/drawing/2014/main" id="{7AFF1443-0C83-3015-5638-8CAC081752AC}"/>
              </a:ext>
            </a:extLst>
          </p:cNvPr>
          <p:cNvCxnSpPr>
            <a:cxnSpLocks/>
          </p:cNvCxnSpPr>
          <p:nvPr/>
        </p:nvCxnSpPr>
        <p:spPr>
          <a:xfrm>
            <a:off x="554736" y="1572641"/>
            <a:ext cx="2049316"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BB3E437-C708-236F-BCFE-415C6F303328}"/>
              </a:ext>
            </a:extLst>
          </p:cNvPr>
          <p:cNvSpPr txBox="1"/>
          <p:nvPr/>
        </p:nvSpPr>
        <p:spPr>
          <a:xfrm>
            <a:off x="2786847" y="1275002"/>
            <a:ext cx="4944969" cy="246223"/>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061F32"/>
                </a:solidFill>
                <a:latin typeface="Arial"/>
              </a:rPr>
              <a:t>Advantages</a:t>
            </a:r>
            <a:endParaRPr kumimoji="0" lang="en-US" sz="1600" b="1" i="0" u="none" strike="noStrike" kern="1200" cap="none" spc="0" normalizeH="0" baseline="0" noProof="0">
              <a:ln>
                <a:noFill/>
              </a:ln>
              <a:solidFill>
                <a:srgbClr val="061F32"/>
              </a:solidFill>
              <a:effectLst/>
              <a:uLnTx/>
              <a:uFillTx/>
              <a:latin typeface="Arial"/>
              <a:ea typeface="+mn-ea"/>
              <a:cs typeface="+mn-cs"/>
            </a:endParaRPr>
          </a:p>
        </p:txBody>
      </p:sp>
      <p:cxnSp>
        <p:nvCxnSpPr>
          <p:cNvPr id="17" name="Straight Connector 16">
            <a:extLst>
              <a:ext uri="{FF2B5EF4-FFF2-40B4-BE49-F238E27FC236}">
                <a16:creationId xmlns:a16="http://schemas.microsoft.com/office/drawing/2014/main" id="{65AA8F70-972E-7C72-C889-EE5EFE936C87}"/>
              </a:ext>
            </a:extLst>
          </p:cNvPr>
          <p:cNvCxnSpPr>
            <a:cxnSpLocks/>
          </p:cNvCxnSpPr>
          <p:nvPr/>
        </p:nvCxnSpPr>
        <p:spPr>
          <a:xfrm>
            <a:off x="2786847" y="1567804"/>
            <a:ext cx="2889124" cy="4835"/>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1FF7063-35BF-CCAA-C779-06437BC740B0}"/>
              </a:ext>
            </a:extLst>
          </p:cNvPr>
          <p:cNvSpPr txBox="1"/>
          <p:nvPr/>
        </p:nvSpPr>
        <p:spPr>
          <a:xfrm>
            <a:off x="5977054" y="1275004"/>
            <a:ext cx="3710887" cy="24622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061F32"/>
                </a:solidFill>
                <a:latin typeface="Arial"/>
              </a:rPr>
              <a:t>Disadvantages</a:t>
            </a:r>
            <a:endParaRPr kumimoji="0" lang="en-US" sz="1600" b="1" i="0" u="none" strike="noStrike" kern="1200" cap="none" spc="0" normalizeH="0" baseline="0" noProof="0">
              <a:ln>
                <a:noFill/>
              </a:ln>
              <a:solidFill>
                <a:srgbClr val="061F32"/>
              </a:solidFill>
              <a:effectLst/>
              <a:uLnTx/>
              <a:uFillTx/>
              <a:latin typeface="Arial"/>
              <a:ea typeface="+mn-ea"/>
              <a:cs typeface="+mn-cs"/>
            </a:endParaRPr>
          </a:p>
        </p:txBody>
      </p:sp>
      <p:cxnSp>
        <p:nvCxnSpPr>
          <p:cNvPr id="19" name="Straight Connector 18">
            <a:extLst>
              <a:ext uri="{FF2B5EF4-FFF2-40B4-BE49-F238E27FC236}">
                <a16:creationId xmlns:a16="http://schemas.microsoft.com/office/drawing/2014/main" id="{E0F4880D-FFD6-21FC-D72A-58327845587D}"/>
              </a:ext>
            </a:extLst>
          </p:cNvPr>
          <p:cNvCxnSpPr>
            <a:cxnSpLocks/>
          </p:cNvCxnSpPr>
          <p:nvPr/>
        </p:nvCxnSpPr>
        <p:spPr>
          <a:xfrm>
            <a:off x="5977054" y="1572639"/>
            <a:ext cx="2411572"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C3586EF-D147-2BAA-F728-AF520CEB6572}"/>
              </a:ext>
            </a:extLst>
          </p:cNvPr>
          <p:cNvCxnSpPr>
            <a:cxnSpLocks/>
          </p:cNvCxnSpPr>
          <p:nvPr/>
        </p:nvCxnSpPr>
        <p:spPr>
          <a:xfrm>
            <a:off x="554736" y="2798557"/>
            <a:ext cx="11082528" cy="0"/>
          </a:xfrm>
          <a:prstGeom prst="line">
            <a:avLst/>
          </a:prstGeom>
          <a:ln w="952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142135F-FA79-7768-5884-1EA98320E90A}"/>
              </a:ext>
            </a:extLst>
          </p:cNvPr>
          <p:cNvSpPr txBox="1"/>
          <p:nvPr/>
        </p:nvSpPr>
        <p:spPr>
          <a:xfrm>
            <a:off x="8699106" y="1669150"/>
            <a:ext cx="3023490"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fontAlgn="b">
              <a:spcBef>
                <a:spcPts val="0"/>
              </a:spcBef>
              <a:spcAft>
                <a:spcPts val="600"/>
              </a:spcAft>
              <a:buClr>
                <a:srgbClr val="061F32"/>
              </a:buClr>
              <a:buFont typeface="Arial" panose="020B0604020202020204" pitchFamily="34" charset="0"/>
              <a:buChar char="•"/>
              <a:defRPr/>
            </a:pPr>
            <a:r>
              <a:rPr kumimoji="0" lang="en-US" sz="1400" b="0" i="0" u="none" strike="noStrike" kern="1200" cap="none" spc="0" normalizeH="0" baseline="0" err="1">
                <a:ln>
                  <a:noFill/>
                </a:ln>
                <a:solidFill>
                  <a:srgbClr val="061F32"/>
                </a:solidFill>
                <a:effectLst/>
                <a:uLnTx/>
                <a:uFillTx/>
                <a:latin typeface="Arial"/>
                <a:ea typeface="+mn-ea"/>
                <a:cs typeface="Arial"/>
              </a:rPr>
              <a:t>CFaR</a:t>
            </a:r>
            <a:r>
              <a:rPr kumimoji="0" lang="en-US" sz="1400" b="0" i="0" u="none" strike="noStrike" kern="1200" cap="none" spc="0" normalizeH="0" baseline="0">
                <a:ln>
                  <a:noFill/>
                </a:ln>
                <a:solidFill>
                  <a:srgbClr val="061F32"/>
                </a:solidFill>
                <a:effectLst/>
                <a:uLnTx/>
                <a:uFillTx/>
                <a:latin typeface="Arial"/>
                <a:ea typeface="+mn-ea"/>
                <a:cs typeface="Arial"/>
              </a:rPr>
              <a:t> captures full distribution </a:t>
            </a:r>
            <a:r>
              <a:rPr lang="en-US" sz="1400">
                <a:solidFill>
                  <a:srgbClr val="061F32"/>
                </a:solidFill>
                <a:latin typeface="Arial"/>
                <a:cs typeface="Arial"/>
              </a:rPr>
              <a:t>in cash and</a:t>
            </a:r>
            <a:r>
              <a:rPr kumimoji="0" lang="en-US" sz="1400" b="0" i="0" u="none" strike="noStrike" kern="1200" cap="none" spc="0" normalizeH="0" baseline="0">
                <a:ln>
                  <a:noFill/>
                </a:ln>
                <a:solidFill>
                  <a:srgbClr val="061F32"/>
                </a:solidFill>
                <a:effectLst/>
                <a:uLnTx/>
                <a:uFillTx/>
                <a:latin typeface="Arial"/>
                <a:ea typeface="+mn-ea"/>
                <a:cs typeface="Arial"/>
              </a:rPr>
              <a:t> tail risk, not just sensitivity</a:t>
            </a:r>
          </a:p>
        </p:txBody>
      </p:sp>
      <p:sp>
        <p:nvSpPr>
          <p:cNvPr id="30" name="TextBox 29">
            <a:extLst>
              <a:ext uri="{FF2B5EF4-FFF2-40B4-BE49-F238E27FC236}">
                <a16:creationId xmlns:a16="http://schemas.microsoft.com/office/drawing/2014/main" id="{DACC34CE-621D-B41A-507F-4EC52CA3EF0C}"/>
              </a:ext>
            </a:extLst>
          </p:cNvPr>
          <p:cNvSpPr txBox="1"/>
          <p:nvPr/>
        </p:nvSpPr>
        <p:spPr>
          <a:xfrm>
            <a:off x="8688519" y="2277378"/>
            <a:ext cx="3023490"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fontAlgn="b">
              <a:spcBef>
                <a:spcPts val="0"/>
              </a:spcBef>
              <a:spcAft>
                <a:spcPts val="600"/>
              </a:spcAft>
              <a:buClr>
                <a:srgbClr val="061F32"/>
              </a:buClr>
              <a:buFont typeface="Arial" panose="020B0604020202020204" pitchFamily="34" charset="0"/>
              <a:buChar char="•"/>
              <a:defRPr/>
            </a:pPr>
            <a:r>
              <a:rPr kumimoji="0" lang="en-US" sz="1400" b="0" i="0" u="none" strike="noStrike" kern="1200" cap="none" spc="0" normalizeH="0" baseline="0" err="1">
                <a:ln>
                  <a:noFill/>
                </a:ln>
                <a:solidFill>
                  <a:srgbClr val="061F32"/>
                </a:solidFill>
                <a:effectLst/>
                <a:uLnTx/>
                <a:uFillTx/>
                <a:latin typeface="Arial"/>
                <a:ea typeface="+mn-ea"/>
                <a:cs typeface="Arial"/>
              </a:rPr>
              <a:t>CFaR</a:t>
            </a:r>
            <a:r>
              <a:rPr kumimoji="0" lang="en-US" sz="1400" b="0" i="0" u="none" strike="noStrike" kern="1200" cap="none" spc="0" normalizeH="0" baseline="0">
                <a:ln>
                  <a:noFill/>
                </a:ln>
                <a:solidFill>
                  <a:srgbClr val="061F32"/>
                </a:solidFill>
                <a:effectLst/>
                <a:uLnTx/>
                <a:uFillTx/>
                <a:latin typeface="Arial"/>
                <a:ea typeface="+mn-ea"/>
                <a:cs typeface="Arial"/>
              </a:rPr>
              <a:t> focuses on </a:t>
            </a:r>
            <a:r>
              <a:rPr lang="en-US" sz="1400">
                <a:solidFill>
                  <a:srgbClr val="061F32"/>
                </a:solidFill>
                <a:latin typeface="Arial"/>
                <a:cs typeface="Arial"/>
              </a:rPr>
              <a:t>liquidity and budget </a:t>
            </a:r>
            <a:r>
              <a:rPr lang="en-US" sz="1400" err="1">
                <a:solidFill>
                  <a:srgbClr val="061F32"/>
                </a:solidFill>
                <a:latin typeface="Arial"/>
                <a:cs typeface="Arial"/>
              </a:rPr>
              <a:t>certainity</a:t>
            </a:r>
            <a:endParaRPr kumimoji="0" lang="en-US" sz="1400" b="0" i="0" u="none" strike="noStrike" kern="1200" cap="none" spc="0" normalizeH="0" baseline="0" err="1">
              <a:ln>
                <a:noFill/>
              </a:ln>
              <a:solidFill>
                <a:srgbClr val="061F32"/>
              </a:solidFill>
              <a:effectLst/>
              <a:uLnTx/>
              <a:uFillTx/>
              <a:latin typeface="Arial"/>
              <a:ea typeface="+mn-ea"/>
              <a:cs typeface="Arial"/>
            </a:endParaRPr>
          </a:p>
        </p:txBody>
      </p:sp>
      <p:sp>
        <p:nvSpPr>
          <p:cNvPr id="31" name="TextBox 30">
            <a:extLst>
              <a:ext uri="{FF2B5EF4-FFF2-40B4-BE49-F238E27FC236}">
                <a16:creationId xmlns:a16="http://schemas.microsoft.com/office/drawing/2014/main" id="{4D92DF43-742B-6658-DCEA-F4C64B2F1357}"/>
              </a:ext>
            </a:extLst>
          </p:cNvPr>
          <p:cNvSpPr txBox="1"/>
          <p:nvPr/>
        </p:nvSpPr>
        <p:spPr>
          <a:xfrm>
            <a:off x="8688519" y="2902919"/>
            <a:ext cx="3023490"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err="1">
                <a:ln>
                  <a:noFill/>
                </a:ln>
                <a:solidFill>
                  <a:srgbClr val="061F32"/>
                </a:solidFill>
                <a:effectLst/>
                <a:uLnTx/>
                <a:uFillTx/>
                <a:latin typeface="Arial"/>
                <a:ea typeface="+mn-ea"/>
                <a:cs typeface="Arial" panose="020B0604020202020204" pitchFamily="34" charset="0"/>
              </a:rPr>
              <a:t>CFaR</a:t>
            </a: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 highlights cashflow pressure beyond reported earnings</a:t>
            </a:r>
          </a:p>
        </p:txBody>
      </p:sp>
      <p:sp>
        <p:nvSpPr>
          <p:cNvPr id="32" name="TextBox 31">
            <a:extLst>
              <a:ext uri="{FF2B5EF4-FFF2-40B4-BE49-F238E27FC236}">
                <a16:creationId xmlns:a16="http://schemas.microsoft.com/office/drawing/2014/main" id="{E4E5A649-65A6-F3C4-96E1-E8410FEDF484}"/>
              </a:ext>
            </a:extLst>
          </p:cNvPr>
          <p:cNvSpPr txBox="1"/>
          <p:nvPr/>
        </p:nvSpPr>
        <p:spPr>
          <a:xfrm>
            <a:off x="8699107" y="1275004"/>
            <a:ext cx="3023490" cy="24622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61F32"/>
                </a:solidFill>
                <a:effectLst/>
                <a:uLnTx/>
                <a:uFillTx/>
                <a:latin typeface="Arial"/>
                <a:ea typeface="+mn-ea"/>
                <a:cs typeface="+mn-cs"/>
              </a:rPr>
              <a:t>Difference vs. </a:t>
            </a:r>
            <a:r>
              <a:rPr kumimoji="0" lang="en-US" sz="1600" b="1" i="0" u="none" strike="noStrike" kern="1200" cap="none" spc="0" normalizeH="0" baseline="0" noProof="0" err="1">
                <a:ln>
                  <a:noFill/>
                </a:ln>
                <a:solidFill>
                  <a:srgbClr val="061F32"/>
                </a:solidFill>
                <a:effectLst/>
                <a:uLnTx/>
                <a:uFillTx/>
                <a:latin typeface="Arial"/>
                <a:ea typeface="+mn-ea"/>
                <a:cs typeface="+mn-cs"/>
              </a:rPr>
              <a:t>CFaR</a:t>
            </a:r>
            <a:endParaRPr kumimoji="0" lang="en-US" sz="1600" b="1" i="0" u="none" strike="noStrike" kern="1200" cap="none" spc="0" normalizeH="0" baseline="0" noProof="0">
              <a:ln>
                <a:noFill/>
              </a:ln>
              <a:solidFill>
                <a:srgbClr val="061F32"/>
              </a:solidFill>
              <a:effectLst/>
              <a:uLnTx/>
              <a:uFillTx/>
              <a:latin typeface="Arial"/>
              <a:ea typeface="+mn-ea"/>
              <a:cs typeface="+mn-cs"/>
            </a:endParaRPr>
          </a:p>
        </p:txBody>
      </p:sp>
      <p:cxnSp>
        <p:nvCxnSpPr>
          <p:cNvPr id="33" name="Straight Connector 32">
            <a:extLst>
              <a:ext uri="{FF2B5EF4-FFF2-40B4-BE49-F238E27FC236}">
                <a16:creationId xmlns:a16="http://schemas.microsoft.com/office/drawing/2014/main" id="{390CD24D-3763-73E0-B75A-B2AFDA6920C4}"/>
              </a:ext>
            </a:extLst>
          </p:cNvPr>
          <p:cNvCxnSpPr>
            <a:cxnSpLocks/>
          </p:cNvCxnSpPr>
          <p:nvPr/>
        </p:nvCxnSpPr>
        <p:spPr>
          <a:xfrm>
            <a:off x="8699107" y="1572639"/>
            <a:ext cx="302348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Straight Connector 22">
            <a:extLst>
              <a:ext uri="{FF2B5EF4-FFF2-40B4-BE49-F238E27FC236}">
                <a16:creationId xmlns:a16="http://schemas.microsoft.com/office/drawing/2014/main" id="{415CF303-A2E4-86F5-E823-0204C649D100}"/>
              </a:ext>
            </a:extLst>
          </p:cNvPr>
          <p:cNvCxnSpPr>
            <a:cxnSpLocks/>
          </p:cNvCxnSpPr>
          <p:nvPr/>
        </p:nvCxnSpPr>
        <p:spPr>
          <a:xfrm>
            <a:off x="554736" y="3429000"/>
            <a:ext cx="11082528" cy="0"/>
          </a:xfrm>
          <a:prstGeom prst="line">
            <a:avLst/>
          </a:prstGeom>
          <a:ln w="952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0" name="Rectangle 3">
            <a:extLst>
              <a:ext uri="{FF2B5EF4-FFF2-40B4-BE49-F238E27FC236}">
                <a16:creationId xmlns:a16="http://schemas.microsoft.com/office/drawing/2014/main" id="{3BE37DB5-A015-E907-09B4-27F33B33DFC8}"/>
              </a:ext>
            </a:extLst>
          </p:cNvPr>
          <p:cNvSpPr/>
          <p:nvPr/>
        </p:nvSpPr>
        <p:spPr>
          <a:xfrm>
            <a:off x="554736" y="3535254"/>
            <a:ext cx="2049316" cy="4354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Scenario/Stress test</a:t>
            </a:r>
          </a:p>
        </p:txBody>
      </p:sp>
      <p:sp>
        <p:nvSpPr>
          <p:cNvPr id="21" name="TextBox 11">
            <a:extLst>
              <a:ext uri="{FF2B5EF4-FFF2-40B4-BE49-F238E27FC236}">
                <a16:creationId xmlns:a16="http://schemas.microsoft.com/office/drawing/2014/main" id="{F4B9230E-85A1-65CB-4228-36734DE71F98}"/>
              </a:ext>
            </a:extLst>
          </p:cNvPr>
          <p:cNvSpPr txBox="1"/>
          <p:nvPr/>
        </p:nvSpPr>
        <p:spPr>
          <a:xfrm>
            <a:off x="2786847" y="3520835"/>
            <a:ext cx="279319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Flexible, easy to communicate “what-if” stories</a:t>
            </a:r>
          </a:p>
        </p:txBody>
      </p:sp>
      <p:sp>
        <p:nvSpPr>
          <p:cNvPr id="22" name="TextBox 12">
            <a:extLst>
              <a:ext uri="{FF2B5EF4-FFF2-40B4-BE49-F238E27FC236}">
                <a16:creationId xmlns:a16="http://schemas.microsoft.com/office/drawing/2014/main" id="{1DD3542D-0176-007C-7099-6DE7828F0A12}"/>
              </a:ext>
            </a:extLst>
          </p:cNvPr>
          <p:cNvSpPr txBox="1"/>
          <p:nvPr/>
        </p:nvSpPr>
        <p:spPr>
          <a:xfrm>
            <a:off x="5970671" y="3509578"/>
            <a:ext cx="2793193"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lang="en-US" sz="1400">
                <a:solidFill>
                  <a:srgbClr val="061F32"/>
                </a:solidFill>
                <a:latin typeface="Arial"/>
              </a:rPr>
              <a:t>D</a:t>
            </a: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epend on assumptions, no probability meaning</a:t>
            </a:r>
          </a:p>
        </p:txBody>
      </p:sp>
      <p:sp>
        <p:nvSpPr>
          <p:cNvPr id="24" name="TextBox 30">
            <a:extLst>
              <a:ext uri="{FF2B5EF4-FFF2-40B4-BE49-F238E27FC236}">
                <a16:creationId xmlns:a16="http://schemas.microsoft.com/office/drawing/2014/main" id="{6EEAEBF7-3F86-287A-2039-49E77B02D178}"/>
              </a:ext>
            </a:extLst>
          </p:cNvPr>
          <p:cNvSpPr txBox="1"/>
          <p:nvPr/>
        </p:nvSpPr>
        <p:spPr>
          <a:xfrm>
            <a:off x="8699105" y="3511106"/>
            <a:ext cx="3136139"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err="1">
                <a:ln>
                  <a:noFill/>
                </a:ln>
                <a:solidFill>
                  <a:srgbClr val="061F32"/>
                </a:solidFill>
                <a:effectLst/>
                <a:uLnTx/>
                <a:uFillTx/>
                <a:latin typeface="Arial"/>
                <a:ea typeface="+mn-ea"/>
                <a:cs typeface="Arial" panose="020B0604020202020204" pitchFamily="34" charset="0"/>
              </a:rPr>
              <a:t>CFaR</a:t>
            </a: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 provides a probabilistic, confidence-level based risk measure</a:t>
            </a:r>
          </a:p>
        </p:txBody>
      </p:sp>
      <p:sp>
        <p:nvSpPr>
          <p:cNvPr id="27" name="Rectangle 4">
            <a:extLst>
              <a:ext uri="{FF2B5EF4-FFF2-40B4-BE49-F238E27FC236}">
                <a16:creationId xmlns:a16="http://schemas.microsoft.com/office/drawing/2014/main" id="{C588E6F8-A598-AA4F-239D-6027BE368BF5}"/>
              </a:ext>
            </a:extLst>
          </p:cNvPr>
          <p:cNvSpPr/>
          <p:nvPr/>
        </p:nvSpPr>
        <p:spPr>
          <a:xfrm>
            <a:off x="554736" y="4296568"/>
            <a:ext cx="5415935" cy="179551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tx2">
                  <a:lumMod val="10000"/>
                </a:schemeClr>
              </a:solidFill>
            </a:endParaRPr>
          </a:p>
        </p:txBody>
      </p:sp>
      <p:sp>
        <p:nvSpPr>
          <p:cNvPr id="28" name="Rectangle 7">
            <a:extLst>
              <a:ext uri="{FF2B5EF4-FFF2-40B4-BE49-F238E27FC236}">
                <a16:creationId xmlns:a16="http://schemas.microsoft.com/office/drawing/2014/main" id="{2B0E8DE7-9BD4-9030-DFC0-5176A8B9A937}"/>
              </a:ext>
            </a:extLst>
          </p:cNvPr>
          <p:cNvSpPr/>
          <p:nvPr/>
        </p:nvSpPr>
        <p:spPr>
          <a:xfrm>
            <a:off x="6096000" y="4296568"/>
            <a:ext cx="5616009" cy="17955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bg1"/>
              </a:solidFill>
            </a:endParaRPr>
          </a:p>
        </p:txBody>
      </p:sp>
      <p:sp>
        <p:nvSpPr>
          <p:cNvPr id="35" name="TextBox 17">
            <a:extLst>
              <a:ext uri="{FF2B5EF4-FFF2-40B4-BE49-F238E27FC236}">
                <a16:creationId xmlns:a16="http://schemas.microsoft.com/office/drawing/2014/main" id="{BD040E8E-0C27-E1DD-0D63-BD635037C35F}"/>
              </a:ext>
            </a:extLst>
          </p:cNvPr>
          <p:cNvSpPr txBox="1"/>
          <p:nvPr/>
        </p:nvSpPr>
        <p:spPr>
          <a:xfrm>
            <a:off x="608702" y="4347937"/>
            <a:ext cx="5286260" cy="1692771"/>
          </a:xfrm>
          <a:prstGeom prst="rect">
            <a:avLst/>
          </a:prstGeom>
          <a:noFill/>
        </p:spPr>
        <p:txBody>
          <a:bodyPr wrap="square" lIns="91440" tIns="45720" rIns="91440" bIns="45720" rtlCol="0" anchor="t">
            <a:spAutoFit/>
          </a:bodyPr>
          <a:lstStyle/>
          <a:p>
            <a:pPr algn="just"/>
            <a:r>
              <a:rPr lang="en-US" sz="2000" b="1" err="1">
                <a:solidFill>
                  <a:schemeClr val="bg1"/>
                </a:solidFill>
              </a:rPr>
              <a:t>CFaR</a:t>
            </a:r>
            <a:r>
              <a:rPr lang="en-US" sz="2000" b="1">
                <a:solidFill>
                  <a:schemeClr val="bg1"/>
                </a:solidFill>
              </a:rPr>
              <a:t> Pros</a:t>
            </a:r>
            <a:endParaRPr lang="en-US" sz="2800">
              <a:solidFill>
                <a:schemeClr val="bg1"/>
              </a:solidFill>
            </a:endParaRPr>
          </a:p>
          <a:p>
            <a:pPr algn="just"/>
            <a:endParaRPr lang="en-US" sz="1400">
              <a:solidFill>
                <a:schemeClr val="bg1"/>
              </a:solidFill>
            </a:endParaRPr>
          </a:p>
          <a:p>
            <a:pPr marL="285750" indent="-285750" algn="just">
              <a:buFont typeface="Arial" panose="020B0604020202020204" pitchFamily="34" charset="0"/>
              <a:buChar char="•"/>
            </a:pPr>
            <a:r>
              <a:rPr lang="en-US" sz="1400">
                <a:solidFill>
                  <a:schemeClr val="bg1"/>
                </a:solidFill>
              </a:rPr>
              <a:t>Dollarized measure: Expressed directly in cash (extra potential outflow)</a:t>
            </a:r>
          </a:p>
          <a:p>
            <a:pPr marL="285750" indent="-285750" algn="just">
              <a:buFont typeface="Arial" panose="020B0604020202020204" pitchFamily="34" charset="0"/>
              <a:buChar char="•"/>
            </a:pPr>
            <a:r>
              <a:rPr lang="en-US" sz="1400">
                <a:solidFill>
                  <a:schemeClr val="bg1"/>
                </a:solidFill>
                <a:ea typeface="+mn-lt"/>
                <a:cs typeface="+mn-lt"/>
              </a:rPr>
              <a:t>Liquidity-centric</a:t>
            </a:r>
          </a:p>
          <a:p>
            <a:pPr marL="285750" indent="-285750" algn="just">
              <a:buFont typeface="Arial" panose="020B0604020202020204" pitchFamily="34" charset="0"/>
              <a:buChar char="•"/>
            </a:pPr>
            <a:r>
              <a:rPr lang="en-US" sz="1400">
                <a:solidFill>
                  <a:schemeClr val="bg1"/>
                </a:solidFill>
                <a:cs typeface="Arial"/>
              </a:rPr>
              <a:t>Probabilistic Measure </a:t>
            </a:r>
          </a:p>
          <a:p>
            <a:pPr marL="285750" indent="-285750" algn="just">
              <a:buFont typeface="Arial" panose="020B0604020202020204" pitchFamily="34" charset="0"/>
              <a:buChar char="•"/>
            </a:pPr>
            <a:r>
              <a:rPr lang="en-US" sz="1400">
                <a:solidFill>
                  <a:schemeClr val="bg1"/>
                </a:solidFill>
                <a:cs typeface="Arial"/>
              </a:rPr>
              <a:t>Captures market risk drivers (rates, FX, </a:t>
            </a:r>
            <a:r>
              <a:rPr lang="en-US" sz="1400" err="1">
                <a:solidFill>
                  <a:schemeClr val="bg1"/>
                </a:solidFill>
                <a:cs typeface="Arial"/>
              </a:rPr>
              <a:t>etc</a:t>
            </a:r>
            <a:r>
              <a:rPr lang="en-US" sz="1400">
                <a:solidFill>
                  <a:schemeClr val="bg1"/>
                </a:solidFill>
                <a:cs typeface="Arial"/>
              </a:rPr>
              <a:t>)</a:t>
            </a:r>
            <a:endParaRPr lang="en-US">
              <a:solidFill>
                <a:schemeClr val="bg1"/>
              </a:solidFill>
            </a:endParaRPr>
          </a:p>
        </p:txBody>
      </p:sp>
      <p:sp>
        <p:nvSpPr>
          <p:cNvPr id="36" name="TextBox 19">
            <a:extLst>
              <a:ext uri="{FF2B5EF4-FFF2-40B4-BE49-F238E27FC236}">
                <a16:creationId xmlns:a16="http://schemas.microsoft.com/office/drawing/2014/main" id="{10A990FC-2DAF-86D0-2F5E-6B371B7CCA83}"/>
              </a:ext>
            </a:extLst>
          </p:cNvPr>
          <p:cNvSpPr txBox="1"/>
          <p:nvPr/>
        </p:nvSpPr>
        <p:spPr>
          <a:xfrm>
            <a:off x="6242059" y="4347937"/>
            <a:ext cx="3622707" cy="1261884"/>
          </a:xfrm>
          <a:prstGeom prst="rect">
            <a:avLst/>
          </a:prstGeom>
          <a:noFill/>
        </p:spPr>
        <p:txBody>
          <a:bodyPr wrap="square" lIns="91440" tIns="45720" rIns="91440" bIns="45720" rtlCol="0" anchor="t">
            <a:spAutoFit/>
          </a:bodyPr>
          <a:lstStyle/>
          <a:p>
            <a:pPr algn="just"/>
            <a:r>
              <a:rPr lang="en-US" sz="2000" b="1" err="1"/>
              <a:t>CFaR</a:t>
            </a:r>
            <a:r>
              <a:rPr lang="en-US" sz="2000" b="1"/>
              <a:t> Cons</a:t>
            </a:r>
            <a:endParaRPr lang="en-US" sz="2000"/>
          </a:p>
          <a:p>
            <a:pPr algn="just"/>
            <a:endParaRPr lang="en-US" sz="1400" b="1"/>
          </a:p>
          <a:p>
            <a:pPr marL="285750" indent="-285750" algn="just">
              <a:buFont typeface="Arial" panose="020B0604020202020204" pitchFamily="34" charset="0"/>
              <a:buChar char="•"/>
            </a:pPr>
            <a:r>
              <a:rPr lang="en-US" sz="1400"/>
              <a:t>Model and calibration dependent</a:t>
            </a:r>
          </a:p>
          <a:p>
            <a:pPr marL="285750" indent="-285750" algn="just">
              <a:buFont typeface="Arial" panose="020B0604020202020204" pitchFamily="34" charset="0"/>
              <a:buChar char="•"/>
            </a:pPr>
            <a:r>
              <a:rPr lang="en-US" sz="1400"/>
              <a:t>Data Heavy</a:t>
            </a:r>
          </a:p>
          <a:p>
            <a:pPr marL="285750" indent="-285750" algn="just">
              <a:buFont typeface="Arial" panose="020B0604020202020204" pitchFamily="34" charset="0"/>
              <a:buChar char="•"/>
            </a:pPr>
            <a:r>
              <a:rPr lang="en-US" sz="1400">
                <a:ea typeface="+mn-lt"/>
                <a:cs typeface="+mn-lt"/>
              </a:rPr>
              <a:t>Not regulator-standardized</a:t>
            </a:r>
            <a:endParaRPr lang="en-US" sz="1400">
              <a:cs typeface="Arial"/>
            </a:endParaRPr>
          </a:p>
        </p:txBody>
      </p:sp>
    </p:spTree>
    <p:extLst>
      <p:ext uri="{BB962C8B-B14F-4D97-AF65-F5344CB8AC3E}">
        <p14:creationId xmlns:p14="http://schemas.microsoft.com/office/powerpoint/2010/main" val="1017681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08C31-15B8-2CFE-8FF6-46FA75016F89}"/>
              </a:ext>
            </a:extLst>
          </p:cNvPr>
          <p:cNvSpPr>
            <a:spLocks noGrp="1"/>
          </p:cNvSpPr>
          <p:nvPr>
            <p:ph type="title"/>
          </p:nvPr>
        </p:nvSpPr>
        <p:spPr/>
        <p:txBody>
          <a:bodyPr/>
          <a:lstStyle/>
          <a:p>
            <a:r>
              <a:rPr lang="en-US">
                <a:ea typeface="+mj-lt"/>
                <a:cs typeface="+mj-lt"/>
              </a:rPr>
              <a:t>Why Cash Flow at Risk Matters</a:t>
            </a:r>
            <a:endParaRPr lang="en-US"/>
          </a:p>
        </p:txBody>
      </p:sp>
      <p:sp>
        <p:nvSpPr>
          <p:cNvPr id="8" name="Subtitle 7">
            <a:extLst>
              <a:ext uri="{FF2B5EF4-FFF2-40B4-BE49-F238E27FC236}">
                <a16:creationId xmlns:a16="http://schemas.microsoft.com/office/drawing/2014/main" id="{BC968C4D-BC31-B724-1C75-DE924A364A9C}"/>
              </a:ext>
            </a:extLst>
          </p:cNvPr>
          <p:cNvSpPr>
            <a:spLocks noGrp="1"/>
          </p:cNvSpPr>
          <p:nvPr>
            <p:ph type="subTitle" idx="1"/>
          </p:nvPr>
        </p:nvSpPr>
        <p:spPr/>
        <p:txBody>
          <a:bodyPr vert="horz" wrap="square" lIns="0" tIns="0" rIns="0" bIns="0" rtlCol="0" anchor="t">
            <a:noAutofit/>
          </a:bodyPr>
          <a:lstStyle/>
          <a:p>
            <a:endParaRPr lang="en-US"/>
          </a:p>
          <a:p>
            <a:endParaRPr lang="en-US"/>
          </a:p>
        </p:txBody>
      </p:sp>
      <p:sp>
        <p:nvSpPr>
          <p:cNvPr id="6" name="TextBox 5">
            <a:extLst>
              <a:ext uri="{FF2B5EF4-FFF2-40B4-BE49-F238E27FC236}">
                <a16:creationId xmlns:a16="http://schemas.microsoft.com/office/drawing/2014/main" id="{2671F7A7-CADE-BE8F-EE69-4D361A46FA5D}"/>
              </a:ext>
            </a:extLst>
          </p:cNvPr>
          <p:cNvSpPr txBox="1"/>
          <p:nvPr/>
        </p:nvSpPr>
        <p:spPr>
          <a:xfrm>
            <a:off x="554734" y="1659872"/>
            <a:ext cx="11082527" cy="369332"/>
          </a:xfrm>
          <a:prstGeom prst="rect">
            <a:avLst/>
          </a:prstGeom>
          <a:noFill/>
          <a:ln w="6350">
            <a:noFill/>
            <a:miter lim="800000"/>
          </a:ln>
        </p:spPr>
        <p:txBody>
          <a:bodyPr wrap="square" lIns="91440" tIns="45720" rIns="91440" bIns="45720" anchor="t">
            <a:spAutoFit/>
          </a:bodyPr>
          <a:lstStyle/>
          <a:p>
            <a:pPr algn="ctr"/>
            <a:r>
              <a:rPr lang="en-US" i="1">
                <a:solidFill>
                  <a:schemeClr val="bg1"/>
                </a:solidFill>
                <a:ea typeface="+mn-lt"/>
                <a:cs typeface="+mn-lt"/>
              </a:rPr>
              <a:t>Multiple exposures, different timings, various risk types → We need integrated measurement</a:t>
            </a:r>
            <a:endParaRPr lang="en-US">
              <a:solidFill>
                <a:schemeClr val="bg1"/>
              </a:solidFill>
              <a:cs typeface="Arial"/>
            </a:endParaRPr>
          </a:p>
        </p:txBody>
      </p:sp>
      <p:sp>
        <p:nvSpPr>
          <p:cNvPr id="10" name="TextBox 9">
            <a:extLst>
              <a:ext uri="{FF2B5EF4-FFF2-40B4-BE49-F238E27FC236}">
                <a16:creationId xmlns:a16="http://schemas.microsoft.com/office/drawing/2014/main" id="{DFFEFCF9-C304-1B3C-7D8D-29837E13CA36}"/>
              </a:ext>
            </a:extLst>
          </p:cNvPr>
          <p:cNvSpPr txBox="1"/>
          <p:nvPr/>
        </p:nvSpPr>
        <p:spPr>
          <a:xfrm>
            <a:off x="554734" y="3030166"/>
            <a:ext cx="11082527" cy="2585323"/>
          </a:xfrm>
          <a:prstGeom prst="rect">
            <a:avLst/>
          </a:prstGeom>
          <a:noFill/>
          <a:ln w="6350">
            <a:noFill/>
            <a:miter lim="800000"/>
          </a:ln>
        </p:spPr>
        <p:txBody>
          <a:bodyPr wrap="square" lIns="91440" tIns="45720" rIns="91440" bIns="45720" anchor="t">
            <a:spAutoFit/>
          </a:bodyPr>
          <a:lstStyle/>
          <a:p>
            <a:pPr marL="285750" indent="-285750">
              <a:buFont typeface="Arial"/>
              <a:buChar char="•"/>
            </a:pPr>
            <a:r>
              <a:rPr lang="en-US">
                <a:solidFill>
                  <a:srgbClr val="061F32"/>
                </a:solidFill>
                <a:ea typeface="+mn-lt"/>
                <a:cs typeface="+mn-lt"/>
              </a:rPr>
              <a:t>Each risk source creates unique uncertainty in future cash inflows/outflows.</a:t>
            </a:r>
          </a:p>
          <a:p>
            <a:pPr marL="285750" indent="-285750">
              <a:buFont typeface="Arial"/>
              <a:buChar char="•"/>
            </a:pPr>
            <a:endParaRPr lang="en-US">
              <a:solidFill>
                <a:srgbClr val="061F32"/>
              </a:solidFill>
              <a:ea typeface="+mn-lt"/>
              <a:cs typeface="+mn-lt"/>
            </a:endParaRPr>
          </a:p>
          <a:p>
            <a:pPr marL="285750" indent="-285750">
              <a:buFont typeface="Arial"/>
              <a:buChar char="•"/>
            </a:pPr>
            <a:r>
              <a:rPr lang="en-US">
                <a:solidFill>
                  <a:srgbClr val="061F32"/>
                </a:solidFill>
                <a:ea typeface="+mn-lt"/>
                <a:cs typeface="+mn-lt"/>
              </a:rPr>
              <a:t>Traditional tools like duration, sensitivities, and simple shocks provide useful but partial views — they don’t capture probabilities.</a:t>
            </a:r>
          </a:p>
          <a:p>
            <a:pPr marL="285750" indent="-285750">
              <a:buFont typeface="Arial"/>
              <a:buChar char="•"/>
            </a:pPr>
            <a:endParaRPr lang="en-US">
              <a:solidFill>
                <a:srgbClr val="061F32"/>
              </a:solidFill>
              <a:ea typeface="+mn-lt"/>
              <a:cs typeface="+mn-lt"/>
            </a:endParaRPr>
          </a:p>
          <a:p>
            <a:pPr marL="285750" indent="-285750">
              <a:buFont typeface="Arial"/>
              <a:buChar char="•"/>
            </a:pPr>
            <a:r>
              <a:rPr lang="en-US" err="1">
                <a:solidFill>
                  <a:srgbClr val="061F32"/>
                </a:solidFill>
                <a:ea typeface="+mn-lt"/>
                <a:cs typeface="+mn-lt"/>
              </a:rPr>
              <a:t>CFaR</a:t>
            </a:r>
            <a:r>
              <a:rPr lang="en-US">
                <a:solidFill>
                  <a:srgbClr val="061F32"/>
                </a:solidFill>
                <a:ea typeface="+mn-lt"/>
                <a:cs typeface="+mn-lt"/>
              </a:rPr>
              <a:t>, like </a:t>
            </a:r>
            <a:r>
              <a:rPr lang="en-US" err="1">
                <a:solidFill>
                  <a:srgbClr val="061F32"/>
                </a:solidFill>
                <a:ea typeface="+mn-lt"/>
                <a:cs typeface="+mn-lt"/>
              </a:rPr>
              <a:t>VaR</a:t>
            </a:r>
            <a:r>
              <a:rPr lang="en-US">
                <a:solidFill>
                  <a:srgbClr val="061F32"/>
                </a:solidFill>
                <a:ea typeface="+mn-lt"/>
                <a:cs typeface="+mn-lt"/>
              </a:rPr>
              <a:t>, is a probabilistic measure but focused on future cash flows instead of portfolio values.</a:t>
            </a:r>
            <a:endParaRPr lang="en-US">
              <a:solidFill>
                <a:srgbClr val="061F32"/>
              </a:solidFill>
            </a:endParaRPr>
          </a:p>
          <a:p>
            <a:pPr marL="285750" indent="-285750">
              <a:buFont typeface="Arial"/>
              <a:buChar char="•"/>
            </a:pPr>
            <a:endParaRPr lang="en-US">
              <a:solidFill>
                <a:srgbClr val="061F32"/>
              </a:solidFill>
              <a:cs typeface="Arial"/>
            </a:endParaRPr>
          </a:p>
          <a:p>
            <a:pPr marL="285750" indent="-285750">
              <a:buFont typeface="Arial"/>
              <a:buChar char="•"/>
            </a:pPr>
            <a:r>
              <a:rPr lang="en-US" err="1">
                <a:solidFill>
                  <a:srgbClr val="061F32"/>
                </a:solidFill>
                <a:ea typeface="+mn-lt"/>
                <a:cs typeface="+mn-lt"/>
              </a:rPr>
              <a:t>CFaR</a:t>
            </a:r>
            <a:r>
              <a:rPr lang="en-US">
                <a:solidFill>
                  <a:srgbClr val="061F32"/>
                </a:solidFill>
                <a:ea typeface="+mn-lt"/>
                <a:cs typeface="+mn-lt"/>
              </a:rPr>
              <a:t> integrates everything into one probabilistic metric: “</a:t>
            </a:r>
            <a:r>
              <a:rPr lang="en-US" i="1">
                <a:solidFill>
                  <a:srgbClr val="061F32"/>
                </a:solidFill>
                <a:ea typeface="+mn-lt"/>
                <a:cs typeface="+mn-lt"/>
              </a:rPr>
              <a:t>With 95% confidence, net cash flows will not be worse than €X.”</a:t>
            </a:r>
            <a:endParaRPr lang="en-US">
              <a:solidFill>
                <a:srgbClr val="061F32"/>
              </a:solidFill>
              <a:cs typeface="Arial"/>
            </a:endParaRPr>
          </a:p>
        </p:txBody>
      </p:sp>
      <p:cxnSp>
        <p:nvCxnSpPr>
          <p:cNvPr id="12" name="Straight Connector 11">
            <a:extLst>
              <a:ext uri="{FF2B5EF4-FFF2-40B4-BE49-F238E27FC236}">
                <a16:creationId xmlns:a16="http://schemas.microsoft.com/office/drawing/2014/main" id="{8A9ED628-4123-0B7E-1098-1F8E84EC3FBB}"/>
              </a:ext>
            </a:extLst>
          </p:cNvPr>
          <p:cNvCxnSpPr/>
          <p:nvPr/>
        </p:nvCxnSpPr>
        <p:spPr>
          <a:xfrm>
            <a:off x="661481" y="2431915"/>
            <a:ext cx="10975780" cy="0"/>
          </a:xfrm>
          <a:prstGeom prst="line">
            <a:avLst/>
          </a:prstGeom>
          <a:ln w="635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9612339"/>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7160-F115-DE5F-8F29-4D9B6BAED357}"/>
              </a:ext>
            </a:extLst>
          </p:cNvPr>
          <p:cNvSpPr>
            <a:spLocks noGrp="1"/>
          </p:cNvSpPr>
          <p:nvPr>
            <p:ph type="title"/>
          </p:nvPr>
        </p:nvSpPr>
        <p:spPr>
          <a:xfrm>
            <a:off x="554736" y="355092"/>
            <a:ext cx="11082528" cy="731520"/>
          </a:xfrm>
        </p:spPr>
        <p:txBody>
          <a:bodyPr/>
          <a:lstStyle/>
          <a:p>
            <a:r>
              <a:rPr lang="en-GB"/>
              <a:t>Interest Rate </a:t>
            </a:r>
            <a:r>
              <a:rPr lang="en-US"/>
              <a:t>Scenario 1: </a:t>
            </a:r>
            <a:r>
              <a:rPr lang="de-DE"/>
              <a:t>Parallel +100bp</a:t>
            </a:r>
            <a:endParaRPr lang="en-US"/>
          </a:p>
        </p:txBody>
      </p:sp>
      <p:pic>
        <p:nvPicPr>
          <p:cNvPr id="4" name="Grafik 3" descr="Ein Bild, das Text, Reihe, Diagramm, Quittung enthält.&#10;&#10;KI-generierte Inhalte können fehlerhaft sein.">
            <a:extLst>
              <a:ext uri="{FF2B5EF4-FFF2-40B4-BE49-F238E27FC236}">
                <a16:creationId xmlns:a16="http://schemas.microsoft.com/office/drawing/2014/main" id="{7FC96103-4F77-C6DA-F21D-F3C1767D87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736" y="1300350"/>
            <a:ext cx="5132832" cy="3408442"/>
          </a:xfrm>
          <a:prstGeom prst="rect">
            <a:avLst/>
          </a:prstGeom>
        </p:spPr>
      </p:pic>
      <p:pic>
        <p:nvPicPr>
          <p:cNvPr id="5" name="Picture 4" descr="A graph of a number of black squares&#10;&#10;AI-generated content may be incorrect.">
            <a:extLst>
              <a:ext uri="{FF2B5EF4-FFF2-40B4-BE49-F238E27FC236}">
                <a16:creationId xmlns:a16="http://schemas.microsoft.com/office/drawing/2014/main" id="{BEDDA10C-104B-35E3-0360-0778DA0516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507480" y="1300350"/>
            <a:ext cx="5129784" cy="3410712"/>
          </a:xfrm>
          <a:prstGeom prst="rect">
            <a:avLst/>
          </a:prstGeom>
        </p:spPr>
      </p:pic>
      <p:cxnSp>
        <p:nvCxnSpPr>
          <p:cNvPr id="14" name="Straight Connector 13">
            <a:extLst>
              <a:ext uri="{FF2B5EF4-FFF2-40B4-BE49-F238E27FC236}">
                <a16:creationId xmlns:a16="http://schemas.microsoft.com/office/drawing/2014/main" id="{16CAC586-2570-C2A4-DA81-8B4B2EF659D0}"/>
              </a:ext>
            </a:extLst>
          </p:cNvPr>
          <p:cNvCxnSpPr>
            <a:cxnSpLocks/>
          </p:cNvCxnSpPr>
          <p:nvPr/>
        </p:nvCxnSpPr>
        <p:spPr>
          <a:xfrm>
            <a:off x="6096000" y="5098047"/>
            <a:ext cx="0" cy="835393"/>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8E0EAA3-BDD8-F90E-45AB-C7FF7BADF6CC}"/>
              </a:ext>
            </a:extLst>
          </p:cNvPr>
          <p:cNvCxnSpPr>
            <a:cxnSpLocks/>
          </p:cNvCxnSpPr>
          <p:nvPr/>
        </p:nvCxnSpPr>
        <p:spPr>
          <a:xfrm>
            <a:off x="1410302" y="5098047"/>
            <a:ext cx="9371397" cy="0"/>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DDA1F44-9D98-929B-D15C-2502DD890AE4}"/>
              </a:ext>
            </a:extLst>
          </p:cNvPr>
          <p:cNvSpPr txBox="1"/>
          <p:nvPr/>
        </p:nvSpPr>
        <p:spPr>
          <a:xfrm>
            <a:off x="1951407" y="4807717"/>
            <a:ext cx="2877134"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Asset Side</a:t>
            </a:r>
            <a:endParaRPr lang="en-GB" sz="1400">
              <a:solidFill>
                <a:schemeClr val="bg1"/>
              </a:solidFill>
            </a:endParaRPr>
          </a:p>
        </p:txBody>
      </p:sp>
      <p:sp>
        <p:nvSpPr>
          <p:cNvPr id="16" name="TextBox 15">
            <a:extLst>
              <a:ext uri="{FF2B5EF4-FFF2-40B4-BE49-F238E27FC236}">
                <a16:creationId xmlns:a16="http://schemas.microsoft.com/office/drawing/2014/main" id="{6581069F-FD36-2607-9DCC-57418DC4EBA6}"/>
              </a:ext>
            </a:extLst>
          </p:cNvPr>
          <p:cNvSpPr txBox="1"/>
          <p:nvPr/>
        </p:nvSpPr>
        <p:spPr>
          <a:xfrm>
            <a:off x="7363460" y="4807717"/>
            <a:ext cx="3036088"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t>
            </a:r>
            <a:r>
              <a:rPr lang="de-DE" altLang="zh-CN" sz="1400" err="1">
                <a:solidFill>
                  <a:schemeClr val="bg1"/>
                </a:solidFill>
              </a:rPr>
              <a:t>Liability</a:t>
            </a:r>
            <a:r>
              <a:rPr lang="de-DE" altLang="zh-CN" sz="1400">
                <a:solidFill>
                  <a:schemeClr val="bg1"/>
                </a:solidFill>
              </a:rPr>
              <a:t> Side</a:t>
            </a:r>
            <a:endParaRPr lang="en-GB" sz="1400">
              <a:solidFill>
                <a:schemeClr val="bg1"/>
              </a:solidFill>
            </a:endParaRPr>
          </a:p>
        </p:txBody>
      </p:sp>
      <p:sp>
        <p:nvSpPr>
          <p:cNvPr id="20" name="Arrow: Pentagon 19">
            <a:extLst>
              <a:ext uri="{FF2B5EF4-FFF2-40B4-BE49-F238E27FC236}">
                <a16:creationId xmlns:a16="http://schemas.microsoft.com/office/drawing/2014/main" id="{F927F69F-0274-DA43-EE4B-FCB89DB10AF7}"/>
              </a:ext>
            </a:extLst>
          </p:cNvPr>
          <p:cNvSpPr/>
          <p:nvPr/>
        </p:nvSpPr>
        <p:spPr>
          <a:xfrm rot="16200000">
            <a:off x="1411606" y="515914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1" name="TextBox 20">
            <a:extLst>
              <a:ext uri="{FF2B5EF4-FFF2-40B4-BE49-F238E27FC236}">
                <a16:creationId xmlns:a16="http://schemas.microsoft.com/office/drawing/2014/main" id="{EC30A245-E899-7AF2-DAC7-82CFB18F881D}"/>
              </a:ext>
            </a:extLst>
          </p:cNvPr>
          <p:cNvSpPr txBox="1"/>
          <p:nvPr/>
        </p:nvSpPr>
        <p:spPr>
          <a:xfrm>
            <a:off x="1694180" y="5181107"/>
            <a:ext cx="3523400" cy="184666"/>
          </a:xfrm>
          <a:prstGeom prst="rect">
            <a:avLst/>
          </a:prstGeom>
          <a:ln w="6350">
            <a:noFill/>
            <a:miter lim="800000"/>
          </a:ln>
        </p:spPr>
        <p:txBody>
          <a:bodyPr vert="horz" wrap="none" lIns="0" tIns="0" rIns="0" bIns="0" rtlCol="0">
            <a:spAutoFit/>
          </a:bodyPr>
          <a:lstStyle/>
          <a:p>
            <a:pPr>
              <a:spcBef>
                <a:spcPts val="300"/>
              </a:spcBef>
              <a:spcAft>
                <a:spcPts val="300"/>
              </a:spcAft>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floating</a:t>
            </a:r>
            <a:r>
              <a:rPr lang="de-DE" sz="1200">
                <a:solidFill>
                  <a:schemeClr val="bg1"/>
                </a:solidFill>
              </a:rPr>
              <a:t>-rate </a:t>
            </a:r>
            <a:r>
              <a:rPr lang="de-DE" sz="1200" err="1">
                <a:solidFill>
                  <a:schemeClr val="bg1"/>
                </a:solidFill>
              </a:rPr>
              <a:t>investment</a:t>
            </a:r>
            <a:endParaRPr lang="en-GB" sz="1200">
              <a:solidFill>
                <a:schemeClr val="bg1"/>
              </a:solidFill>
            </a:endParaRPr>
          </a:p>
        </p:txBody>
      </p:sp>
      <p:sp>
        <p:nvSpPr>
          <p:cNvPr id="24" name="Arrow: Pentagon 23">
            <a:extLst>
              <a:ext uri="{FF2B5EF4-FFF2-40B4-BE49-F238E27FC236}">
                <a16:creationId xmlns:a16="http://schemas.microsoft.com/office/drawing/2014/main" id="{1D22FD3A-4015-9B78-D5B2-C936867D3FB5}"/>
              </a:ext>
            </a:extLst>
          </p:cNvPr>
          <p:cNvSpPr/>
          <p:nvPr/>
        </p:nvSpPr>
        <p:spPr>
          <a:xfrm rot="16200000">
            <a:off x="1411606" y="543199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5" name="TextBox 24">
            <a:extLst>
              <a:ext uri="{FF2B5EF4-FFF2-40B4-BE49-F238E27FC236}">
                <a16:creationId xmlns:a16="http://schemas.microsoft.com/office/drawing/2014/main" id="{DD100047-0D7D-2B19-9902-73D09DC2DFBB}"/>
              </a:ext>
            </a:extLst>
          </p:cNvPr>
          <p:cNvSpPr txBox="1"/>
          <p:nvPr/>
        </p:nvSpPr>
        <p:spPr>
          <a:xfrm>
            <a:off x="1694180" y="5453957"/>
            <a:ext cx="308738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investment</a:t>
            </a:r>
            <a:r>
              <a:rPr lang="de-DE" sz="1200">
                <a:solidFill>
                  <a:schemeClr val="bg1"/>
                </a:solidFill>
              </a:rPr>
              <a:t> </a:t>
            </a:r>
            <a:r>
              <a:rPr lang="de-DE" sz="1200" err="1">
                <a:solidFill>
                  <a:schemeClr val="bg1"/>
                </a:solidFill>
              </a:rPr>
              <a:t>rollover</a:t>
            </a:r>
            <a:endParaRPr lang="en-GB" sz="1200">
              <a:solidFill>
                <a:schemeClr val="bg1"/>
              </a:solidFill>
            </a:endParaRPr>
          </a:p>
        </p:txBody>
      </p:sp>
      <p:sp>
        <p:nvSpPr>
          <p:cNvPr id="27" name="Arrow: Pentagon 26">
            <a:extLst>
              <a:ext uri="{FF2B5EF4-FFF2-40B4-BE49-F238E27FC236}">
                <a16:creationId xmlns:a16="http://schemas.microsoft.com/office/drawing/2014/main" id="{B1985F47-686C-0894-EE38-15A1BA32BB6D}"/>
              </a:ext>
            </a:extLst>
          </p:cNvPr>
          <p:cNvSpPr/>
          <p:nvPr/>
        </p:nvSpPr>
        <p:spPr>
          <a:xfrm>
            <a:off x="1411606"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8" name="TextBox 27">
            <a:extLst>
              <a:ext uri="{FF2B5EF4-FFF2-40B4-BE49-F238E27FC236}">
                <a16:creationId xmlns:a16="http://schemas.microsoft.com/office/drawing/2014/main" id="{B1DE6BFA-20E4-C668-C2F5-CD7068BC4C0C}"/>
              </a:ext>
            </a:extLst>
          </p:cNvPr>
          <p:cNvSpPr txBox="1"/>
          <p:nvPr/>
        </p:nvSpPr>
        <p:spPr>
          <a:xfrm>
            <a:off x="1694180" y="5728111"/>
            <a:ext cx="4360746" cy="184666"/>
          </a:xfrm>
          <a:prstGeom prst="rect">
            <a:avLst/>
          </a:prstGeom>
          <a:ln w="6350">
            <a:noFill/>
            <a:miter lim="800000"/>
          </a:ln>
        </p:spPr>
        <p:txBody>
          <a:bodyPr vert="horz" wrap="none" lIns="0" tIns="0" rIns="0" bIns="0" rtlCol="0">
            <a:spAutoFit/>
          </a:bodyPr>
          <a:lstStyle/>
          <a:p>
            <a:pPr>
              <a:spcBef>
                <a:spcPts val="300"/>
              </a:spcBef>
              <a:spcAft>
                <a:spcPts val="300"/>
              </a:spcAft>
            </a:pPr>
            <a:r>
              <a:rPr lang="de-DE" sz="1200" err="1">
                <a:solidFill>
                  <a:schemeClr val="bg1"/>
                </a:solidFill>
              </a:rPr>
              <a:t>Decreased</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of</a:t>
            </a:r>
            <a:r>
              <a:rPr lang="de-DE" sz="1200">
                <a:solidFill>
                  <a:schemeClr val="bg1"/>
                </a:solidFill>
              </a:rPr>
              <a:t> </a:t>
            </a:r>
            <a:r>
              <a:rPr lang="de-DE" sz="1200" err="1">
                <a:solidFill>
                  <a:schemeClr val="bg1"/>
                </a:solidFill>
              </a:rPr>
              <a:t>fixed</a:t>
            </a:r>
            <a:r>
              <a:rPr lang="de-DE" sz="1200">
                <a:solidFill>
                  <a:schemeClr val="bg1"/>
                </a:solidFill>
              </a:rPr>
              <a:t>-rate </a:t>
            </a:r>
            <a:r>
              <a:rPr lang="de-DE" sz="1200" err="1">
                <a:solidFill>
                  <a:schemeClr val="bg1"/>
                </a:solidFill>
              </a:rPr>
              <a:t>investment</a:t>
            </a:r>
            <a:r>
              <a:rPr lang="de-DE" sz="1200">
                <a:solidFill>
                  <a:schemeClr val="bg1"/>
                </a:solidFill>
              </a:rPr>
              <a:t>, </a:t>
            </a:r>
            <a:r>
              <a:rPr lang="de-DE" sz="1200" err="1">
                <a:solidFill>
                  <a:schemeClr val="bg1"/>
                </a:solidFill>
              </a:rPr>
              <a:t>no</a:t>
            </a:r>
            <a:r>
              <a:rPr lang="de-DE" sz="1200">
                <a:solidFill>
                  <a:schemeClr val="bg1"/>
                </a:solidFill>
              </a:rPr>
              <a:t> cash </a:t>
            </a:r>
            <a:r>
              <a:rPr lang="de-DE" sz="1200" err="1">
                <a:solidFill>
                  <a:schemeClr val="bg1"/>
                </a:solidFill>
              </a:rPr>
              <a:t>flow</a:t>
            </a:r>
            <a:r>
              <a:rPr lang="de-DE" sz="1200">
                <a:solidFill>
                  <a:schemeClr val="bg1"/>
                </a:solidFill>
              </a:rPr>
              <a:t> </a:t>
            </a:r>
            <a:r>
              <a:rPr lang="de-DE" sz="1200" err="1">
                <a:solidFill>
                  <a:schemeClr val="bg1"/>
                </a:solidFill>
              </a:rPr>
              <a:t>impact</a:t>
            </a:r>
            <a:r>
              <a:rPr lang="de-DE" sz="1200">
                <a:solidFill>
                  <a:schemeClr val="bg1"/>
                </a:solidFill>
              </a:rPr>
              <a:t> </a:t>
            </a:r>
            <a:endParaRPr lang="en-GB" sz="1200">
              <a:solidFill>
                <a:schemeClr val="bg1"/>
              </a:solidFill>
            </a:endParaRPr>
          </a:p>
        </p:txBody>
      </p:sp>
      <p:sp>
        <p:nvSpPr>
          <p:cNvPr id="32" name="Arrow: Pentagon 31">
            <a:extLst>
              <a:ext uri="{FF2B5EF4-FFF2-40B4-BE49-F238E27FC236}">
                <a16:creationId xmlns:a16="http://schemas.microsoft.com/office/drawing/2014/main" id="{2C6AA4B1-BC02-9325-7DC2-D5A0960F4612}"/>
              </a:ext>
            </a:extLst>
          </p:cNvPr>
          <p:cNvSpPr/>
          <p:nvPr/>
        </p:nvSpPr>
        <p:spPr>
          <a:xfrm rot="16200000">
            <a:off x="6180145" y="515914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33" name="TextBox 32">
            <a:extLst>
              <a:ext uri="{FF2B5EF4-FFF2-40B4-BE49-F238E27FC236}">
                <a16:creationId xmlns:a16="http://schemas.microsoft.com/office/drawing/2014/main" id="{733B0B1A-CABE-825A-182A-E39C7C2C92FE}"/>
              </a:ext>
            </a:extLst>
          </p:cNvPr>
          <p:cNvSpPr txBox="1"/>
          <p:nvPr/>
        </p:nvSpPr>
        <p:spPr>
          <a:xfrm>
            <a:off x="6462719" y="5181107"/>
            <a:ext cx="3358292"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floating</a:t>
            </a:r>
            <a:r>
              <a:rPr lang="de-DE" sz="1200">
                <a:solidFill>
                  <a:schemeClr val="bg1"/>
                </a:solidFill>
              </a:rPr>
              <a:t>-rate </a:t>
            </a:r>
            <a:r>
              <a:rPr lang="de-DE" sz="1200" err="1">
                <a:solidFill>
                  <a:schemeClr val="bg1"/>
                </a:solidFill>
              </a:rPr>
              <a:t>liabilities</a:t>
            </a:r>
            <a:endParaRPr lang="en-GB" sz="1200">
              <a:solidFill>
                <a:schemeClr val="bg1"/>
              </a:solidFill>
            </a:endParaRPr>
          </a:p>
        </p:txBody>
      </p:sp>
      <p:sp>
        <p:nvSpPr>
          <p:cNvPr id="35" name="Arrow: Pentagon 34">
            <a:extLst>
              <a:ext uri="{FF2B5EF4-FFF2-40B4-BE49-F238E27FC236}">
                <a16:creationId xmlns:a16="http://schemas.microsoft.com/office/drawing/2014/main" id="{CB786D1F-C9F9-621A-E7C2-1745516C36A4}"/>
              </a:ext>
            </a:extLst>
          </p:cNvPr>
          <p:cNvSpPr/>
          <p:nvPr/>
        </p:nvSpPr>
        <p:spPr>
          <a:xfrm rot="16200000">
            <a:off x="6180145" y="543199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36" name="TextBox 35">
            <a:extLst>
              <a:ext uri="{FF2B5EF4-FFF2-40B4-BE49-F238E27FC236}">
                <a16:creationId xmlns:a16="http://schemas.microsoft.com/office/drawing/2014/main" id="{D682FC84-7D85-297F-C00C-26952F6832B2}"/>
              </a:ext>
            </a:extLst>
          </p:cNvPr>
          <p:cNvSpPr txBox="1"/>
          <p:nvPr/>
        </p:nvSpPr>
        <p:spPr>
          <a:xfrm>
            <a:off x="6462719" y="5453957"/>
            <a:ext cx="2677015"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refinancing</a:t>
            </a:r>
            <a:endParaRPr lang="en-GB" sz="1200">
              <a:solidFill>
                <a:schemeClr val="bg1"/>
              </a:solidFill>
            </a:endParaRPr>
          </a:p>
        </p:txBody>
      </p:sp>
      <p:sp>
        <p:nvSpPr>
          <p:cNvPr id="38" name="Arrow: Pentagon 37">
            <a:extLst>
              <a:ext uri="{FF2B5EF4-FFF2-40B4-BE49-F238E27FC236}">
                <a16:creationId xmlns:a16="http://schemas.microsoft.com/office/drawing/2014/main" id="{611DD26B-DAD3-C717-E684-DA29FE42FB10}"/>
              </a:ext>
            </a:extLst>
          </p:cNvPr>
          <p:cNvSpPr/>
          <p:nvPr/>
        </p:nvSpPr>
        <p:spPr>
          <a:xfrm>
            <a:off x="6180145"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39" name="TextBox 38">
            <a:extLst>
              <a:ext uri="{FF2B5EF4-FFF2-40B4-BE49-F238E27FC236}">
                <a16:creationId xmlns:a16="http://schemas.microsoft.com/office/drawing/2014/main" id="{0E7E5702-2745-4D9F-4529-3741172428B3}"/>
              </a:ext>
            </a:extLst>
          </p:cNvPr>
          <p:cNvSpPr txBox="1"/>
          <p:nvPr/>
        </p:nvSpPr>
        <p:spPr>
          <a:xfrm>
            <a:off x="6462719" y="5728111"/>
            <a:ext cx="4408258"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No</a:t>
            </a:r>
            <a:r>
              <a:rPr lang="de-DE" sz="1200">
                <a:solidFill>
                  <a:schemeClr val="bg1"/>
                </a:solidFill>
              </a:rPr>
              <a:t> </a:t>
            </a:r>
            <a:r>
              <a:rPr lang="de-DE" sz="1200" err="1">
                <a:solidFill>
                  <a:schemeClr val="bg1"/>
                </a:solidFill>
              </a:rPr>
              <a:t>cashflow</a:t>
            </a:r>
            <a:r>
              <a:rPr lang="de-DE" sz="1200">
                <a:solidFill>
                  <a:schemeClr val="bg1"/>
                </a:solidFill>
              </a:rPr>
              <a:t> </a:t>
            </a:r>
            <a:r>
              <a:rPr lang="de-DE" sz="1200" err="1">
                <a:solidFill>
                  <a:schemeClr val="bg1"/>
                </a:solidFill>
              </a:rPr>
              <a:t>impact</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depreciation</a:t>
            </a:r>
            <a:r>
              <a:rPr lang="de-DE" sz="1200">
                <a:solidFill>
                  <a:schemeClr val="bg1"/>
                </a:solidFill>
              </a:rPr>
              <a:t> </a:t>
            </a:r>
            <a:r>
              <a:rPr lang="de-DE" sz="1200" err="1">
                <a:solidFill>
                  <a:schemeClr val="bg1"/>
                </a:solidFill>
              </a:rPr>
              <a:t>of</a:t>
            </a:r>
            <a:r>
              <a:rPr lang="de-DE" sz="1200">
                <a:solidFill>
                  <a:schemeClr val="bg1"/>
                </a:solidFill>
              </a:rPr>
              <a:t> </a:t>
            </a:r>
            <a:r>
              <a:rPr lang="de-DE" sz="1200" err="1">
                <a:solidFill>
                  <a:schemeClr val="bg1"/>
                </a:solidFill>
              </a:rPr>
              <a:t>fixed</a:t>
            </a:r>
            <a:r>
              <a:rPr lang="de-DE" sz="1200">
                <a:solidFill>
                  <a:schemeClr val="bg1"/>
                </a:solidFill>
              </a:rPr>
              <a:t>-rate </a:t>
            </a:r>
            <a:r>
              <a:rPr lang="de-DE" sz="1200" err="1">
                <a:solidFill>
                  <a:schemeClr val="bg1"/>
                </a:solidFill>
              </a:rPr>
              <a:t>liabilities</a:t>
            </a:r>
            <a:endParaRPr lang="en-GB" sz="1200">
              <a:solidFill>
                <a:schemeClr val="bg1"/>
              </a:solidFill>
            </a:endParaRPr>
          </a:p>
        </p:txBody>
      </p:sp>
      <p:sp>
        <p:nvSpPr>
          <p:cNvPr id="46" name="Rectangle: Rounded Corners 45">
            <a:extLst>
              <a:ext uri="{FF2B5EF4-FFF2-40B4-BE49-F238E27FC236}">
                <a16:creationId xmlns:a16="http://schemas.microsoft.com/office/drawing/2014/main" id="{871D137A-A4BC-2C1B-9F00-114CDB4F71FB}"/>
              </a:ext>
            </a:extLst>
          </p:cNvPr>
          <p:cNvSpPr/>
          <p:nvPr/>
        </p:nvSpPr>
        <p:spPr>
          <a:xfrm>
            <a:off x="3376770" y="6024880"/>
            <a:ext cx="5557520" cy="252182"/>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de-DE" sz="1200" b="1" err="1">
                <a:solidFill>
                  <a:schemeClr val="bg1"/>
                </a:solidFill>
              </a:rPr>
              <a:t>Direction</a:t>
            </a:r>
            <a:r>
              <a:rPr lang="de-DE" sz="1200" b="1">
                <a:solidFill>
                  <a:schemeClr val="bg1"/>
                </a:solidFill>
              </a:rPr>
              <a:t> </a:t>
            </a:r>
            <a:r>
              <a:rPr lang="de-DE" sz="1200" b="1" err="1">
                <a:solidFill>
                  <a:schemeClr val="bg1"/>
                </a:solidFill>
              </a:rPr>
              <a:t>of</a:t>
            </a:r>
            <a:r>
              <a:rPr lang="de-DE" sz="1200" b="1">
                <a:solidFill>
                  <a:schemeClr val="bg1"/>
                </a:solidFill>
              </a:rPr>
              <a:t> </a:t>
            </a:r>
            <a:r>
              <a:rPr lang="de-DE" sz="1200" b="1" err="1">
                <a:solidFill>
                  <a:schemeClr val="bg1"/>
                </a:solidFill>
              </a:rPr>
              <a:t>net</a:t>
            </a:r>
            <a:r>
              <a:rPr lang="de-DE" sz="1200" b="1">
                <a:solidFill>
                  <a:schemeClr val="bg1"/>
                </a:solidFill>
              </a:rPr>
              <a:t> </a:t>
            </a:r>
            <a:r>
              <a:rPr lang="de-DE" sz="1200" b="1" err="1">
                <a:solidFill>
                  <a:schemeClr val="bg1"/>
                </a:solidFill>
              </a:rPr>
              <a:t>cashflow</a:t>
            </a:r>
            <a:r>
              <a:rPr lang="de-DE" sz="1200" b="1">
                <a:solidFill>
                  <a:schemeClr val="bg1"/>
                </a:solidFill>
              </a:rPr>
              <a:t> </a:t>
            </a:r>
            <a:r>
              <a:rPr lang="de-DE" sz="1200" b="1" err="1">
                <a:solidFill>
                  <a:schemeClr val="bg1"/>
                </a:solidFill>
              </a:rPr>
              <a:t>effect</a:t>
            </a:r>
            <a:r>
              <a:rPr lang="de-DE" sz="1200" b="1">
                <a:solidFill>
                  <a:schemeClr val="bg1"/>
                </a:solidFill>
              </a:rPr>
              <a:t> </a:t>
            </a:r>
            <a:r>
              <a:rPr lang="de-DE" sz="1200" b="1" err="1">
                <a:solidFill>
                  <a:schemeClr val="bg1"/>
                </a:solidFill>
              </a:rPr>
              <a:t>depending</a:t>
            </a:r>
            <a:r>
              <a:rPr lang="de-DE" sz="1200" b="1">
                <a:solidFill>
                  <a:schemeClr val="bg1"/>
                </a:solidFill>
              </a:rPr>
              <a:t> on Asset/</a:t>
            </a:r>
            <a:r>
              <a:rPr lang="de-DE" sz="1200" b="1" err="1">
                <a:solidFill>
                  <a:schemeClr val="bg1"/>
                </a:solidFill>
              </a:rPr>
              <a:t>Liability</a:t>
            </a:r>
            <a:r>
              <a:rPr lang="de-DE" sz="1200" b="1">
                <a:solidFill>
                  <a:schemeClr val="bg1"/>
                </a:solidFill>
              </a:rPr>
              <a:t> </a:t>
            </a:r>
            <a:r>
              <a:rPr lang="de-DE" sz="1200" b="1" err="1">
                <a:solidFill>
                  <a:schemeClr val="bg1"/>
                </a:solidFill>
              </a:rPr>
              <a:t>sensitivity</a:t>
            </a:r>
            <a:endParaRPr lang="en-GB" sz="1200" b="1" err="1">
              <a:solidFill>
                <a:schemeClr val="bg1"/>
              </a:solidFill>
            </a:endParaRPr>
          </a:p>
        </p:txBody>
      </p:sp>
      <p:sp>
        <p:nvSpPr>
          <p:cNvPr id="47" name="Arrow: Pentagon 46">
            <a:extLst>
              <a:ext uri="{FF2B5EF4-FFF2-40B4-BE49-F238E27FC236}">
                <a16:creationId xmlns:a16="http://schemas.microsoft.com/office/drawing/2014/main" id="{BB55BAF6-4F81-35CA-4334-729DB173A4D1}"/>
              </a:ext>
            </a:extLst>
          </p:cNvPr>
          <p:cNvSpPr/>
          <p:nvPr/>
        </p:nvSpPr>
        <p:spPr>
          <a:xfrm>
            <a:off x="3257710" y="6034977"/>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Tree>
    <p:extLst>
      <p:ext uri="{BB962C8B-B14F-4D97-AF65-F5344CB8AC3E}">
        <p14:creationId xmlns:p14="http://schemas.microsoft.com/office/powerpoint/2010/main" val="1080676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4AAE-4853-0F4B-87C8-8EE3D699C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DCA15-FD57-48E8-FD79-FC32FA66FFDE}"/>
              </a:ext>
            </a:extLst>
          </p:cNvPr>
          <p:cNvSpPr>
            <a:spLocks noGrp="1"/>
          </p:cNvSpPr>
          <p:nvPr>
            <p:ph type="title"/>
          </p:nvPr>
        </p:nvSpPr>
        <p:spPr>
          <a:xfrm>
            <a:off x="554736" y="355092"/>
            <a:ext cx="11082528" cy="731520"/>
          </a:xfrm>
        </p:spPr>
        <p:txBody>
          <a:bodyPr/>
          <a:lstStyle/>
          <a:p>
            <a:r>
              <a:rPr lang="en-GB"/>
              <a:t>Interest Rate </a:t>
            </a:r>
            <a:r>
              <a:rPr lang="en-US"/>
              <a:t>Scenario 2: </a:t>
            </a:r>
            <a:r>
              <a:rPr lang="de-DE"/>
              <a:t>Parallel - 100bp</a:t>
            </a:r>
            <a:endParaRPr lang="en-US"/>
          </a:p>
        </p:txBody>
      </p:sp>
      <p:cxnSp>
        <p:nvCxnSpPr>
          <p:cNvPr id="14" name="Straight Connector 13">
            <a:extLst>
              <a:ext uri="{FF2B5EF4-FFF2-40B4-BE49-F238E27FC236}">
                <a16:creationId xmlns:a16="http://schemas.microsoft.com/office/drawing/2014/main" id="{47724DCA-98ED-5622-DF0F-4E92315BAD31}"/>
              </a:ext>
            </a:extLst>
          </p:cNvPr>
          <p:cNvCxnSpPr>
            <a:cxnSpLocks/>
          </p:cNvCxnSpPr>
          <p:nvPr/>
        </p:nvCxnSpPr>
        <p:spPr>
          <a:xfrm>
            <a:off x="6096000" y="5098047"/>
            <a:ext cx="0" cy="835393"/>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B02633C-19B6-31C4-B9E1-F634D72DCBFC}"/>
              </a:ext>
            </a:extLst>
          </p:cNvPr>
          <p:cNvCxnSpPr>
            <a:cxnSpLocks/>
          </p:cNvCxnSpPr>
          <p:nvPr/>
        </p:nvCxnSpPr>
        <p:spPr>
          <a:xfrm>
            <a:off x="1410302" y="5098047"/>
            <a:ext cx="9371397" cy="0"/>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41CB72F-D57D-69C1-6E1A-B30F50254CD2}"/>
              </a:ext>
            </a:extLst>
          </p:cNvPr>
          <p:cNvSpPr txBox="1"/>
          <p:nvPr/>
        </p:nvSpPr>
        <p:spPr>
          <a:xfrm>
            <a:off x="1951407" y="4807717"/>
            <a:ext cx="2877134"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Asset Side</a:t>
            </a:r>
            <a:endParaRPr lang="en-GB" sz="1400">
              <a:solidFill>
                <a:schemeClr val="bg1"/>
              </a:solidFill>
            </a:endParaRPr>
          </a:p>
        </p:txBody>
      </p:sp>
      <p:sp>
        <p:nvSpPr>
          <p:cNvPr id="16" name="TextBox 15">
            <a:extLst>
              <a:ext uri="{FF2B5EF4-FFF2-40B4-BE49-F238E27FC236}">
                <a16:creationId xmlns:a16="http://schemas.microsoft.com/office/drawing/2014/main" id="{9D5657F6-A84B-6823-81DC-6F1AD3F9EFCD}"/>
              </a:ext>
            </a:extLst>
          </p:cNvPr>
          <p:cNvSpPr txBox="1"/>
          <p:nvPr/>
        </p:nvSpPr>
        <p:spPr>
          <a:xfrm>
            <a:off x="7363460" y="4807717"/>
            <a:ext cx="3036088"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t>
            </a:r>
            <a:r>
              <a:rPr lang="de-DE" altLang="zh-CN" sz="1400" err="1">
                <a:solidFill>
                  <a:schemeClr val="bg1"/>
                </a:solidFill>
              </a:rPr>
              <a:t>Liability</a:t>
            </a:r>
            <a:r>
              <a:rPr lang="de-DE" altLang="zh-CN" sz="1400">
                <a:solidFill>
                  <a:schemeClr val="bg1"/>
                </a:solidFill>
              </a:rPr>
              <a:t> Side</a:t>
            </a:r>
            <a:endParaRPr lang="en-GB" sz="1400">
              <a:solidFill>
                <a:schemeClr val="bg1"/>
              </a:solidFill>
            </a:endParaRPr>
          </a:p>
        </p:txBody>
      </p:sp>
      <p:sp>
        <p:nvSpPr>
          <p:cNvPr id="20" name="Arrow: Pentagon 19">
            <a:extLst>
              <a:ext uri="{FF2B5EF4-FFF2-40B4-BE49-F238E27FC236}">
                <a16:creationId xmlns:a16="http://schemas.microsoft.com/office/drawing/2014/main" id="{3A169B0F-9F69-74BE-1D6F-36AB7EA733F0}"/>
              </a:ext>
            </a:extLst>
          </p:cNvPr>
          <p:cNvSpPr/>
          <p:nvPr/>
        </p:nvSpPr>
        <p:spPr>
          <a:xfrm rot="5400000">
            <a:off x="1411606" y="515914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1" name="TextBox 20">
            <a:extLst>
              <a:ext uri="{FF2B5EF4-FFF2-40B4-BE49-F238E27FC236}">
                <a16:creationId xmlns:a16="http://schemas.microsoft.com/office/drawing/2014/main" id="{22ADC80A-EB15-BE7A-5E01-03EA0101BBB1}"/>
              </a:ext>
            </a:extLst>
          </p:cNvPr>
          <p:cNvSpPr txBox="1"/>
          <p:nvPr/>
        </p:nvSpPr>
        <p:spPr>
          <a:xfrm>
            <a:off x="1694180" y="5181107"/>
            <a:ext cx="3489738" cy="184666"/>
          </a:xfrm>
          <a:prstGeom prst="rect">
            <a:avLst/>
          </a:prstGeom>
          <a:ln w="6350">
            <a:noFill/>
            <a:miter lim="800000"/>
          </a:ln>
        </p:spPr>
        <p:txBody>
          <a:bodyPr vert="horz" wrap="none" lIns="0" tIns="0" rIns="0" bIns="0" rtlCol="0">
            <a:spAutoFit/>
          </a:bodyPr>
          <a:lstStyle/>
          <a:p>
            <a:pPr>
              <a:spcBef>
                <a:spcPts val="300"/>
              </a:spcBef>
              <a:spcAft>
                <a:spcPts val="300"/>
              </a:spcAft>
            </a:pPr>
            <a:r>
              <a:rPr lang="de-DE" sz="1200">
                <a:solidFill>
                  <a:schemeClr val="bg1"/>
                </a:solidFill>
              </a:rPr>
              <a:t>Lower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floating</a:t>
            </a:r>
            <a:r>
              <a:rPr lang="de-DE" sz="1200">
                <a:solidFill>
                  <a:schemeClr val="bg1"/>
                </a:solidFill>
              </a:rPr>
              <a:t>-rate </a:t>
            </a:r>
            <a:r>
              <a:rPr lang="de-DE" sz="1200" err="1">
                <a:solidFill>
                  <a:schemeClr val="bg1"/>
                </a:solidFill>
              </a:rPr>
              <a:t>investment</a:t>
            </a:r>
            <a:endParaRPr lang="en-GB" sz="1200">
              <a:solidFill>
                <a:schemeClr val="bg1"/>
              </a:solidFill>
            </a:endParaRPr>
          </a:p>
        </p:txBody>
      </p:sp>
      <p:sp>
        <p:nvSpPr>
          <p:cNvPr id="24" name="Arrow: Pentagon 23">
            <a:extLst>
              <a:ext uri="{FF2B5EF4-FFF2-40B4-BE49-F238E27FC236}">
                <a16:creationId xmlns:a16="http://schemas.microsoft.com/office/drawing/2014/main" id="{9A4522D5-8047-723E-8942-219DBC4C0BB3}"/>
              </a:ext>
            </a:extLst>
          </p:cNvPr>
          <p:cNvSpPr/>
          <p:nvPr/>
        </p:nvSpPr>
        <p:spPr>
          <a:xfrm rot="5400000">
            <a:off x="1411606" y="543199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5" name="TextBox 24">
            <a:extLst>
              <a:ext uri="{FF2B5EF4-FFF2-40B4-BE49-F238E27FC236}">
                <a16:creationId xmlns:a16="http://schemas.microsoft.com/office/drawing/2014/main" id="{393FEC49-F78C-E594-E44F-73843080654C}"/>
              </a:ext>
            </a:extLst>
          </p:cNvPr>
          <p:cNvSpPr txBox="1"/>
          <p:nvPr/>
        </p:nvSpPr>
        <p:spPr>
          <a:xfrm>
            <a:off x="1694180" y="5453957"/>
            <a:ext cx="3053721"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Lower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investment</a:t>
            </a:r>
            <a:r>
              <a:rPr lang="de-DE" sz="1200">
                <a:solidFill>
                  <a:schemeClr val="bg1"/>
                </a:solidFill>
              </a:rPr>
              <a:t> </a:t>
            </a:r>
            <a:r>
              <a:rPr lang="de-DE" sz="1200" err="1">
                <a:solidFill>
                  <a:schemeClr val="bg1"/>
                </a:solidFill>
              </a:rPr>
              <a:t>rollover</a:t>
            </a:r>
            <a:endParaRPr lang="en-GB" sz="1200">
              <a:solidFill>
                <a:schemeClr val="bg1"/>
              </a:solidFill>
            </a:endParaRPr>
          </a:p>
        </p:txBody>
      </p:sp>
      <p:sp>
        <p:nvSpPr>
          <p:cNvPr id="27" name="Arrow: Pentagon 26">
            <a:extLst>
              <a:ext uri="{FF2B5EF4-FFF2-40B4-BE49-F238E27FC236}">
                <a16:creationId xmlns:a16="http://schemas.microsoft.com/office/drawing/2014/main" id="{DC2DD0B6-F908-E6DE-03E2-EB8BE764538E}"/>
              </a:ext>
            </a:extLst>
          </p:cNvPr>
          <p:cNvSpPr/>
          <p:nvPr/>
        </p:nvSpPr>
        <p:spPr>
          <a:xfrm>
            <a:off x="1411606"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8" name="TextBox 27">
            <a:extLst>
              <a:ext uri="{FF2B5EF4-FFF2-40B4-BE49-F238E27FC236}">
                <a16:creationId xmlns:a16="http://schemas.microsoft.com/office/drawing/2014/main" id="{F59EBFF4-F2F5-7190-A04E-E44D70442450}"/>
              </a:ext>
            </a:extLst>
          </p:cNvPr>
          <p:cNvSpPr txBox="1"/>
          <p:nvPr/>
        </p:nvSpPr>
        <p:spPr>
          <a:xfrm>
            <a:off x="1694180" y="5728111"/>
            <a:ext cx="4293419"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Increased</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investment</a:t>
            </a:r>
            <a:r>
              <a:rPr lang="de-DE" sz="1200">
                <a:solidFill>
                  <a:schemeClr val="bg1"/>
                </a:solidFill>
              </a:rPr>
              <a:t>, </a:t>
            </a:r>
            <a:r>
              <a:rPr lang="de-DE" sz="1200" err="1">
                <a:solidFill>
                  <a:schemeClr val="bg1"/>
                </a:solidFill>
              </a:rPr>
              <a:t>no</a:t>
            </a:r>
            <a:r>
              <a:rPr lang="de-DE" sz="1200">
                <a:solidFill>
                  <a:schemeClr val="bg1"/>
                </a:solidFill>
              </a:rPr>
              <a:t> cash </a:t>
            </a:r>
            <a:r>
              <a:rPr lang="de-DE" sz="1200" err="1">
                <a:solidFill>
                  <a:schemeClr val="bg1"/>
                </a:solidFill>
              </a:rPr>
              <a:t>flow</a:t>
            </a:r>
            <a:r>
              <a:rPr lang="de-DE" sz="1200">
                <a:solidFill>
                  <a:schemeClr val="bg1"/>
                </a:solidFill>
              </a:rPr>
              <a:t> </a:t>
            </a:r>
            <a:r>
              <a:rPr lang="de-DE" sz="1200" err="1">
                <a:solidFill>
                  <a:schemeClr val="bg1"/>
                </a:solidFill>
              </a:rPr>
              <a:t>impact</a:t>
            </a:r>
            <a:r>
              <a:rPr lang="de-DE" sz="1200">
                <a:solidFill>
                  <a:schemeClr val="bg1"/>
                </a:solidFill>
              </a:rPr>
              <a:t> </a:t>
            </a:r>
            <a:endParaRPr lang="en-GB" sz="1200">
              <a:solidFill>
                <a:schemeClr val="bg1"/>
              </a:solidFill>
            </a:endParaRPr>
          </a:p>
        </p:txBody>
      </p:sp>
      <p:sp>
        <p:nvSpPr>
          <p:cNvPr id="32" name="Arrow: Pentagon 31">
            <a:extLst>
              <a:ext uri="{FF2B5EF4-FFF2-40B4-BE49-F238E27FC236}">
                <a16:creationId xmlns:a16="http://schemas.microsoft.com/office/drawing/2014/main" id="{8798F8AF-EE84-259C-C1B9-EA7EA5C7261A}"/>
              </a:ext>
            </a:extLst>
          </p:cNvPr>
          <p:cNvSpPr/>
          <p:nvPr/>
        </p:nvSpPr>
        <p:spPr>
          <a:xfrm rot="5400000">
            <a:off x="6180145" y="515914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33" name="TextBox 32">
            <a:extLst>
              <a:ext uri="{FF2B5EF4-FFF2-40B4-BE49-F238E27FC236}">
                <a16:creationId xmlns:a16="http://schemas.microsoft.com/office/drawing/2014/main" id="{E28D7A76-8E3F-B3F5-5E61-4D741F428E7C}"/>
              </a:ext>
            </a:extLst>
          </p:cNvPr>
          <p:cNvSpPr txBox="1"/>
          <p:nvPr/>
        </p:nvSpPr>
        <p:spPr>
          <a:xfrm>
            <a:off x="6462719" y="5181107"/>
            <a:ext cx="3230051"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lower</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floating</a:t>
            </a:r>
            <a:r>
              <a:rPr lang="de-DE" sz="1200">
                <a:solidFill>
                  <a:schemeClr val="bg1"/>
                </a:solidFill>
              </a:rPr>
              <a:t>-rate </a:t>
            </a:r>
            <a:r>
              <a:rPr lang="de-DE" sz="1200" err="1">
                <a:solidFill>
                  <a:schemeClr val="bg1"/>
                </a:solidFill>
              </a:rPr>
              <a:t>liabilities</a:t>
            </a:r>
            <a:endParaRPr lang="en-GB" sz="1200">
              <a:solidFill>
                <a:schemeClr val="bg1"/>
              </a:solidFill>
            </a:endParaRPr>
          </a:p>
        </p:txBody>
      </p:sp>
      <p:sp>
        <p:nvSpPr>
          <p:cNvPr id="35" name="Arrow: Pentagon 34">
            <a:extLst>
              <a:ext uri="{FF2B5EF4-FFF2-40B4-BE49-F238E27FC236}">
                <a16:creationId xmlns:a16="http://schemas.microsoft.com/office/drawing/2014/main" id="{742EB5A9-4CFE-C28E-9BD4-6B04449F7C2E}"/>
              </a:ext>
            </a:extLst>
          </p:cNvPr>
          <p:cNvSpPr/>
          <p:nvPr/>
        </p:nvSpPr>
        <p:spPr>
          <a:xfrm rot="5400000">
            <a:off x="6180145" y="543199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36" name="TextBox 35">
            <a:extLst>
              <a:ext uri="{FF2B5EF4-FFF2-40B4-BE49-F238E27FC236}">
                <a16:creationId xmlns:a16="http://schemas.microsoft.com/office/drawing/2014/main" id="{9FBCB4B5-570D-80F6-C6AA-AC42C1178226}"/>
              </a:ext>
            </a:extLst>
          </p:cNvPr>
          <p:cNvSpPr txBox="1"/>
          <p:nvPr/>
        </p:nvSpPr>
        <p:spPr>
          <a:xfrm>
            <a:off x="6462719" y="5453957"/>
            <a:ext cx="2600071"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Lower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refinancing</a:t>
            </a:r>
            <a:endParaRPr lang="en-GB" sz="1200">
              <a:solidFill>
                <a:schemeClr val="bg1"/>
              </a:solidFill>
            </a:endParaRPr>
          </a:p>
        </p:txBody>
      </p:sp>
      <p:sp>
        <p:nvSpPr>
          <p:cNvPr id="38" name="Arrow: Pentagon 37">
            <a:extLst>
              <a:ext uri="{FF2B5EF4-FFF2-40B4-BE49-F238E27FC236}">
                <a16:creationId xmlns:a16="http://schemas.microsoft.com/office/drawing/2014/main" id="{175C54AF-7694-3DCA-AF40-21891354834E}"/>
              </a:ext>
            </a:extLst>
          </p:cNvPr>
          <p:cNvSpPr/>
          <p:nvPr/>
        </p:nvSpPr>
        <p:spPr>
          <a:xfrm>
            <a:off x="6180145"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39" name="TextBox 38">
            <a:extLst>
              <a:ext uri="{FF2B5EF4-FFF2-40B4-BE49-F238E27FC236}">
                <a16:creationId xmlns:a16="http://schemas.microsoft.com/office/drawing/2014/main" id="{87575451-A9FD-411B-3990-EECCA06DDF0C}"/>
              </a:ext>
            </a:extLst>
          </p:cNvPr>
          <p:cNvSpPr txBox="1"/>
          <p:nvPr/>
        </p:nvSpPr>
        <p:spPr>
          <a:xfrm>
            <a:off x="6462719" y="5728111"/>
            <a:ext cx="4408258"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No</a:t>
            </a:r>
            <a:r>
              <a:rPr lang="de-DE" sz="1200">
                <a:solidFill>
                  <a:schemeClr val="bg1"/>
                </a:solidFill>
              </a:rPr>
              <a:t> </a:t>
            </a:r>
            <a:r>
              <a:rPr lang="de-DE" sz="1200" err="1">
                <a:solidFill>
                  <a:schemeClr val="bg1"/>
                </a:solidFill>
              </a:rPr>
              <a:t>cashflow</a:t>
            </a:r>
            <a:r>
              <a:rPr lang="de-DE" sz="1200">
                <a:solidFill>
                  <a:schemeClr val="bg1"/>
                </a:solidFill>
              </a:rPr>
              <a:t> </a:t>
            </a:r>
            <a:r>
              <a:rPr lang="de-DE" sz="1200" err="1">
                <a:solidFill>
                  <a:schemeClr val="bg1"/>
                </a:solidFill>
              </a:rPr>
              <a:t>impact</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appreciation</a:t>
            </a:r>
            <a:r>
              <a:rPr lang="de-DE" sz="1200">
                <a:solidFill>
                  <a:schemeClr val="bg1"/>
                </a:solidFill>
              </a:rPr>
              <a:t> </a:t>
            </a:r>
            <a:r>
              <a:rPr lang="de-DE" sz="1200" err="1">
                <a:solidFill>
                  <a:schemeClr val="bg1"/>
                </a:solidFill>
              </a:rPr>
              <a:t>of</a:t>
            </a:r>
            <a:r>
              <a:rPr lang="de-DE" sz="1200">
                <a:solidFill>
                  <a:schemeClr val="bg1"/>
                </a:solidFill>
              </a:rPr>
              <a:t> </a:t>
            </a:r>
            <a:r>
              <a:rPr lang="de-DE" sz="1200" err="1">
                <a:solidFill>
                  <a:schemeClr val="bg1"/>
                </a:solidFill>
              </a:rPr>
              <a:t>fixed</a:t>
            </a:r>
            <a:r>
              <a:rPr lang="de-DE" sz="1200">
                <a:solidFill>
                  <a:schemeClr val="bg1"/>
                </a:solidFill>
              </a:rPr>
              <a:t>-rate </a:t>
            </a:r>
            <a:r>
              <a:rPr lang="de-DE" sz="1200" err="1">
                <a:solidFill>
                  <a:schemeClr val="bg1"/>
                </a:solidFill>
              </a:rPr>
              <a:t>liabilities</a:t>
            </a:r>
            <a:endParaRPr lang="en-GB" sz="1200">
              <a:solidFill>
                <a:schemeClr val="bg1"/>
              </a:solidFill>
            </a:endParaRPr>
          </a:p>
        </p:txBody>
      </p:sp>
      <p:pic>
        <p:nvPicPr>
          <p:cNvPr id="2050" name="Picture 2">
            <a:extLst>
              <a:ext uri="{FF2B5EF4-FFF2-40B4-BE49-F238E27FC236}">
                <a16:creationId xmlns:a16="http://schemas.microsoft.com/office/drawing/2014/main" id="{4C7CCCE6-16E7-AD4E-BE5F-8CE0896AB8E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736" y="1300350"/>
            <a:ext cx="5129784" cy="341071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graph of a number of black squares&#10;&#10;AI-generated content may be incorrect.">
            <a:extLst>
              <a:ext uri="{FF2B5EF4-FFF2-40B4-BE49-F238E27FC236}">
                <a16:creationId xmlns:a16="http://schemas.microsoft.com/office/drawing/2014/main" id="{91A3E263-2B85-C211-CC9B-A4245E28982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507480" y="1300350"/>
            <a:ext cx="5129784" cy="3410712"/>
          </a:xfrm>
          <a:prstGeom prst="rect">
            <a:avLst/>
          </a:prstGeom>
        </p:spPr>
      </p:pic>
      <p:sp>
        <p:nvSpPr>
          <p:cNvPr id="41" name="Rectangle: Rounded Corners 40">
            <a:extLst>
              <a:ext uri="{FF2B5EF4-FFF2-40B4-BE49-F238E27FC236}">
                <a16:creationId xmlns:a16="http://schemas.microsoft.com/office/drawing/2014/main" id="{BBF4563D-B24C-E5C3-ED97-D19B2FA712FA}"/>
              </a:ext>
            </a:extLst>
          </p:cNvPr>
          <p:cNvSpPr/>
          <p:nvPr/>
        </p:nvSpPr>
        <p:spPr>
          <a:xfrm>
            <a:off x="3376770" y="6024880"/>
            <a:ext cx="5557520" cy="252182"/>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de-DE" sz="1200" b="1" err="1">
                <a:solidFill>
                  <a:schemeClr val="bg1"/>
                </a:solidFill>
              </a:rPr>
              <a:t>Direction</a:t>
            </a:r>
            <a:r>
              <a:rPr lang="de-DE" sz="1200" b="1">
                <a:solidFill>
                  <a:schemeClr val="bg1"/>
                </a:solidFill>
              </a:rPr>
              <a:t> </a:t>
            </a:r>
            <a:r>
              <a:rPr lang="de-DE" sz="1200" b="1" err="1">
                <a:solidFill>
                  <a:schemeClr val="bg1"/>
                </a:solidFill>
              </a:rPr>
              <a:t>of</a:t>
            </a:r>
            <a:r>
              <a:rPr lang="de-DE" sz="1200" b="1">
                <a:solidFill>
                  <a:schemeClr val="bg1"/>
                </a:solidFill>
              </a:rPr>
              <a:t> </a:t>
            </a:r>
            <a:r>
              <a:rPr lang="de-DE" sz="1200" b="1" err="1">
                <a:solidFill>
                  <a:schemeClr val="bg1"/>
                </a:solidFill>
              </a:rPr>
              <a:t>net</a:t>
            </a:r>
            <a:r>
              <a:rPr lang="de-DE" sz="1200" b="1">
                <a:solidFill>
                  <a:schemeClr val="bg1"/>
                </a:solidFill>
              </a:rPr>
              <a:t> </a:t>
            </a:r>
            <a:r>
              <a:rPr lang="de-DE" sz="1200" b="1" err="1">
                <a:solidFill>
                  <a:schemeClr val="bg1"/>
                </a:solidFill>
              </a:rPr>
              <a:t>cashflow</a:t>
            </a:r>
            <a:r>
              <a:rPr lang="de-DE" sz="1200" b="1">
                <a:solidFill>
                  <a:schemeClr val="bg1"/>
                </a:solidFill>
              </a:rPr>
              <a:t> </a:t>
            </a:r>
            <a:r>
              <a:rPr lang="de-DE" sz="1200" b="1" err="1">
                <a:solidFill>
                  <a:schemeClr val="bg1"/>
                </a:solidFill>
              </a:rPr>
              <a:t>effect</a:t>
            </a:r>
            <a:r>
              <a:rPr lang="de-DE" sz="1200" b="1">
                <a:solidFill>
                  <a:schemeClr val="bg1"/>
                </a:solidFill>
              </a:rPr>
              <a:t> </a:t>
            </a:r>
            <a:r>
              <a:rPr lang="de-DE" sz="1200" b="1" err="1">
                <a:solidFill>
                  <a:schemeClr val="bg1"/>
                </a:solidFill>
              </a:rPr>
              <a:t>depending</a:t>
            </a:r>
            <a:r>
              <a:rPr lang="de-DE" sz="1200" b="1">
                <a:solidFill>
                  <a:schemeClr val="bg1"/>
                </a:solidFill>
              </a:rPr>
              <a:t> on Asset/</a:t>
            </a:r>
            <a:r>
              <a:rPr lang="de-DE" sz="1200" b="1" err="1">
                <a:solidFill>
                  <a:schemeClr val="bg1"/>
                </a:solidFill>
              </a:rPr>
              <a:t>Liability</a:t>
            </a:r>
            <a:r>
              <a:rPr lang="de-DE" sz="1200" b="1">
                <a:solidFill>
                  <a:schemeClr val="bg1"/>
                </a:solidFill>
              </a:rPr>
              <a:t> </a:t>
            </a:r>
            <a:r>
              <a:rPr lang="de-DE" sz="1200" b="1" err="1">
                <a:solidFill>
                  <a:schemeClr val="bg1"/>
                </a:solidFill>
              </a:rPr>
              <a:t>sensitivity</a:t>
            </a:r>
            <a:endParaRPr lang="en-GB" sz="1200" b="1" err="1">
              <a:solidFill>
                <a:schemeClr val="bg1"/>
              </a:solidFill>
            </a:endParaRPr>
          </a:p>
        </p:txBody>
      </p:sp>
      <p:sp>
        <p:nvSpPr>
          <p:cNvPr id="8" name="Arrow: Pentagon 7">
            <a:extLst>
              <a:ext uri="{FF2B5EF4-FFF2-40B4-BE49-F238E27FC236}">
                <a16:creationId xmlns:a16="http://schemas.microsoft.com/office/drawing/2014/main" id="{B65424B4-1076-F93A-1A5A-1B645901F2F3}"/>
              </a:ext>
            </a:extLst>
          </p:cNvPr>
          <p:cNvSpPr/>
          <p:nvPr/>
        </p:nvSpPr>
        <p:spPr>
          <a:xfrm>
            <a:off x="3257710" y="6034977"/>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Tree>
    <p:extLst>
      <p:ext uri="{BB962C8B-B14F-4D97-AF65-F5344CB8AC3E}">
        <p14:creationId xmlns:p14="http://schemas.microsoft.com/office/powerpoint/2010/main" val="927263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E9C46-21DF-94F9-5FD3-A4F1D4D5A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C68C0-622B-FAE2-E231-848BD30FA959}"/>
              </a:ext>
            </a:extLst>
          </p:cNvPr>
          <p:cNvSpPr>
            <a:spLocks noGrp="1"/>
          </p:cNvSpPr>
          <p:nvPr>
            <p:ph type="title"/>
          </p:nvPr>
        </p:nvSpPr>
        <p:spPr>
          <a:xfrm>
            <a:off x="554736" y="355092"/>
            <a:ext cx="11082528" cy="731520"/>
          </a:xfrm>
        </p:spPr>
        <p:txBody>
          <a:bodyPr/>
          <a:lstStyle/>
          <a:p>
            <a:r>
              <a:rPr lang="en-GB"/>
              <a:t>Interest Rate </a:t>
            </a:r>
            <a:r>
              <a:rPr lang="en-US"/>
              <a:t>Scenario 3: </a:t>
            </a:r>
            <a:r>
              <a:rPr lang="de-DE" err="1"/>
              <a:t>Flattening</a:t>
            </a:r>
            <a:r>
              <a:rPr lang="de-DE"/>
              <a:t> </a:t>
            </a:r>
            <a:r>
              <a:rPr lang="de-DE" err="1"/>
              <a:t>the</a:t>
            </a:r>
            <a:r>
              <a:rPr lang="de-DE"/>
              <a:t> </a:t>
            </a:r>
            <a:r>
              <a:rPr lang="de-DE" err="1"/>
              <a:t>Curve</a:t>
            </a:r>
            <a:r>
              <a:rPr lang="de-DE"/>
              <a:t> </a:t>
            </a:r>
            <a:r>
              <a:rPr lang="de-DE" err="1"/>
              <a:t>Around</a:t>
            </a:r>
            <a:r>
              <a:rPr lang="de-DE"/>
              <a:t> 5Y </a:t>
            </a:r>
            <a:endParaRPr lang="en-US"/>
          </a:p>
        </p:txBody>
      </p:sp>
      <p:cxnSp>
        <p:nvCxnSpPr>
          <p:cNvPr id="14" name="Straight Connector 13">
            <a:extLst>
              <a:ext uri="{FF2B5EF4-FFF2-40B4-BE49-F238E27FC236}">
                <a16:creationId xmlns:a16="http://schemas.microsoft.com/office/drawing/2014/main" id="{94C37789-483B-545E-F11E-BB11CDDEC14C}"/>
              </a:ext>
            </a:extLst>
          </p:cNvPr>
          <p:cNvCxnSpPr>
            <a:cxnSpLocks/>
          </p:cNvCxnSpPr>
          <p:nvPr/>
        </p:nvCxnSpPr>
        <p:spPr>
          <a:xfrm>
            <a:off x="6096000" y="5098047"/>
            <a:ext cx="0" cy="835393"/>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88F67B0-1F68-9D32-3BB7-44D352666928}"/>
              </a:ext>
            </a:extLst>
          </p:cNvPr>
          <p:cNvCxnSpPr>
            <a:cxnSpLocks/>
          </p:cNvCxnSpPr>
          <p:nvPr/>
        </p:nvCxnSpPr>
        <p:spPr>
          <a:xfrm>
            <a:off x="1410302" y="5098047"/>
            <a:ext cx="9371397" cy="0"/>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852E327-A58C-C9CE-98E9-FF7C46B00C56}"/>
              </a:ext>
            </a:extLst>
          </p:cNvPr>
          <p:cNvSpPr txBox="1"/>
          <p:nvPr/>
        </p:nvSpPr>
        <p:spPr>
          <a:xfrm>
            <a:off x="1951407" y="4807717"/>
            <a:ext cx="2877134"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Asset Side</a:t>
            </a:r>
            <a:endParaRPr lang="en-GB" sz="1400">
              <a:solidFill>
                <a:schemeClr val="bg1"/>
              </a:solidFill>
            </a:endParaRPr>
          </a:p>
        </p:txBody>
      </p:sp>
      <p:sp>
        <p:nvSpPr>
          <p:cNvPr id="16" name="TextBox 15">
            <a:extLst>
              <a:ext uri="{FF2B5EF4-FFF2-40B4-BE49-F238E27FC236}">
                <a16:creationId xmlns:a16="http://schemas.microsoft.com/office/drawing/2014/main" id="{8EC19A7E-AA25-558F-4F66-D9E9E19D696C}"/>
              </a:ext>
            </a:extLst>
          </p:cNvPr>
          <p:cNvSpPr txBox="1"/>
          <p:nvPr/>
        </p:nvSpPr>
        <p:spPr>
          <a:xfrm>
            <a:off x="7363460" y="4807717"/>
            <a:ext cx="3036088"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t>
            </a:r>
            <a:r>
              <a:rPr lang="de-DE" altLang="zh-CN" sz="1400" err="1">
                <a:solidFill>
                  <a:schemeClr val="bg1"/>
                </a:solidFill>
              </a:rPr>
              <a:t>Liability</a:t>
            </a:r>
            <a:r>
              <a:rPr lang="de-DE" altLang="zh-CN" sz="1400">
                <a:solidFill>
                  <a:schemeClr val="bg1"/>
                </a:solidFill>
              </a:rPr>
              <a:t> Side</a:t>
            </a:r>
            <a:endParaRPr lang="en-GB" sz="1400">
              <a:solidFill>
                <a:schemeClr val="bg1"/>
              </a:solidFill>
            </a:endParaRPr>
          </a:p>
        </p:txBody>
      </p:sp>
      <p:sp>
        <p:nvSpPr>
          <p:cNvPr id="21" name="TextBox 20">
            <a:extLst>
              <a:ext uri="{FF2B5EF4-FFF2-40B4-BE49-F238E27FC236}">
                <a16:creationId xmlns:a16="http://schemas.microsoft.com/office/drawing/2014/main" id="{B0A49FAE-5689-4FEE-6367-0AA684DD6B3E}"/>
              </a:ext>
            </a:extLst>
          </p:cNvPr>
          <p:cNvSpPr txBox="1"/>
          <p:nvPr/>
        </p:nvSpPr>
        <p:spPr>
          <a:xfrm>
            <a:off x="1694180" y="5181107"/>
            <a:ext cx="347428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from</a:t>
            </a:r>
            <a:r>
              <a:rPr lang="de-DE" sz="1200">
                <a:solidFill>
                  <a:schemeClr val="bg1"/>
                </a:solidFill>
              </a:rPr>
              <a:t> Short-Term </a:t>
            </a:r>
            <a:r>
              <a:rPr lang="de-DE" sz="1200" err="1">
                <a:solidFill>
                  <a:schemeClr val="bg1"/>
                </a:solidFill>
              </a:rPr>
              <a:t>investment</a:t>
            </a:r>
            <a:endParaRPr lang="en-GB" sz="1200">
              <a:solidFill>
                <a:schemeClr val="bg1"/>
              </a:solidFill>
            </a:endParaRPr>
          </a:p>
        </p:txBody>
      </p:sp>
      <p:sp>
        <p:nvSpPr>
          <p:cNvPr id="25" name="TextBox 24">
            <a:extLst>
              <a:ext uri="{FF2B5EF4-FFF2-40B4-BE49-F238E27FC236}">
                <a16:creationId xmlns:a16="http://schemas.microsoft.com/office/drawing/2014/main" id="{C8C8F173-6C6C-7C5B-0B4F-3A13198ABC95}"/>
              </a:ext>
            </a:extLst>
          </p:cNvPr>
          <p:cNvSpPr txBox="1"/>
          <p:nvPr/>
        </p:nvSpPr>
        <p:spPr>
          <a:xfrm>
            <a:off x="1694180" y="5453957"/>
            <a:ext cx="308738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investment</a:t>
            </a:r>
            <a:r>
              <a:rPr lang="de-DE" sz="1200">
                <a:solidFill>
                  <a:schemeClr val="bg1"/>
                </a:solidFill>
              </a:rPr>
              <a:t> </a:t>
            </a:r>
            <a:r>
              <a:rPr lang="de-DE" sz="1200" err="1">
                <a:solidFill>
                  <a:schemeClr val="bg1"/>
                </a:solidFill>
              </a:rPr>
              <a:t>rollover</a:t>
            </a:r>
            <a:endParaRPr lang="en-GB" sz="1200">
              <a:solidFill>
                <a:schemeClr val="bg1"/>
              </a:solidFill>
            </a:endParaRPr>
          </a:p>
        </p:txBody>
      </p:sp>
      <p:sp>
        <p:nvSpPr>
          <p:cNvPr id="28" name="TextBox 27">
            <a:extLst>
              <a:ext uri="{FF2B5EF4-FFF2-40B4-BE49-F238E27FC236}">
                <a16:creationId xmlns:a16="http://schemas.microsoft.com/office/drawing/2014/main" id="{35696C1E-604B-AC36-0E00-3152B0A27935}"/>
              </a:ext>
            </a:extLst>
          </p:cNvPr>
          <p:cNvSpPr txBox="1"/>
          <p:nvPr/>
        </p:nvSpPr>
        <p:spPr>
          <a:xfrm>
            <a:off x="1694180" y="5728111"/>
            <a:ext cx="4293419"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Increased</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investment</a:t>
            </a:r>
            <a:r>
              <a:rPr lang="de-DE" sz="1200">
                <a:solidFill>
                  <a:schemeClr val="bg1"/>
                </a:solidFill>
              </a:rPr>
              <a:t>, </a:t>
            </a:r>
            <a:r>
              <a:rPr lang="de-DE" sz="1200" err="1">
                <a:solidFill>
                  <a:schemeClr val="bg1"/>
                </a:solidFill>
              </a:rPr>
              <a:t>no</a:t>
            </a:r>
            <a:r>
              <a:rPr lang="de-DE" sz="1200">
                <a:solidFill>
                  <a:schemeClr val="bg1"/>
                </a:solidFill>
              </a:rPr>
              <a:t> cash </a:t>
            </a:r>
            <a:r>
              <a:rPr lang="de-DE" sz="1200" err="1">
                <a:solidFill>
                  <a:schemeClr val="bg1"/>
                </a:solidFill>
              </a:rPr>
              <a:t>flow</a:t>
            </a:r>
            <a:r>
              <a:rPr lang="de-DE" sz="1200">
                <a:solidFill>
                  <a:schemeClr val="bg1"/>
                </a:solidFill>
              </a:rPr>
              <a:t> </a:t>
            </a:r>
            <a:r>
              <a:rPr lang="de-DE" sz="1200" err="1">
                <a:solidFill>
                  <a:schemeClr val="bg1"/>
                </a:solidFill>
              </a:rPr>
              <a:t>impact</a:t>
            </a:r>
            <a:r>
              <a:rPr lang="de-DE" sz="1200">
                <a:solidFill>
                  <a:schemeClr val="bg1"/>
                </a:solidFill>
              </a:rPr>
              <a:t> </a:t>
            </a:r>
            <a:endParaRPr lang="en-GB" sz="1200">
              <a:solidFill>
                <a:schemeClr val="bg1"/>
              </a:solidFill>
            </a:endParaRPr>
          </a:p>
        </p:txBody>
      </p:sp>
      <p:sp>
        <p:nvSpPr>
          <p:cNvPr id="33" name="TextBox 32">
            <a:extLst>
              <a:ext uri="{FF2B5EF4-FFF2-40B4-BE49-F238E27FC236}">
                <a16:creationId xmlns:a16="http://schemas.microsoft.com/office/drawing/2014/main" id="{D38E742C-2733-EC9B-BC99-88ECF740F944}"/>
              </a:ext>
            </a:extLst>
          </p:cNvPr>
          <p:cNvSpPr txBox="1"/>
          <p:nvPr/>
        </p:nvSpPr>
        <p:spPr>
          <a:xfrm>
            <a:off x="6462719" y="5181107"/>
            <a:ext cx="326589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Short-Term </a:t>
            </a:r>
            <a:r>
              <a:rPr lang="de-DE" sz="1200" err="1">
                <a:solidFill>
                  <a:schemeClr val="bg1"/>
                </a:solidFill>
              </a:rPr>
              <a:t>liabilities</a:t>
            </a:r>
            <a:endParaRPr lang="en-GB" sz="1200">
              <a:solidFill>
                <a:schemeClr val="bg1"/>
              </a:solidFill>
            </a:endParaRPr>
          </a:p>
        </p:txBody>
      </p:sp>
      <p:sp>
        <p:nvSpPr>
          <p:cNvPr id="36" name="TextBox 35">
            <a:extLst>
              <a:ext uri="{FF2B5EF4-FFF2-40B4-BE49-F238E27FC236}">
                <a16:creationId xmlns:a16="http://schemas.microsoft.com/office/drawing/2014/main" id="{CC59BF12-33C8-52D9-0C2D-3DBB3E2CE76F}"/>
              </a:ext>
            </a:extLst>
          </p:cNvPr>
          <p:cNvSpPr txBox="1"/>
          <p:nvPr/>
        </p:nvSpPr>
        <p:spPr>
          <a:xfrm>
            <a:off x="6462719" y="5453957"/>
            <a:ext cx="3376502"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Lower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Long-Term </a:t>
            </a:r>
            <a:r>
              <a:rPr lang="de-DE" sz="1200" err="1">
                <a:solidFill>
                  <a:schemeClr val="bg1"/>
                </a:solidFill>
              </a:rPr>
              <a:t>refinancing</a:t>
            </a:r>
            <a:endParaRPr lang="en-GB" sz="1200">
              <a:solidFill>
                <a:schemeClr val="bg1"/>
              </a:solidFill>
            </a:endParaRPr>
          </a:p>
        </p:txBody>
      </p:sp>
      <p:sp>
        <p:nvSpPr>
          <p:cNvPr id="39" name="TextBox 38">
            <a:extLst>
              <a:ext uri="{FF2B5EF4-FFF2-40B4-BE49-F238E27FC236}">
                <a16:creationId xmlns:a16="http://schemas.microsoft.com/office/drawing/2014/main" id="{4D933E31-A66F-953C-FE02-5E6A23624A64}"/>
              </a:ext>
            </a:extLst>
          </p:cNvPr>
          <p:cNvSpPr txBox="1"/>
          <p:nvPr/>
        </p:nvSpPr>
        <p:spPr>
          <a:xfrm>
            <a:off x="6462719" y="5728111"/>
            <a:ext cx="4501810"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No</a:t>
            </a:r>
            <a:r>
              <a:rPr lang="de-DE" sz="1200">
                <a:solidFill>
                  <a:schemeClr val="bg1"/>
                </a:solidFill>
              </a:rPr>
              <a:t> </a:t>
            </a:r>
            <a:r>
              <a:rPr lang="de-DE" sz="1200" err="1">
                <a:solidFill>
                  <a:schemeClr val="bg1"/>
                </a:solidFill>
              </a:rPr>
              <a:t>cashflow</a:t>
            </a:r>
            <a:r>
              <a:rPr lang="de-DE" sz="1200">
                <a:solidFill>
                  <a:schemeClr val="bg1"/>
                </a:solidFill>
              </a:rPr>
              <a:t> </a:t>
            </a:r>
            <a:r>
              <a:rPr lang="de-DE" sz="1200" err="1">
                <a:solidFill>
                  <a:schemeClr val="bg1"/>
                </a:solidFill>
              </a:rPr>
              <a:t>impact</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appreciation</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liabilities</a:t>
            </a:r>
            <a:endParaRPr lang="en-GB" sz="1200">
              <a:solidFill>
                <a:schemeClr val="bg1"/>
              </a:solidFill>
            </a:endParaRPr>
          </a:p>
        </p:txBody>
      </p:sp>
      <p:sp>
        <p:nvSpPr>
          <p:cNvPr id="41" name="Rectangle: Rounded Corners 40">
            <a:extLst>
              <a:ext uri="{FF2B5EF4-FFF2-40B4-BE49-F238E27FC236}">
                <a16:creationId xmlns:a16="http://schemas.microsoft.com/office/drawing/2014/main" id="{9D96AE92-9397-CD1D-CAF1-80A6B56DC27A}"/>
              </a:ext>
            </a:extLst>
          </p:cNvPr>
          <p:cNvSpPr/>
          <p:nvPr/>
        </p:nvSpPr>
        <p:spPr>
          <a:xfrm>
            <a:off x="3492270" y="6024880"/>
            <a:ext cx="5921236" cy="238198"/>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de-DE" sz="1200" b="1">
                <a:solidFill>
                  <a:schemeClr val="bg1"/>
                </a:solidFill>
              </a:rPr>
              <a:t>Positive </a:t>
            </a:r>
            <a:r>
              <a:rPr lang="de-DE" sz="1200" b="1" err="1">
                <a:solidFill>
                  <a:schemeClr val="bg1"/>
                </a:solidFill>
              </a:rPr>
              <a:t>net</a:t>
            </a:r>
            <a:r>
              <a:rPr lang="de-DE" sz="1200" b="1">
                <a:solidFill>
                  <a:schemeClr val="bg1"/>
                </a:solidFill>
              </a:rPr>
              <a:t> </a:t>
            </a:r>
            <a:r>
              <a:rPr lang="de-DE" sz="1200" b="1" err="1">
                <a:solidFill>
                  <a:schemeClr val="bg1"/>
                </a:solidFill>
              </a:rPr>
              <a:t>cashflow</a:t>
            </a:r>
            <a:r>
              <a:rPr lang="de-DE" sz="1200" b="1">
                <a:solidFill>
                  <a:schemeClr val="bg1"/>
                </a:solidFill>
              </a:rPr>
              <a:t> </a:t>
            </a:r>
            <a:r>
              <a:rPr lang="de-DE" sz="1200" b="1" err="1">
                <a:solidFill>
                  <a:schemeClr val="bg1"/>
                </a:solidFill>
              </a:rPr>
              <a:t>effect</a:t>
            </a:r>
            <a:r>
              <a:rPr lang="de-DE" sz="1200" b="1">
                <a:solidFill>
                  <a:schemeClr val="bg1"/>
                </a:solidFill>
              </a:rPr>
              <a:t> </a:t>
            </a:r>
            <a:r>
              <a:rPr lang="de-DE" sz="1200" b="1" err="1">
                <a:solidFill>
                  <a:schemeClr val="bg1"/>
                </a:solidFill>
              </a:rPr>
              <a:t>given</a:t>
            </a:r>
            <a:r>
              <a:rPr lang="de-DE" sz="1200" b="1">
                <a:solidFill>
                  <a:schemeClr val="bg1"/>
                </a:solidFill>
              </a:rPr>
              <a:t> Short-Term Asset and Long-Term </a:t>
            </a:r>
            <a:r>
              <a:rPr lang="de-DE" sz="1200" b="1" err="1">
                <a:solidFill>
                  <a:schemeClr val="bg1"/>
                </a:solidFill>
              </a:rPr>
              <a:t>Liabilities</a:t>
            </a:r>
            <a:endParaRPr lang="en-GB" sz="1200" b="1" err="1">
              <a:solidFill>
                <a:schemeClr val="bg1"/>
              </a:solidFill>
            </a:endParaRPr>
          </a:p>
        </p:txBody>
      </p:sp>
      <p:sp>
        <p:nvSpPr>
          <p:cNvPr id="8" name="Arrow: Pentagon 7">
            <a:extLst>
              <a:ext uri="{FF2B5EF4-FFF2-40B4-BE49-F238E27FC236}">
                <a16:creationId xmlns:a16="http://schemas.microsoft.com/office/drawing/2014/main" id="{6978FBFD-EBD3-5453-42BC-07BFE4E15A6B}"/>
              </a:ext>
            </a:extLst>
          </p:cNvPr>
          <p:cNvSpPr/>
          <p:nvPr/>
        </p:nvSpPr>
        <p:spPr>
          <a:xfrm rot="16200000">
            <a:off x="3257710" y="6034977"/>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4" name="Picture 3" descr="A graph showing a graph of a graph&#10;&#10;AI-generated content may be incorrect.">
            <a:extLst>
              <a:ext uri="{FF2B5EF4-FFF2-40B4-BE49-F238E27FC236}">
                <a16:creationId xmlns:a16="http://schemas.microsoft.com/office/drawing/2014/main" id="{D4133983-9EA2-E60C-CC79-F0AF03D7C8A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507480" y="1300350"/>
            <a:ext cx="5129784" cy="3410712"/>
          </a:xfrm>
          <a:prstGeom prst="rect">
            <a:avLst/>
          </a:prstGeom>
        </p:spPr>
      </p:pic>
      <p:sp>
        <p:nvSpPr>
          <p:cNvPr id="5" name="Arrow: Pentagon 4">
            <a:extLst>
              <a:ext uri="{FF2B5EF4-FFF2-40B4-BE49-F238E27FC236}">
                <a16:creationId xmlns:a16="http://schemas.microsoft.com/office/drawing/2014/main" id="{1C641AAF-8465-4692-D36D-B3C885114C7D}"/>
              </a:ext>
            </a:extLst>
          </p:cNvPr>
          <p:cNvSpPr/>
          <p:nvPr/>
        </p:nvSpPr>
        <p:spPr>
          <a:xfrm rot="16200000">
            <a:off x="6180145" y="515914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3" name="Arrow: Pentagon 12">
            <a:extLst>
              <a:ext uri="{FF2B5EF4-FFF2-40B4-BE49-F238E27FC236}">
                <a16:creationId xmlns:a16="http://schemas.microsoft.com/office/drawing/2014/main" id="{15793ECA-7D63-A091-C834-5F7A8D676E5A}"/>
              </a:ext>
            </a:extLst>
          </p:cNvPr>
          <p:cNvSpPr/>
          <p:nvPr/>
        </p:nvSpPr>
        <p:spPr>
          <a:xfrm rot="5400000">
            <a:off x="6180145" y="543199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7" name="Arrow: Pentagon 16">
            <a:extLst>
              <a:ext uri="{FF2B5EF4-FFF2-40B4-BE49-F238E27FC236}">
                <a16:creationId xmlns:a16="http://schemas.microsoft.com/office/drawing/2014/main" id="{A01AB93E-003C-A905-CF95-361F4E056B23}"/>
              </a:ext>
            </a:extLst>
          </p:cNvPr>
          <p:cNvSpPr/>
          <p:nvPr/>
        </p:nvSpPr>
        <p:spPr>
          <a:xfrm>
            <a:off x="6180145"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3076" name="Picture 4">
            <a:extLst>
              <a:ext uri="{FF2B5EF4-FFF2-40B4-BE49-F238E27FC236}">
                <a16:creationId xmlns:a16="http://schemas.microsoft.com/office/drawing/2014/main" id="{C51F392C-7BB9-15B0-8BE9-F59B31F2FD0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736" y="1300350"/>
            <a:ext cx="5129784" cy="3410712"/>
          </a:xfrm>
          <a:prstGeom prst="rect">
            <a:avLst/>
          </a:prstGeom>
          <a:noFill/>
          <a:extLst>
            <a:ext uri="{909E8E84-426E-40DD-AFC4-6F175D3DCCD1}">
              <a14:hiddenFill xmlns:a14="http://schemas.microsoft.com/office/drawing/2010/main">
                <a:solidFill>
                  <a:srgbClr val="FFFFFF"/>
                </a:solidFill>
              </a14:hiddenFill>
            </a:ext>
          </a:extLst>
        </p:spPr>
      </p:pic>
      <p:sp>
        <p:nvSpPr>
          <p:cNvPr id="18" name="Arrow: Pentagon 17">
            <a:extLst>
              <a:ext uri="{FF2B5EF4-FFF2-40B4-BE49-F238E27FC236}">
                <a16:creationId xmlns:a16="http://schemas.microsoft.com/office/drawing/2014/main" id="{8BC67E63-6D5E-1ED6-6873-AF633CA3EACB}"/>
              </a:ext>
            </a:extLst>
          </p:cNvPr>
          <p:cNvSpPr/>
          <p:nvPr/>
        </p:nvSpPr>
        <p:spPr>
          <a:xfrm rot="16200000">
            <a:off x="1411606" y="515914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9" name="Arrow: Pentagon 18">
            <a:extLst>
              <a:ext uri="{FF2B5EF4-FFF2-40B4-BE49-F238E27FC236}">
                <a16:creationId xmlns:a16="http://schemas.microsoft.com/office/drawing/2014/main" id="{ABCB6A56-29AB-208C-4B3E-A15BF21B714C}"/>
              </a:ext>
            </a:extLst>
          </p:cNvPr>
          <p:cNvSpPr/>
          <p:nvPr/>
        </p:nvSpPr>
        <p:spPr>
          <a:xfrm rot="16200000">
            <a:off x="1411606" y="543199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2" name="Arrow: Pentagon 21">
            <a:extLst>
              <a:ext uri="{FF2B5EF4-FFF2-40B4-BE49-F238E27FC236}">
                <a16:creationId xmlns:a16="http://schemas.microsoft.com/office/drawing/2014/main" id="{EC3604D5-4B21-BA58-3DF4-03FD3B23D327}"/>
              </a:ext>
            </a:extLst>
          </p:cNvPr>
          <p:cNvSpPr/>
          <p:nvPr/>
        </p:nvSpPr>
        <p:spPr>
          <a:xfrm>
            <a:off x="1411606"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Tree>
    <p:extLst>
      <p:ext uri="{BB962C8B-B14F-4D97-AF65-F5344CB8AC3E}">
        <p14:creationId xmlns:p14="http://schemas.microsoft.com/office/powerpoint/2010/main" val="2651722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5F9C-4C1D-05CE-9D0A-C45A260B1B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83C28-083A-EA70-E934-CF2DEC3AE388}"/>
              </a:ext>
            </a:extLst>
          </p:cNvPr>
          <p:cNvSpPr>
            <a:spLocks noGrp="1"/>
          </p:cNvSpPr>
          <p:nvPr>
            <p:ph type="title"/>
          </p:nvPr>
        </p:nvSpPr>
        <p:spPr>
          <a:xfrm>
            <a:off x="554736" y="355092"/>
            <a:ext cx="11082528" cy="731520"/>
          </a:xfrm>
        </p:spPr>
        <p:txBody>
          <a:bodyPr/>
          <a:lstStyle/>
          <a:p>
            <a:r>
              <a:rPr lang="en-GB"/>
              <a:t>Interest Rate </a:t>
            </a:r>
            <a:r>
              <a:rPr lang="en-US"/>
              <a:t>Scenario 4: </a:t>
            </a:r>
            <a:r>
              <a:rPr lang="de-DE" err="1"/>
              <a:t>Steepening</a:t>
            </a:r>
            <a:r>
              <a:rPr lang="de-DE"/>
              <a:t> </a:t>
            </a:r>
            <a:r>
              <a:rPr lang="de-DE" err="1"/>
              <a:t>the</a:t>
            </a:r>
            <a:r>
              <a:rPr lang="de-DE"/>
              <a:t> </a:t>
            </a:r>
            <a:r>
              <a:rPr lang="de-DE" err="1"/>
              <a:t>Curve</a:t>
            </a:r>
            <a:r>
              <a:rPr lang="de-DE"/>
              <a:t> </a:t>
            </a:r>
            <a:r>
              <a:rPr lang="de-DE" err="1"/>
              <a:t>Around</a:t>
            </a:r>
            <a:r>
              <a:rPr lang="de-DE"/>
              <a:t> 5Y </a:t>
            </a:r>
            <a:endParaRPr lang="en-US"/>
          </a:p>
        </p:txBody>
      </p:sp>
      <p:cxnSp>
        <p:nvCxnSpPr>
          <p:cNvPr id="14" name="Straight Connector 13">
            <a:extLst>
              <a:ext uri="{FF2B5EF4-FFF2-40B4-BE49-F238E27FC236}">
                <a16:creationId xmlns:a16="http://schemas.microsoft.com/office/drawing/2014/main" id="{027E1CD9-E1E6-8FAC-FBEE-AC10FF2E866E}"/>
              </a:ext>
            </a:extLst>
          </p:cNvPr>
          <p:cNvCxnSpPr>
            <a:cxnSpLocks/>
          </p:cNvCxnSpPr>
          <p:nvPr/>
        </p:nvCxnSpPr>
        <p:spPr>
          <a:xfrm>
            <a:off x="6096000" y="5098047"/>
            <a:ext cx="0" cy="835393"/>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EA6D76-74FC-7058-EB1E-EDBBEB4F395E}"/>
              </a:ext>
            </a:extLst>
          </p:cNvPr>
          <p:cNvCxnSpPr>
            <a:cxnSpLocks/>
          </p:cNvCxnSpPr>
          <p:nvPr/>
        </p:nvCxnSpPr>
        <p:spPr>
          <a:xfrm>
            <a:off x="1410302" y="5098047"/>
            <a:ext cx="9371397" cy="0"/>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3058B59-28F3-8F58-C0D0-475019A0F409}"/>
              </a:ext>
            </a:extLst>
          </p:cNvPr>
          <p:cNvSpPr txBox="1"/>
          <p:nvPr/>
        </p:nvSpPr>
        <p:spPr>
          <a:xfrm>
            <a:off x="1951407" y="4807717"/>
            <a:ext cx="2877134"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Asset Side</a:t>
            </a:r>
            <a:endParaRPr lang="en-GB" sz="1400">
              <a:solidFill>
                <a:schemeClr val="bg1"/>
              </a:solidFill>
            </a:endParaRPr>
          </a:p>
        </p:txBody>
      </p:sp>
      <p:sp>
        <p:nvSpPr>
          <p:cNvPr id="16" name="TextBox 15">
            <a:extLst>
              <a:ext uri="{FF2B5EF4-FFF2-40B4-BE49-F238E27FC236}">
                <a16:creationId xmlns:a16="http://schemas.microsoft.com/office/drawing/2014/main" id="{DB433CC6-74A2-7B20-43C7-E3354FE4D529}"/>
              </a:ext>
            </a:extLst>
          </p:cNvPr>
          <p:cNvSpPr txBox="1"/>
          <p:nvPr/>
        </p:nvSpPr>
        <p:spPr>
          <a:xfrm>
            <a:off x="7363460" y="4807717"/>
            <a:ext cx="3036088"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t>
            </a:r>
            <a:r>
              <a:rPr lang="de-DE" altLang="zh-CN" sz="1400" err="1">
                <a:solidFill>
                  <a:schemeClr val="bg1"/>
                </a:solidFill>
              </a:rPr>
              <a:t>Liability</a:t>
            </a:r>
            <a:r>
              <a:rPr lang="de-DE" altLang="zh-CN" sz="1400">
                <a:solidFill>
                  <a:schemeClr val="bg1"/>
                </a:solidFill>
              </a:rPr>
              <a:t> Side</a:t>
            </a:r>
            <a:endParaRPr lang="en-GB" sz="1400">
              <a:solidFill>
                <a:schemeClr val="bg1"/>
              </a:solidFill>
            </a:endParaRPr>
          </a:p>
        </p:txBody>
      </p:sp>
      <p:sp>
        <p:nvSpPr>
          <p:cNvPr id="21" name="TextBox 20">
            <a:extLst>
              <a:ext uri="{FF2B5EF4-FFF2-40B4-BE49-F238E27FC236}">
                <a16:creationId xmlns:a16="http://schemas.microsoft.com/office/drawing/2014/main" id="{28BC11BE-843B-782A-967E-8A6900E1CE28}"/>
              </a:ext>
            </a:extLst>
          </p:cNvPr>
          <p:cNvSpPr txBox="1"/>
          <p:nvPr/>
        </p:nvSpPr>
        <p:spPr>
          <a:xfrm>
            <a:off x="1694180" y="5181107"/>
            <a:ext cx="4216475"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Lower </a:t>
            </a:r>
            <a:r>
              <a:rPr lang="de-DE" sz="1200" err="1">
                <a:solidFill>
                  <a:schemeClr val="bg1"/>
                </a:solidFill>
              </a:rPr>
              <a:t>asset-side</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from</a:t>
            </a:r>
            <a:r>
              <a:rPr lang="de-DE" sz="1200">
                <a:solidFill>
                  <a:schemeClr val="bg1"/>
                </a:solidFill>
              </a:rPr>
              <a:t> Short-Term </a:t>
            </a:r>
            <a:r>
              <a:rPr lang="de-DE" sz="1200" err="1">
                <a:solidFill>
                  <a:schemeClr val="bg1"/>
                </a:solidFill>
              </a:rPr>
              <a:t>investment</a:t>
            </a:r>
            <a:endParaRPr lang="en-GB" sz="1200">
              <a:solidFill>
                <a:schemeClr val="bg1"/>
              </a:solidFill>
            </a:endParaRPr>
          </a:p>
        </p:txBody>
      </p:sp>
      <p:sp>
        <p:nvSpPr>
          <p:cNvPr id="25" name="TextBox 24">
            <a:extLst>
              <a:ext uri="{FF2B5EF4-FFF2-40B4-BE49-F238E27FC236}">
                <a16:creationId xmlns:a16="http://schemas.microsoft.com/office/drawing/2014/main" id="{1E27B19E-12FA-2E8E-E13A-F88178E186E8}"/>
              </a:ext>
            </a:extLst>
          </p:cNvPr>
          <p:cNvSpPr txBox="1"/>
          <p:nvPr/>
        </p:nvSpPr>
        <p:spPr>
          <a:xfrm>
            <a:off x="1694180" y="5453957"/>
            <a:ext cx="308738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Lower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investment</a:t>
            </a:r>
            <a:r>
              <a:rPr lang="de-DE" sz="1200">
                <a:solidFill>
                  <a:schemeClr val="bg1"/>
                </a:solidFill>
              </a:rPr>
              <a:t> </a:t>
            </a:r>
            <a:r>
              <a:rPr lang="de-DE" sz="1200" err="1">
                <a:solidFill>
                  <a:schemeClr val="bg1"/>
                </a:solidFill>
              </a:rPr>
              <a:t>rollover</a:t>
            </a:r>
            <a:endParaRPr lang="en-GB" sz="1200">
              <a:solidFill>
                <a:schemeClr val="bg1"/>
              </a:solidFill>
            </a:endParaRPr>
          </a:p>
        </p:txBody>
      </p:sp>
      <p:sp>
        <p:nvSpPr>
          <p:cNvPr id="28" name="TextBox 27">
            <a:extLst>
              <a:ext uri="{FF2B5EF4-FFF2-40B4-BE49-F238E27FC236}">
                <a16:creationId xmlns:a16="http://schemas.microsoft.com/office/drawing/2014/main" id="{70F7F9FC-33FA-19CC-449E-119D3A325068}"/>
              </a:ext>
            </a:extLst>
          </p:cNvPr>
          <p:cNvSpPr txBox="1"/>
          <p:nvPr/>
        </p:nvSpPr>
        <p:spPr>
          <a:xfrm>
            <a:off x="1694180" y="5728111"/>
            <a:ext cx="4360746"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Decreased</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investment</a:t>
            </a:r>
            <a:r>
              <a:rPr lang="de-DE" sz="1200">
                <a:solidFill>
                  <a:schemeClr val="bg1"/>
                </a:solidFill>
              </a:rPr>
              <a:t>, </a:t>
            </a:r>
            <a:r>
              <a:rPr lang="de-DE" sz="1200" err="1">
                <a:solidFill>
                  <a:schemeClr val="bg1"/>
                </a:solidFill>
              </a:rPr>
              <a:t>no</a:t>
            </a:r>
            <a:r>
              <a:rPr lang="de-DE" sz="1200">
                <a:solidFill>
                  <a:schemeClr val="bg1"/>
                </a:solidFill>
              </a:rPr>
              <a:t> cash </a:t>
            </a:r>
            <a:r>
              <a:rPr lang="de-DE" sz="1200" err="1">
                <a:solidFill>
                  <a:schemeClr val="bg1"/>
                </a:solidFill>
              </a:rPr>
              <a:t>flow</a:t>
            </a:r>
            <a:r>
              <a:rPr lang="de-DE" sz="1200">
                <a:solidFill>
                  <a:schemeClr val="bg1"/>
                </a:solidFill>
              </a:rPr>
              <a:t> </a:t>
            </a:r>
            <a:r>
              <a:rPr lang="de-DE" sz="1200" err="1">
                <a:solidFill>
                  <a:schemeClr val="bg1"/>
                </a:solidFill>
              </a:rPr>
              <a:t>impact</a:t>
            </a:r>
            <a:r>
              <a:rPr lang="de-DE" sz="1200">
                <a:solidFill>
                  <a:schemeClr val="bg1"/>
                </a:solidFill>
              </a:rPr>
              <a:t> </a:t>
            </a:r>
            <a:endParaRPr lang="en-GB" sz="1200">
              <a:solidFill>
                <a:schemeClr val="bg1"/>
              </a:solidFill>
            </a:endParaRPr>
          </a:p>
        </p:txBody>
      </p:sp>
      <p:sp>
        <p:nvSpPr>
          <p:cNvPr id="33" name="TextBox 32">
            <a:extLst>
              <a:ext uri="{FF2B5EF4-FFF2-40B4-BE49-F238E27FC236}">
                <a16:creationId xmlns:a16="http://schemas.microsoft.com/office/drawing/2014/main" id="{1D8ECCC4-16AF-4C00-E6D4-7B4983627E7D}"/>
              </a:ext>
            </a:extLst>
          </p:cNvPr>
          <p:cNvSpPr txBox="1"/>
          <p:nvPr/>
        </p:nvSpPr>
        <p:spPr>
          <a:xfrm>
            <a:off x="6462719" y="5181107"/>
            <a:ext cx="3232231"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Lower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Short-Term </a:t>
            </a:r>
            <a:r>
              <a:rPr lang="de-DE" sz="1200" err="1">
                <a:solidFill>
                  <a:schemeClr val="bg1"/>
                </a:solidFill>
              </a:rPr>
              <a:t>liabilities</a:t>
            </a:r>
            <a:endParaRPr lang="en-GB" sz="1200">
              <a:solidFill>
                <a:schemeClr val="bg1"/>
              </a:solidFill>
            </a:endParaRPr>
          </a:p>
        </p:txBody>
      </p:sp>
      <p:sp>
        <p:nvSpPr>
          <p:cNvPr id="36" name="TextBox 35">
            <a:extLst>
              <a:ext uri="{FF2B5EF4-FFF2-40B4-BE49-F238E27FC236}">
                <a16:creationId xmlns:a16="http://schemas.microsoft.com/office/drawing/2014/main" id="{2CEA60FE-443D-86EA-32BC-725CF456C8CE}"/>
              </a:ext>
            </a:extLst>
          </p:cNvPr>
          <p:cNvSpPr txBox="1"/>
          <p:nvPr/>
        </p:nvSpPr>
        <p:spPr>
          <a:xfrm>
            <a:off x="6462719" y="5453957"/>
            <a:ext cx="341016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Long-Term </a:t>
            </a:r>
            <a:r>
              <a:rPr lang="de-DE" sz="1200" err="1">
                <a:solidFill>
                  <a:schemeClr val="bg1"/>
                </a:solidFill>
              </a:rPr>
              <a:t>refinancing</a:t>
            </a:r>
            <a:endParaRPr lang="en-GB" sz="1200">
              <a:solidFill>
                <a:schemeClr val="bg1"/>
              </a:solidFill>
            </a:endParaRPr>
          </a:p>
        </p:txBody>
      </p:sp>
      <p:sp>
        <p:nvSpPr>
          <p:cNvPr id="39" name="TextBox 38">
            <a:extLst>
              <a:ext uri="{FF2B5EF4-FFF2-40B4-BE49-F238E27FC236}">
                <a16:creationId xmlns:a16="http://schemas.microsoft.com/office/drawing/2014/main" id="{2983626F-AEE4-3365-4FCA-78471165DA32}"/>
              </a:ext>
            </a:extLst>
          </p:cNvPr>
          <p:cNvSpPr txBox="1"/>
          <p:nvPr/>
        </p:nvSpPr>
        <p:spPr>
          <a:xfrm>
            <a:off x="6462719" y="5728111"/>
            <a:ext cx="4501810"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No</a:t>
            </a:r>
            <a:r>
              <a:rPr lang="de-DE" sz="1200">
                <a:solidFill>
                  <a:schemeClr val="bg1"/>
                </a:solidFill>
              </a:rPr>
              <a:t> </a:t>
            </a:r>
            <a:r>
              <a:rPr lang="de-DE" sz="1200" err="1">
                <a:solidFill>
                  <a:schemeClr val="bg1"/>
                </a:solidFill>
              </a:rPr>
              <a:t>cashflow</a:t>
            </a:r>
            <a:r>
              <a:rPr lang="de-DE" sz="1200">
                <a:solidFill>
                  <a:schemeClr val="bg1"/>
                </a:solidFill>
              </a:rPr>
              <a:t> </a:t>
            </a:r>
            <a:r>
              <a:rPr lang="de-DE" sz="1200" err="1">
                <a:solidFill>
                  <a:schemeClr val="bg1"/>
                </a:solidFill>
              </a:rPr>
              <a:t>impact</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depreciation</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liabilities</a:t>
            </a:r>
            <a:endParaRPr lang="en-GB" sz="1200">
              <a:solidFill>
                <a:schemeClr val="bg1"/>
              </a:solidFill>
            </a:endParaRPr>
          </a:p>
        </p:txBody>
      </p:sp>
      <p:sp>
        <p:nvSpPr>
          <p:cNvPr id="41" name="Rectangle: Rounded Corners 40">
            <a:extLst>
              <a:ext uri="{FF2B5EF4-FFF2-40B4-BE49-F238E27FC236}">
                <a16:creationId xmlns:a16="http://schemas.microsoft.com/office/drawing/2014/main" id="{F3A7EC6F-4784-C906-7F07-634F6EDC8971}"/>
              </a:ext>
            </a:extLst>
          </p:cNvPr>
          <p:cNvSpPr/>
          <p:nvPr/>
        </p:nvSpPr>
        <p:spPr>
          <a:xfrm>
            <a:off x="3492270" y="6024880"/>
            <a:ext cx="5921236" cy="238198"/>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de-DE" sz="1200" b="1">
                <a:solidFill>
                  <a:schemeClr val="bg1"/>
                </a:solidFill>
              </a:rPr>
              <a:t>Negative </a:t>
            </a:r>
            <a:r>
              <a:rPr lang="de-DE" sz="1200" b="1" err="1">
                <a:solidFill>
                  <a:schemeClr val="bg1"/>
                </a:solidFill>
              </a:rPr>
              <a:t>net</a:t>
            </a:r>
            <a:r>
              <a:rPr lang="de-DE" sz="1200" b="1">
                <a:solidFill>
                  <a:schemeClr val="bg1"/>
                </a:solidFill>
              </a:rPr>
              <a:t> </a:t>
            </a:r>
            <a:r>
              <a:rPr lang="de-DE" sz="1200" b="1" err="1">
                <a:solidFill>
                  <a:schemeClr val="bg1"/>
                </a:solidFill>
              </a:rPr>
              <a:t>cashflow</a:t>
            </a:r>
            <a:r>
              <a:rPr lang="de-DE" sz="1200" b="1">
                <a:solidFill>
                  <a:schemeClr val="bg1"/>
                </a:solidFill>
              </a:rPr>
              <a:t> </a:t>
            </a:r>
            <a:r>
              <a:rPr lang="de-DE" sz="1200" b="1" err="1">
                <a:solidFill>
                  <a:schemeClr val="bg1"/>
                </a:solidFill>
              </a:rPr>
              <a:t>effect</a:t>
            </a:r>
            <a:r>
              <a:rPr lang="de-DE" sz="1200" b="1">
                <a:solidFill>
                  <a:schemeClr val="bg1"/>
                </a:solidFill>
              </a:rPr>
              <a:t> </a:t>
            </a:r>
            <a:r>
              <a:rPr lang="de-DE" sz="1200" b="1" err="1">
                <a:solidFill>
                  <a:schemeClr val="bg1"/>
                </a:solidFill>
              </a:rPr>
              <a:t>given</a:t>
            </a:r>
            <a:r>
              <a:rPr lang="de-DE" sz="1200" b="1">
                <a:solidFill>
                  <a:schemeClr val="bg1"/>
                </a:solidFill>
              </a:rPr>
              <a:t> Short-Term Asset and Long-Term </a:t>
            </a:r>
            <a:r>
              <a:rPr lang="de-DE" sz="1200" b="1" err="1">
                <a:solidFill>
                  <a:schemeClr val="bg1"/>
                </a:solidFill>
              </a:rPr>
              <a:t>Liabilities</a:t>
            </a:r>
            <a:endParaRPr lang="en-GB" sz="1200" b="1" err="1">
              <a:solidFill>
                <a:schemeClr val="bg1"/>
              </a:solidFill>
            </a:endParaRPr>
          </a:p>
        </p:txBody>
      </p:sp>
      <p:sp>
        <p:nvSpPr>
          <p:cNvPr id="8" name="Arrow: Pentagon 7">
            <a:extLst>
              <a:ext uri="{FF2B5EF4-FFF2-40B4-BE49-F238E27FC236}">
                <a16:creationId xmlns:a16="http://schemas.microsoft.com/office/drawing/2014/main" id="{BADC95D6-46A1-29D4-E694-DDD001C2AB7E}"/>
              </a:ext>
            </a:extLst>
          </p:cNvPr>
          <p:cNvSpPr/>
          <p:nvPr/>
        </p:nvSpPr>
        <p:spPr>
          <a:xfrm rot="5400000">
            <a:off x="3257710" y="6034977"/>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5" name="Arrow: Pentagon 4">
            <a:extLst>
              <a:ext uri="{FF2B5EF4-FFF2-40B4-BE49-F238E27FC236}">
                <a16:creationId xmlns:a16="http://schemas.microsoft.com/office/drawing/2014/main" id="{D8C750A8-D78E-7AC0-C17F-3D7079A82A4C}"/>
              </a:ext>
            </a:extLst>
          </p:cNvPr>
          <p:cNvSpPr/>
          <p:nvPr/>
        </p:nvSpPr>
        <p:spPr>
          <a:xfrm rot="5400000">
            <a:off x="6180145" y="515914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3" name="Arrow: Pentagon 12">
            <a:extLst>
              <a:ext uri="{FF2B5EF4-FFF2-40B4-BE49-F238E27FC236}">
                <a16:creationId xmlns:a16="http://schemas.microsoft.com/office/drawing/2014/main" id="{4B4CAC01-132D-660C-9E0C-2DF4F9889345}"/>
              </a:ext>
            </a:extLst>
          </p:cNvPr>
          <p:cNvSpPr/>
          <p:nvPr/>
        </p:nvSpPr>
        <p:spPr>
          <a:xfrm rot="16200000">
            <a:off x="6180145" y="543199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7" name="Arrow: Pentagon 16">
            <a:extLst>
              <a:ext uri="{FF2B5EF4-FFF2-40B4-BE49-F238E27FC236}">
                <a16:creationId xmlns:a16="http://schemas.microsoft.com/office/drawing/2014/main" id="{94355CF2-8AD3-27A6-4133-D5BB00C30C75}"/>
              </a:ext>
            </a:extLst>
          </p:cNvPr>
          <p:cNvSpPr/>
          <p:nvPr/>
        </p:nvSpPr>
        <p:spPr>
          <a:xfrm>
            <a:off x="6180145"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8" name="Arrow: Pentagon 17">
            <a:extLst>
              <a:ext uri="{FF2B5EF4-FFF2-40B4-BE49-F238E27FC236}">
                <a16:creationId xmlns:a16="http://schemas.microsoft.com/office/drawing/2014/main" id="{B0C4D0A5-8A4E-D75D-EA94-73272A60A721}"/>
              </a:ext>
            </a:extLst>
          </p:cNvPr>
          <p:cNvSpPr/>
          <p:nvPr/>
        </p:nvSpPr>
        <p:spPr>
          <a:xfrm rot="5400000">
            <a:off x="1411606" y="515914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9" name="Arrow: Pentagon 18">
            <a:extLst>
              <a:ext uri="{FF2B5EF4-FFF2-40B4-BE49-F238E27FC236}">
                <a16:creationId xmlns:a16="http://schemas.microsoft.com/office/drawing/2014/main" id="{22A67E7F-4BF3-0C52-D75A-5A53BA1708D3}"/>
              </a:ext>
            </a:extLst>
          </p:cNvPr>
          <p:cNvSpPr/>
          <p:nvPr/>
        </p:nvSpPr>
        <p:spPr>
          <a:xfrm rot="5400000">
            <a:off x="1411606" y="543199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2" name="Arrow: Pentagon 21">
            <a:extLst>
              <a:ext uri="{FF2B5EF4-FFF2-40B4-BE49-F238E27FC236}">
                <a16:creationId xmlns:a16="http://schemas.microsoft.com/office/drawing/2014/main" id="{FB5F30D9-2CAC-5F57-FACC-43156EDEE9E4}"/>
              </a:ext>
            </a:extLst>
          </p:cNvPr>
          <p:cNvSpPr/>
          <p:nvPr/>
        </p:nvSpPr>
        <p:spPr>
          <a:xfrm>
            <a:off x="1411606"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6" name="Picture 5" descr="A graph of a graph showing a number of black squares&#10;&#10;AI-generated content may be incorrect.">
            <a:extLst>
              <a:ext uri="{FF2B5EF4-FFF2-40B4-BE49-F238E27FC236}">
                <a16:creationId xmlns:a16="http://schemas.microsoft.com/office/drawing/2014/main" id="{CFBE118A-19D5-FC4E-19B0-36DD376BB3E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507480" y="1300350"/>
            <a:ext cx="5129784" cy="3410712"/>
          </a:xfrm>
          <a:prstGeom prst="rect">
            <a:avLst/>
          </a:prstGeom>
        </p:spPr>
      </p:pic>
      <p:pic>
        <p:nvPicPr>
          <p:cNvPr id="5122" name="Picture 2">
            <a:extLst>
              <a:ext uri="{FF2B5EF4-FFF2-40B4-BE49-F238E27FC236}">
                <a16:creationId xmlns:a16="http://schemas.microsoft.com/office/drawing/2014/main" id="{CCE037D5-9AED-80F2-52D2-E48E7F8A682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736" y="1300350"/>
            <a:ext cx="5129784" cy="3410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392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C2607-D2DD-9BFE-2334-821C8EDC9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F27F98-1F19-BBB8-11AB-264F1C075AC5}"/>
              </a:ext>
            </a:extLst>
          </p:cNvPr>
          <p:cNvSpPr>
            <a:spLocks noGrp="1"/>
          </p:cNvSpPr>
          <p:nvPr>
            <p:ph type="title"/>
          </p:nvPr>
        </p:nvSpPr>
        <p:spPr>
          <a:xfrm>
            <a:off x="554736" y="355092"/>
            <a:ext cx="11082528" cy="731520"/>
          </a:xfrm>
        </p:spPr>
        <p:txBody>
          <a:bodyPr/>
          <a:lstStyle/>
          <a:p>
            <a:r>
              <a:rPr lang="en-GB"/>
              <a:t>Interest Rate </a:t>
            </a:r>
            <a:r>
              <a:rPr lang="en-US"/>
              <a:t>Scenario 5: </a:t>
            </a:r>
            <a:r>
              <a:rPr lang="de-DE" err="1"/>
              <a:t>Flattening</a:t>
            </a:r>
            <a:r>
              <a:rPr lang="de-DE"/>
              <a:t> </a:t>
            </a:r>
            <a:r>
              <a:rPr lang="de-DE" err="1"/>
              <a:t>the</a:t>
            </a:r>
            <a:r>
              <a:rPr lang="de-DE"/>
              <a:t> </a:t>
            </a:r>
            <a:r>
              <a:rPr lang="de-DE" err="1"/>
              <a:t>Curve</a:t>
            </a:r>
            <a:r>
              <a:rPr lang="de-DE"/>
              <a:t> </a:t>
            </a:r>
            <a:r>
              <a:rPr lang="de-DE" err="1"/>
              <a:t>Around</a:t>
            </a:r>
            <a:r>
              <a:rPr lang="de-DE"/>
              <a:t> 2Y </a:t>
            </a:r>
            <a:endParaRPr lang="en-US"/>
          </a:p>
        </p:txBody>
      </p:sp>
      <p:cxnSp>
        <p:nvCxnSpPr>
          <p:cNvPr id="14" name="Straight Connector 13">
            <a:extLst>
              <a:ext uri="{FF2B5EF4-FFF2-40B4-BE49-F238E27FC236}">
                <a16:creationId xmlns:a16="http://schemas.microsoft.com/office/drawing/2014/main" id="{E57073C8-A685-CFB5-9261-CFD19EEAB8B6}"/>
              </a:ext>
            </a:extLst>
          </p:cNvPr>
          <p:cNvCxnSpPr>
            <a:cxnSpLocks/>
          </p:cNvCxnSpPr>
          <p:nvPr/>
        </p:nvCxnSpPr>
        <p:spPr>
          <a:xfrm>
            <a:off x="6096000" y="5098047"/>
            <a:ext cx="0" cy="835393"/>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BA3828A-8DCD-2AA2-199D-9315CA13ADD8}"/>
              </a:ext>
            </a:extLst>
          </p:cNvPr>
          <p:cNvCxnSpPr>
            <a:cxnSpLocks/>
          </p:cNvCxnSpPr>
          <p:nvPr/>
        </p:nvCxnSpPr>
        <p:spPr>
          <a:xfrm>
            <a:off x="1410302" y="5098047"/>
            <a:ext cx="9371397" cy="0"/>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9A99674-07B5-B230-7100-F37FDFB733CF}"/>
              </a:ext>
            </a:extLst>
          </p:cNvPr>
          <p:cNvSpPr txBox="1"/>
          <p:nvPr/>
        </p:nvSpPr>
        <p:spPr>
          <a:xfrm>
            <a:off x="1951407" y="4807717"/>
            <a:ext cx="2877134"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Asset Side</a:t>
            </a:r>
            <a:endParaRPr lang="en-GB" sz="1400">
              <a:solidFill>
                <a:schemeClr val="bg1"/>
              </a:solidFill>
            </a:endParaRPr>
          </a:p>
        </p:txBody>
      </p:sp>
      <p:sp>
        <p:nvSpPr>
          <p:cNvPr id="16" name="TextBox 15">
            <a:extLst>
              <a:ext uri="{FF2B5EF4-FFF2-40B4-BE49-F238E27FC236}">
                <a16:creationId xmlns:a16="http://schemas.microsoft.com/office/drawing/2014/main" id="{F194859A-1761-0C4E-C666-5247DD759E8F}"/>
              </a:ext>
            </a:extLst>
          </p:cNvPr>
          <p:cNvSpPr txBox="1"/>
          <p:nvPr/>
        </p:nvSpPr>
        <p:spPr>
          <a:xfrm>
            <a:off x="7363460" y="4807717"/>
            <a:ext cx="3036088"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t>
            </a:r>
            <a:r>
              <a:rPr lang="de-DE" altLang="zh-CN" sz="1400" err="1">
                <a:solidFill>
                  <a:schemeClr val="bg1"/>
                </a:solidFill>
              </a:rPr>
              <a:t>Liability</a:t>
            </a:r>
            <a:r>
              <a:rPr lang="de-DE" altLang="zh-CN" sz="1400">
                <a:solidFill>
                  <a:schemeClr val="bg1"/>
                </a:solidFill>
              </a:rPr>
              <a:t> Side</a:t>
            </a:r>
            <a:endParaRPr lang="en-GB" sz="1400">
              <a:solidFill>
                <a:schemeClr val="bg1"/>
              </a:solidFill>
            </a:endParaRPr>
          </a:p>
        </p:txBody>
      </p:sp>
      <p:sp>
        <p:nvSpPr>
          <p:cNvPr id="21" name="TextBox 20">
            <a:extLst>
              <a:ext uri="{FF2B5EF4-FFF2-40B4-BE49-F238E27FC236}">
                <a16:creationId xmlns:a16="http://schemas.microsoft.com/office/drawing/2014/main" id="{CB46D7D8-557F-CCCA-B202-4F59453A1832}"/>
              </a:ext>
            </a:extLst>
          </p:cNvPr>
          <p:cNvSpPr txBox="1"/>
          <p:nvPr/>
        </p:nvSpPr>
        <p:spPr>
          <a:xfrm>
            <a:off x="1694180" y="5181107"/>
            <a:ext cx="3806107"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Unchanged</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from</a:t>
            </a:r>
            <a:r>
              <a:rPr lang="de-DE" sz="1200">
                <a:solidFill>
                  <a:schemeClr val="bg1"/>
                </a:solidFill>
              </a:rPr>
              <a:t> Short-Term </a:t>
            </a:r>
            <a:r>
              <a:rPr lang="de-DE" sz="1200" err="1">
                <a:solidFill>
                  <a:schemeClr val="bg1"/>
                </a:solidFill>
              </a:rPr>
              <a:t>investment</a:t>
            </a:r>
            <a:endParaRPr lang="en-GB" sz="1200">
              <a:solidFill>
                <a:schemeClr val="bg1"/>
              </a:solidFill>
            </a:endParaRPr>
          </a:p>
        </p:txBody>
      </p:sp>
      <p:sp>
        <p:nvSpPr>
          <p:cNvPr id="25" name="TextBox 24">
            <a:extLst>
              <a:ext uri="{FF2B5EF4-FFF2-40B4-BE49-F238E27FC236}">
                <a16:creationId xmlns:a16="http://schemas.microsoft.com/office/drawing/2014/main" id="{0C763157-1D53-A130-3756-2C9E3EBC2DCA}"/>
              </a:ext>
            </a:extLst>
          </p:cNvPr>
          <p:cNvSpPr txBox="1"/>
          <p:nvPr/>
        </p:nvSpPr>
        <p:spPr>
          <a:xfrm>
            <a:off x="1694180" y="5453957"/>
            <a:ext cx="3377528"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Decreased</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investment</a:t>
            </a:r>
            <a:r>
              <a:rPr lang="de-DE" sz="1200">
                <a:solidFill>
                  <a:schemeClr val="bg1"/>
                </a:solidFill>
              </a:rPr>
              <a:t> </a:t>
            </a:r>
            <a:r>
              <a:rPr lang="de-DE" sz="1200" err="1">
                <a:solidFill>
                  <a:schemeClr val="bg1"/>
                </a:solidFill>
              </a:rPr>
              <a:t>rollover</a:t>
            </a:r>
            <a:endParaRPr lang="en-GB" sz="1200">
              <a:solidFill>
                <a:schemeClr val="bg1"/>
              </a:solidFill>
            </a:endParaRPr>
          </a:p>
        </p:txBody>
      </p:sp>
      <p:sp>
        <p:nvSpPr>
          <p:cNvPr id="28" name="TextBox 27">
            <a:extLst>
              <a:ext uri="{FF2B5EF4-FFF2-40B4-BE49-F238E27FC236}">
                <a16:creationId xmlns:a16="http://schemas.microsoft.com/office/drawing/2014/main" id="{B5E78887-0315-5601-B477-287ED6A6843E}"/>
              </a:ext>
            </a:extLst>
          </p:cNvPr>
          <p:cNvSpPr txBox="1"/>
          <p:nvPr/>
        </p:nvSpPr>
        <p:spPr>
          <a:xfrm>
            <a:off x="1694180" y="5728111"/>
            <a:ext cx="4360746"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Increased</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investment</a:t>
            </a:r>
            <a:r>
              <a:rPr lang="de-DE" sz="1200">
                <a:solidFill>
                  <a:schemeClr val="bg1"/>
                </a:solidFill>
              </a:rPr>
              <a:t>, </a:t>
            </a:r>
            <a:r>
              <a:rPr lang="de-DE" sz="1200" err="1">
                <a:solidFill>
                  <a:schemeClr val="bg1"/>
                </a:solidFill>
              </a:rPr>
              <a:t>no</a:t>
            </a:r>
            <a:r>
              <a:rPr lang="de-DE" sz="1200">
                <a:solidFill>
                  <a:schemeClr val="bg1"/>
                </a:solidFill>
              </a:rPr>
              <a:t> cash </a:t>
            </a:r>
            <a:r>
              <a:rPr lang="de-DE" sz="1200" err="1">
                <a:solidFill>
                  <a:schemeClr val="bg1"/>
                </a:solidFill>
              </a:rPr>
              <a:t>flow</a:t>
            </a:r>
            <a:r>
              <a:rPr lang="de-DE" sz="1200">
                <a:solidFill>
                  <a:schemeClr val="bg1"/>
                </a:solidFill>
              </a:rPr>
              <a:t> </a:t>
            </a:r>
            <a:r>
              <a:rPr lang="de-DE" sz="1200" err="1">
                <a:solidFill>
                  <a:schemeClr val="bg1"/>
                </a:solidFill>
              </a:rPr>
              <a:t>impact</a:t>
            </a:r>
            <a:r>
              <a:rPr lang="de-DE" sz="1200">
                <a:solidFill>
                  <a:schemeClr val="bg1"/>
                </a:solidFill>
              </a:rPr>
              <a:t> </a:t>
            </a:r>
            <a:endParaRPr lang="en-GB" sz="1200">
              <a:solidFill>
                <a:schemeClr val="bg1"/>
              </a:solidFill>
            </a:endParaRPr>
          </a:p>
        </p:txBody>
      </p:sp>
      <p:sp>
        <p:nvSpPr>
          <p:cNvPr id="33" name="TextBox 32">
            <a:extLst>
              <a:ext uri="{FF2B5EF4-FFF2-40B4-BE49-F238E27FC236}">
                <a16:creationId xmlns:a16="http://schemas.microsoft.com/office/drawing/2014/main" id="{2B43F0F7-03C6-36A4-1AF5-1B7D3CD36BCD}"/>
              </a:ext>
            </a:extLst>
          </p:cNvPr>
          <p:cNvSpPr txBox="1"/>
          <p:nvPr/>
        </p:nvSpPr>
        <p:spPr>
          <a:xfrm>
            <a:off x="6462719" y="5181107"/>
            <a:ext cx="3570465"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Unchanged</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Short-Term </a:t>
            </a:r>
            <a:r>
              <a:rPr lang="de-DE" sz="1200" err="1">
                <a:solidFill>
                  <a:schemeClr val="bg1"/>
                </a:solidFill>
              </a:rPr>
              <a:t>liabilities</a:t>
            </a:r>
            <a:endParaRPr lang="en-GB" sz="1200">
              <a:solidFill>
                <a:schemeClr val="bg1"/>
              </a:solidFill>
            </a:endParaRPr>
          </a:p>
        </p:txBody>
      </p:sp>
      <p:sp>
        <p:nvSpPr>
          <p:cNvPr id="36" name="TextBox 35">
            <a:extLst>
              <a:ext uri="{FF2B5EF4-FFF2-40B4-BE49-F238E27FC236}">
                <a16:creationId xmlns:a16="http://schemas.microsoft.com/office/drawing/2014/main" id="{3470D817-4CAE-25D9-1499-07B08CD2B87D}"/>
              </a:ext>
            </a:extLst>
          </p:cNvPr>
          <p:cNvSpPr txBox="1"/>
          <p:nvPr/>
        </p:nvSpPr>
        <p:spPr>
          <a:xfrm>
            <a:off x="6462719" y="5453957"/>
            <a:ext cx="341016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Lower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Long-Term </a:t>
            </a:r>
            <a:r>
              <a:rPr lang="de-DE" sz="1200" err="1">
                <a:solidFill>
                  <a:schemeClr val="bg1"/>
                </a:solidFill>
              </a:rPr>
              <a:t>refinancing</a:t>
            </a:r>
            <a:endParaRPr lang="en-GB" sz="1200">
              <a:solidFill>
                <a:schemeClr val="bg1"/>
              </a:solidFill>
            </a:endParaRPr>
          </a:p>
        </p:txBody>
      </p:sp>
      <p:sp>
        <p:nvSpPr>
          <p:cNvPr id="39" name="TextBox 38">
            <a:extLst>
              <a:ext uri="{FF2B5EF4-FFF2-40B4-BE49-F238E27FC236}">
                <a16:creationId xmlns:a16="http://schemas.microsoft.com/office/drawing/2014/main" id="{BA364131-FBA4-4C6D-9D96-CE85B286C719}"/>
              </a:ext>
            </a:extLst>
          </p:cNvPr>
          <p:cNvSpPr txBox="1"/>
          <p:nvPr/>
        </p:nvSpPr>
        <p:spPr>
          <a:xfrm>
            <a:off x="6462719" y="5728111"/>
            <a:ext cx="4501810"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No</a:t>
            </a:r>
            <a:r>
              <a:rPr lang="de-DE" sz="1200">
                <a:solidFill>
                  <a:schemeClr val="bg1"/>
                </a:solidFill>
              </a:rPr>
              <a:t> </a:t>
            </a:r>
            <a:r>
              <a:rPr lang="de-DE" sz="1200" err="1">
                <a:solidFill>
                  <a:schemeClr val="bg1"/>
                </a:solidFill>
              </a:rPr>
              <a:t>cashflow</a:t>
            </a:r>
            <a:r>
              <a:rPr lang="de-DE" sz="1200">
                <a:solidFill>
                  <a:schemeClr val="bg1"/>
                </a:solidFill>
              </a:rPr>
              <a:t> </a:t>
            </a:r>
            <a:r>
              <a:rPr lang="de-DE" sz="1200" err="1">
                <a:solidFill>
                  <a:schemeClr val="bg1"/>
                </a:solidFill>
              </a:rPr>
              <a:t>impact</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depreciation</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liabilities</a:t>
            </a:r>
            <a:endParaRPr lang="en-GB" sz="1200">
              <a:solidFill>
                <a:schemeClr val="bg1"/>
              </a:solidFill>
            </a:endParaRPr>
          </a:p>
        </p:txBody>
      </p:sp>
      <p:sp>
        <p:nvSpPr>
          <p:cNvPr id="41" name="Rectangle: Rounded Corners 40">
            <a:extLst>
              <a:ext uri="{FF2B5EF4-FFF2-40B4-BE49-F238E27FC236}">
                <a16:creationId xmlns:a16="http://schemas.microsoft.com/office/drawing/2014/main" id="{F8E777DB-86D4-256C-D78D-975CF7C009FE}"/>
              </a:ext>
            </a:extLst>
          </p:cNvPr>
          <p:cNvSpPr/>
          <p:nvPr/>
        </p:nvSpPr>
        <p:spPr>
          <a:xfrm>
            <a:off x="3492269" y="6042321"/>
            <a:ext cx="6113739" cy="202510"/>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de-DE" sz="1200" b="1">
                <a:solidFill>
                  <a:schemeClr val="bg1"/>
                </a:solidFill>
              </a:rPr>
              <a:t>Positive </a:t>
            </a:r>
            <a:r>
              <a:rPr lang="de-DE" sz="1200" b="1" err="1">
                <a:solidFill>
                  <a:schemeClr val="bg1"/>
                </a:solidFill>
              </a:rPr>
              <a:t>net</a:t>
            </a:r>
            <a:r>
              <a:rPr lang="de-DE" sz="1200" b="1">
                <a:solidFill>
                  <a:schemeClr val="bg1"/>
                </a:solidFill>
              </a:rPr>
              <a:t> </a:t>
            </a:r>
            <a:r>
              <a:rPr lang="de-DE" sz="1200" b="1" err="1">
                <a:solidFill>
                  <a:schemeClr val="bg1"/>
                </a:solidFill>
              </a:rPr>
              <a:t>cashflow</a:t>
            </a:r>
            <a:r>
              <a:rPr lang="de-DE" sz="1200" b="1">
                <a:solidFill>
                  <a:schemeClr val="bg1"/>
                </a:solidFill>
              </a:rPr>
              <a:t> </a:t>
            </a:r>
            <a:r>
              <a:rPr lang="de-DE" sz="1200" b="1" err="1">
                <a:solidFill>
                  <a:schemeClr val="bg1"/>
                </a:solidFill>
              </a:rPr>
              <a:t>effect</a:t>
            </a:r>
            <a:r>
              <a:rPr lang="de-DE" sz="1200" b="1">
                <a:solidFill>
                  <a:schemeClr val="bg1"/>
                </a:solidFill>
              </a:rPr>
              <a:t> </a:t>
            </a:r>
            <a:r>
              <a:rPr lang="de-DE" sz="1200" b="1" err="1">
                <a:solidFill>
                  <a:schemeClr val="bg1"/>
                </a:solidFill>
              </a:rPr>
              <a:t>given</a:t>
            </a:r>
            <a:r>
              <a:rPr lang="de-DE" sz="1200" b="1">
                <a:solidFill>
                  <a:schemeClr val="bg1"/>
                </a:solidFill>
              </a:rPr>
              <a:t> </a:t>
            </a:r>
            <a:r>
              <a:rPr lang="de-DE" sz="1200" b="1" err="1">
                <a:solidFill>
                  <a:schemeClr val="bg1"/>
                </a:solidFill>
              </a:rPr>
              <a:t>more</a:t>
            </a:r>
            <a:r>
              <a:rPr lang="de-DE" sz="1200" b="1">
                <a:solidFill>
                  <a:schemeClr val="bg1"/>
                </a:solidFill>
              </a:rPr>
              <a:t> </a:t>
            </a:r>
            <a:r>
              <a:rPr lang="de-DE" sz="1200" b="1" err="1">
                <a:solidFill>
                  <a:schemeClr val="bg1"/>
                </a:solidFill>
              </a:rPr>
              <a:t>pronounced</a:t>
            </a:r>
            <a:r>
              <a:rPr lang="de-DE" sz="1200" b="1">
                <a:solidFill>
                  <a:schemeClr val="bg1"/>
                </a:solidFill>
              </a:rPr>
              <a:t> </a:t>
            </a:r>
            <a:r>
              <a:rPr lang="de-DE" sz="1200" b="1" err="1">
                <a:solidFill>
                  <a:schemeClr val="bg1"/>
                </a:solidFill>
              </a:rPr>
              <a:t>impact</a:t>
            </a:r>
            <a:r>
              <a:rPr lang="de-DE" sz="1200" b="1">
                <a:solidFill>
                  <a:schemeClr val="bg1"/>
                </a:solidFill>
              </a:rPr>
              <a:t> on </a:t>
            </a:r>
            <a:r>
              <a:rPr lang="de-DE" sz="1200" b="1" err="1">
                <a:solidFill>
                  <a:schemeClr val="bg1"/>
                </a:solidFill>
              </a:rPr>
              <a:t>the</a:t>
            </a:r>
            <a:r>
              <a:rPr lang="de-DE" sz="1200" b="1">
                <a:solidFill>
                  <a:schemeClr val="bg1"/>
                </a:solidFill>
              </a:rPr>
              <a:t> </a:t>
            </a:r>
            <a:r>
              <a:rPr lang="de-DE" sz="1200" b="1" err="1">
                <a:solidFill>
                  <a:schemeClr val="bg1"/>
                </a:solidFill>
              </a:rPr>
              <a:t>long</a:t>
            </a:r>
            <a:r>
              <a:rPr lang="de-DE" sz="1200" b="1">
                <a:solidFill>
                  <a:schemeClr val="bg1"/>
                </a:solidFill>
              </a:rPr>
              <a:t>-term rate </a:t>
            </a:r>
            <a:endParaRPr lang="en-GB" sz="1200" b="1" err="1">
              <a:solidFill>
                <a:schemeClr val="bg1"/>
              </a:solidFill>
            </a:endParaRPr>
          </a:p>
        </p:txBody>
      </p:sp>
      <p:sp>
        <p:nvSpPr>
          <p:cNvPr id="8" name="Arrow: Pentagon 7">
            <a:extLst>
              <a:ext uri="{FF2B5EF4-FFF2-40B4-BE49-F238E27FC236}">
                <a16:creationId xmlns:a16="http://schemas.microsoft.com/office/drawing/2014/main" id="{D4F12B4F-0C18-F09D-8FAA-0CE615664F01}"/>
              </a:ext>
            </a:extLst>
          </p:cNvPr>
          <p:cNvSpPr/>
          <p:nvPr/>
        </p:nvSpPr>
        <p:spPr>
          <a:xfrm rot="16200000">
            <a:off x="3257710" y="6029276"/>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5" name="Arrow: Pentagon 4">
            <a:extLst>
              <a:ext uri="{FF2B5EF4-FFF2-40B4-BE49-F238E27FC236}">
                <a16:creationId xmlns:a16="http://schemas.microsoft.com/office/drawing/2014/main" id="{D1F12658-965E-4050-4397-7682ABCA3B58}"/>
              </a:ext>
            </a:extLst>
          </p:cNvPr>
          <p:cNvSpPr/>
          <p:nvPr/>
        </p:nvSpPr>
        <p:spPr>
          <a:xfrm>
            <a:off x="6180145" y="5159140"/>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3" name="Arrow: Pentagon 12">
            <a:extLst>
              <a:ext uri="{FF2B5EF4-FFF2-40B4-BE49-F238E27FC236}">
                <a16:creationId xmlns:a16="http://schemas.microsoft.com/office/drawing/2014/main" id="{03BE2980-35E4-8266-3076-3833E73DA93F}"/>
              </a:ext>
            </a:extLst>
          </p:cNvPr>
          <p:cNvSpPr/>
          <p:nvPr/>
        </p:nvSpPr>
        <p:spPr>
          <a:xfrm rot="5400000">
            <a:off x="6180145" y="543199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7" name="Arrow: Pentagon 16">
            <a:extLst>
              <a:ext uri="{FF2B5EF4-FFF2-40B4-BE49-F238E27FC236}">
                <a16:creationId xmlns:a16="http://schemas.microsoft.com/office/drawing/2014/main" id="{A76F251F-430B-C454-8636-C5449BF99444}"/>
              </a:ext>
            </a:extLst>
          </p:cNvPr>
          <p:cNvSpPr/>
          <p:nvPr/>
        </p:nvSpPr>
        <p:spPr>
          <a:xfrm>
            <a:off x="6180145"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8" name="Arrow: Pentagon 17">
            <a:extLst>
              <a:ext uri="{FF2B5EF4-FFF2-40B4-BE49-F238E27FC236}">
                <a16:creationId xmlns:a16="http://schemas.microsoft.com/office/drawing/2014/main" id="{F0AABBFA-6924-EF59-E289-8E18FB76CDA9}"/>
              </a:ext>
            </a:extLst>
          </p:cNvPr>
          <p:cNvSpPr/>
          <p:nvPr/>
        </p:nvSpPr>
        <p:spPr>
          <a:xfrm>
            <a:off x="1411606" y="5159140"/>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9" name="Arrow: Pentagon 18">
            <a:extLst>
              <a:ext uri="{FF2B5EF4-FFF2-40B4-BE49-F238E27FC236}">
                <a16:creationId xmlns:a16="http://schemas.microsoft.com/office/drawing/2014/main" id="{59E58691-5E1C-006E-E217-A34DCC0F7B1A}"/>
              </a:ext>
            </a:extLst>
          </p:cNvPr>
          <p:cNvSpPr/>
          <p:nvPr/>
        </p:nvSpPr>
        <p:spPr>
          <a:xfrm rot="5400000">
            <a:off x="1411606" y="543199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2" name="Arrow: Pentagon 21">
            <a:extLst>
              <a:ext uri="{FF2B5EF4-FFF2-40B4-BE49-F238E27FC236}">
                <a16:creationId xmlns:a16="http://schemas.microsoft.com/office/drawing/2014/main" id="{83E639D6-0396-AD41-480A-3AC668FE45CE}"/>
              </a:ext>
            </a:extLst>
          </p:cNvPr>
          <p:cNvSpPr/>
          <p:nvPr/>
        </p:nvSpPr>
        <p:spPr>
          <a:xfrm>
            <a:off x="1411606"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6146" name="Picture 2">
            <a:extLst>
              <a:ext uri="{FF2B5EF4-FFF2-40B4-BE49-F238E27FC236}">
                <a16:creationId xmlns:a16="http://schemas.microsoft.com/office/drawing/2014/main" id="{516B8DD4-86B0-075E-740E-5E3D2522ADE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736" y="1300350"/>
            <a:ext cx="5129784" cy="341071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graph of a graph showing the growth of a company&#10;&#10;AI-generated content may be incorrect.">
            <a:extLst>
              <a:ext uri="{FF2B5EF4-FFF2-40B4-BE49-F238E27FC236}">
                <a16:creationId xmlns:a16="http://schemas.microsoft.com/office/drawing/2014/main" id="{A33ED764-FD71-FC2F-A1AF-BC0E338AEC6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598920" y="1300350"/>
            <a:ext cx="5038344" cy="3410712"/>
          </a:xfrm>
          <a:prstGeom prst="rect">
            <a:avLst/>
          </a:prstGeom>
        </p:spPr>
      </p:pic>
    </p:spTree>
    <p:extLst>
      <p:ext uri="{BB962C8B-B14F-4D97-AF65-F5344CB8AC3E}">
        <p14:creationId xmlns:p14="http://schemas.microsoft.com/office/powerpoint/2010/main" val="3529070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C2FBE-EE6E-6753-36BE-43BAF46E9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AC83E0-4B23-CD9E-0370-BBF13FE6F384}"/>
              </a:ext>
            </a:extLst>
          </p:cNvPr>
          <p:cNvSpPr>
            <a:spLocks noGrp="1"/>
          </p:cNvSpPr>
          <p:nvPr>
            <p:ph type="title"/>
          </p:nvPr>
        </p:nvSpPr>
        <p:spPr>
          <a:xfrm>
            <a:off x="554736" y="355092"/>
            <a:ext cx="11082528" cy="731520"/>
          </a:xfrm>
        </p:spPr>
        <p:txBody>
          <a:bodyPr/>
          <a:lstStyle/>
          <a:p>
            <a:r>
              <a:rPr lang="en-GB"/>
              <a:t>Interest Rate </a:t>
            </a:r>
            <a:r>
              <a:rPr lang="en-US"/>
              <a:t>Scenario 6: </a:t>
            </a:r>
            <a:r>
              <a:rPr lang="de-DE" err="1"/>
              <a:t>Steepening</a:t>
            </a:r>
            <a:r>
              <a:rPr lang="de-DE"/>
              <a:t> </a:t>
            </a:r>
            <a:r>
              <a:rPr lang="de-DE" err="1"/>
              <a:t>the</a:t>
            </a:r>
            <a:r>
              <a:rPr lang="de-DE"/>
              <a:t> </a:t>
            </a:r>
            <a:r>
              <a:rPr lang="de-DE" err="1"/>
              <a:t>Curve</a:t>
            </a:r>
            <a:r>
              <a:rPr lang="de-DE"/>
              <a:t> </a:t>
            </a:r>
            <a:r>
              <a:rPr lang="de-DE" err="1"/>
              <a:t>Around</a:t>
            </a:r>
            <a:r>
              <a:rPr lang="de-DE"/>
              <a:t> 2Y </a:t>
            </a:r>
            <a:endParaRPr lang="en-US"/>
          </a:p>
        </p:txBody>
      </p:sp>
      <p:cxnSp>
        <p:nvCxnSpPr>
          <p:cNvPr id="14" name="Straight Connector 13">
            <a:extLst>
              <a:ext uri="{FF2B5EF4-FFF2-40B4-BE49-F238E27FC236}">
                <a16:creationId xmlns:a16="http://schemas.microsoft.com/office/drawing/2014/main" id="{B05B7B8C-DC02-0EC1-1A6C-4F07FFC18452}"/>
              </a:ext>
            </a:extLst>
          </p:cNvPr>
          <p:cNvCxnSpPr>
            <a:cxnSpLocks/>
          </p:cNvCxnSpPr>
          <p:nvPr/>
        </p:nvCxnSpPr>
        <p:spPr>
          <a:xfrm>
            <a:off x="6096000" y="5098047"/>
            <a:ext cx="0" cy="835393"/>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14D7E23-5E19-CD26-5EF6-D8BF513F292A}"/>
              </a:ext>
            </a:extLst>
          </p:cNvPr>
          <p:cNvCxnSpPr>
            <a:cxnSpLocks/>
          </p:cNvCxnSpPr>
          <p:nvPr/>
        </p:nvCxnSpPr>
        <p:spPr>
          <a:xfrm>
            <a:off x="1410302" y="5098047"/>
            <a:ext cx="9371397" cy="0"/>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BD2F7CA-3093-5B56-B04A-02C67CBC422A}"/>
              </a:ext>
            </a:extLst>
          </p:cNvPr>
          <p:cNvSpPr txBox="1"/>
          <p:nvPr/>
        </p:nvSpPr>
        <p:spPr>
          <a:xfrm>
            <a:off x="1951407" y="4807717"/>
            <a:ext cx="2877134"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Asset Side</a:t>
            </a:r>
            <a:endParaRPr lang="en-GB" sz="1400">
              <a:solidFill>
                <a:schemeClr val="bg1"/>
              </a:solidFill>
            </a:endParaRPr>
          </a:p>
        </p:txBody>
      </p:sp>
      <p:sp>
        <p:nvSpPr>
          <p:cNvPr id="16" name="TextBox 15">
            <a:extLst>
              <a:ext uri="{FF2B5EF4-FFF2-40B4-BE49-F238E27FC236}">
                <a16:creationId xmlns:a16="http://schemas.microsoft.com/office/drawing/2014/main" id="{DD0A4D8E-F3C0-FDD2-2EE9-014796C9AB40}"/>
              </a:ext>
            </a:extLst>
          </p:cNvPr>
          <p:cNvSpPr txBox="1"/>
          <p:nvPr/>
        </p:nvSpPr>
        <p:spPr>
          <a:xfrm>
            <a:off x="7363460" y="4807717"/>
            <a:ext cx="3036088"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t>
            </a:r>
            <a:r>
              <a:rPr lang="de-DE" altLang="zh-CN" sz="1400" err="1">
                <a:solidFill>
                  <a:schemeClr val="bg1"/>
                </a:solidFill>
              </a:rPr>
              <a:t>Liability</a:t>
            </a:r>
            <a:r>
              <a:rPr lang="de-DE" altLang="zh-CN" sz="1400">
                <a:solidFill>
                  <a:schemeClr val="bg1"/>
                </a:solidFill>
              </a:rPr>
              <a:t> Side</a:t>
            </a:r>
            <a:endParaRPr lang="en-GB" sz="1400">
              <a:solidFill>
                <a:schemeClr val="bg1"/>
              </a:solidFill>
            </a:endParaRPr>
          </a:p>
        </p:txBody>
      </p:sp>
      <p:sp>
        <p:nvSpPr>
          <p:cNvPr id="21" name="TextBox 20">
            <a:extLst>
              <a:ext uri="{FF2B5EF4-FFF2-40B4-BE49-F238E27FC236}">
                <a16:creationId xmlns:a16="http://schemas.microsoft.com/office/drawing/2014/main" id="{023A7D9A-83F8-89AA-5526-E57442C41FCF}"/>
              </a:ext>
            </a:extLst>
          </p:cNvPr>
          <p:cNvSpPr txBox="1"/>
          <p:nvPr/>
        </p:nvSpPr>
        <p:spPr>
          <a:xfrm>
            <a:off x="1694180" y="5181107"/>
            <a:ext cx="3806107"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Unchanged</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from</a:t>
            </a:r>
            <a:r>
              <a:rPr lang="de-DE" sz="1200">
                <a:solidFill>
                  <a:schemeClr val="bg1"/>
                </a:solidFill>
              </a:rPr>
              <a:t> Short-Term </a:t>
            </a:r>
            <a:r>
              <a:rPr lang="de-DE" sz="1200" err="1">
                <a:solidFill>
                  <a:schemeClr val="bg1"/>
                </a:solidFill>
              </a:rPr>
              <a:t>investment</a:t>
            </a:r>
            <a:endParaRPr lang="en-GB" sz="1200">
              <a:solidFill>
                <a:schemeClr val="bg1"/>
              </a:solidFill>
            </a:endParaRPr>
          </a:p>
        </p:txBody>
      </p:sp>
      <p:sp>
        <p:nvSpPr>
          <p:cNvPr id="25" name="TextBox 24">
            <a:extLst>
              <a:ext uri="{FF2B5EF4-FFF2-40B4-BE49-F238E27FC236}">
                <a16:creationId xmlns:a16="http://schemas.microsoft.com/office/drawing/2014/main" id="{DECB645D-2FDC-B7C6-93F2-79D2BB181F74}"/>
              </a:ext>
            </a:extLst>
          </p:cNvPr>
          <p:cNvSpPr txBox="1"/>
          <p:nvPr/>
        </p:nvSpPr>
        <p:spPr>
          <a:xfrm>
            <a:off x="1694180" y="5453957"/>
            <a:ext cx="3377528"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Increased</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investment</a:t>
            </a:r>
            <a:r>
              <a:rPr lang="de-DE" sz="1200">
                <a:solidFill>
                  <a:schemeClr val="bg1"/>
                </a:solidFill>
              </a:rPr>
              <a:t> </a:t>
            </a:r>
            <a:r>
              <a:rPr lang="de-DE" sz="1200" err="1">
                <a:solidFill>
                  <a:schemeClr val="bg1"/>
                </a:solidFill>
              </a:rPr>
              <a:t>rollover</a:t>
            </a:r>
            <a:endParaRPr lang="en-GB" sz="1200">
              <a:solidFill>
                <a:schemeClr val="bg1"/>
              </a:solidFill>
            </a:endParaRPr>
          </a:p>
        </p:txBody>
      </p:sp>
      <p:sp>
        <p:nvSpPr>
          <p:cNvPr id="28" name="TextBox 27">
            <a:extLst>
              <a:ext uri="{FF2B5EF4-FFF2-40B4-BE49-F238E27FC236}">
                <a16:creationId xmlns:a16="http://schemas.microsoft.com/office/drawing/2014/main" id="{95EFC030-EFC7-4E01-9639-DBB3F3672A39}"/>
              </a:ext>
            </a:extLst>
          </p:cNvPr>
          <p:cNvSpPr txBox="1"/>
          <p:nvPr/>
        </p:nvSpPr>
        <p:spPr>
          <a:xfrm>
            <a:off x="1694180" y="5728111"/>
            <a:ext cx="4360746"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Decreased</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investment</a:t>
            </a:r>
            <a:r>
              <a:rPr lang="de-DE" sz="1200">
                <a:solidFill>
                  <a:schemeClr val="bg1"/>
                </a:solidFill>
              </a:rPr>
              <a:t>, </a:t>
            </a:r>
            <a:r>
              <a:rPr lang="de-DE" sz="1200" err="1">
                <a:solidFill>
                  <a:schemeClr val="bg1"/>
                </a:solidFill>
              </a:rPr>
              <a:t>no</a:t>
            </a:r>
            <a:r>
              <a:rPr lang="de-DE" sz="1200">
                <a:solidFill>
                  <a:schemeClr val="bg1"/>
                </a:solidFill>
              </a:rPr>
              <a:t> cash </a:t>
            </a:r>
            <a:r>
              <a:rPr lang="de-DE" sz="1200" err="1">
                <a:solidFill>
                  <a:schemeClr val="bg1"/>
                </a:solidFill>
              </a:rPr>
              <a:t>flow</a:t>
            </a:r>
            <a:r>
              <a:rPr lang="de-DE" sz="1200">
                <a:solidFill>
                  <a:schemeClr val="bg1"/>
                </a:solidFill>
              </a:rPr>
              <a:t> </a:t>
            </a:r>
            <a:r>
              <a:rPr lang="de-DE" sz="1200" err="1">
                <a:solidFill>
                  <a:schemeClr val="bg1"/>
                </a:solidFill>
              </a:rPr>
              <a:t>impact</a:t>
            </a:r>
            <a:r>
              <a:rPr lang="de-DE" sz="1200">
                <a:solidFill>
                  <a:schemeClr val="bg1"/>
                </a:solidFill>
              </a:rPr>
              <a:t> </a:t>
            </a:r>
            <a:endParaRPr lang="en-GB" sz="1200">
              <a:solidFill>
                <a:schemeClr val="bg1"/>
              </a:solidFill>
            </a:endParaRPr>
          </a:p>
        </p:txBody>
      </p:sp>
      <p:sp>
        <p:nvSpPr>
          <p:cNvPr id="33" name="TextBox 32">
            <a:extLst>
              <a:ext uri="{FF2B5EF4-FFF2-40B4-BE49-F238E27FC236}">
                <a16:creationId xmlns:a16="http://schemas.microsoft.com/office/drawing/2014/main" id="{EDE30787-EABA-5C82-3180-97B9C8519FC1}"/>
              </a:ext>
            </a:extLst>
          </p:cNvPr>
          <p:cNvSpPr txBox="1"/>
          <p:nvPr/>
        </p:nvSpPr>
        <p:spPr>
          <a:xfrm>
            <a:off x="6462719" y="5181107"/>
            <a:ext cx="3597716"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Unchanged</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Short-Term </a:t>
            </a:r>
            <a:r>
              <a:rPr lang="de-DE" sz="1200" err="1">
                <a:solidFill>
                  <a:schemeClr val="bg1"/>
                </a:solidFill>
              </a:rPr>
              <a:t>liabilities</a:t>
            </a:r>
            <a:endParaRPr lang="en-GB" sz="1200">
              <a:solidFill>
                <a:schemeClr val="bg1"/>
              </a:solidFill>
            </a:endParaRPr>
          </a:p>
        </p:txBody>
      </p:sp>
      <p:sp>
        <p:nvSpPr>
          <p:cNvPr id="36" name="TextBox 35">
            <a:extLst>
              <a:ext uri="{FF2B5EF4-FFF2-40B4-BE49-F238E27FC236}">
                <a16:creationId xmlns:a16="http://schemas.microsoft.com/office/drawing/2014/main" id="{797DCB7A-C0BC-5CDD-4499-8D1B92A43581}"/>
              </a:ext>
            </a:extLst>
          </p:cNvPr>
          <p:cNvSpPr txBox="1"/>
          <p:nvPr/>
        </p:nvSpPr>
        <p:spPr>
          <a:xfrm>
            <a:off x="6462719" y="5453957"/>
            <a:ext cx="341016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Long-Term </a:t>
            </a:r>
            <a:r>
              <a:rPr lang="de-DE" sz="1200" err="1">
                <a:solidFill>
                  <a:schemeClr val="bg1"/>
                </a:solidFill>
              </a:rPr>
              <a:t>refinancing</a:t>
            </a:r>
            <a:endParaRPr lang="en-GB" sz="1200">
              <a:solidFill>
                <a:schemeClr val="bg1"/>
              </a:solidFill>
            </a:endParaRPr>
          </a:p>
        </p:txBody>
      </p:sp>
      <p:sp>
        <p:nvSpPr>
          <p:cNvPr id="39" name="TextBox 38">
            <a:extLst>
              <a:ext uri="{FF2B5EF4-FFF2-40B4-BE49-F238E27FC236}">
                <a16:creationId xmlns:a16="http://schemas.microsoft.com/office/drawing/2014/main" id="{50C1EE81-5C6B-9141-9360-11AD7252DF81}"/>
              </a:ext>
            </a:extLst>
          </p:cNvPr>
          <p:cNvSpPr txBox="1"/>
          <p:nvPr/>
        </p:nvSpPr>
        <p:spPr>
          <a:xfrm>
            <a:off x="6462719" y="5728111"/>
            <a:ext cx="4501810"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No</a:t>
            </a:r>
            <a:r>
              <a:rPr lang="de-DE" sz="1200">
                <a:solidFill>
                  <a:schemeClr val="bg1"/>
                </a:solidFill>
              </a:rPr>
              <a:t> </a:t>
            </a:r>
            <a:r>
              <a:rPr lang="de-DE" sz="1200" err="1">
                <a:solidFill>
                  <a:schemeClr val="bg1"/>
                </a:solidFill>
              </a:rPr>
              <a:t>cashflow</a:t>
            </a:r>
            <a:r>
              <a:rPr lang="de-DE" sz="1200">
                <a:solidFill>
                  <a:schemeClr val="bg1"/>
                </a:solidFill>
              </a:rPr>
              <a:t> </a:t>
            </a:r>
            <a:r>
              <a:rPr lang="de-DE" sz="1200" err="1">
                <a:solidFill>
                  <a:schemeClr val="bg1"/>
                </a:solidFill>
              </a:rPr>
              <a:t>impact</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depreciation</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liabilities</a:t>
            </a:r>
            <a:endParaRPr lang="en-GB" sz="1200">
              <a:solidFill>
                <a:schemeClr val="bg1"/>
              </a:solidFill>
            </a:endParaRPr>
          </a:p>
        </p:txBody>
      </p:sp>
      <p:sp>
        <p:nvSpPr>
          <p:cNvPr id="41" name="Rectangle: Rounded Corners 40">
            <a:extLst>
              <a:ext uri="{FF2B5EF4-FFF2-40B4-BE49-F238E27FC236}">
                <a16:creationId xmlns:a16="http://schemas.microsoft.com/office/drawing/2014/main" id="{054F5798-5864-90BE-F3EA-3423AFD15963}"/>
              </a:ext>
            </a:extLst>
          </p:cNvPr>
          <p:cNvSpPr/>
          <p:nvPr/>
        </p:nvSpPr>
        <p:spPr>
          <a:xfrm>
            <a:off x="3492269" y="6036450"/>
            <a:ext cx="6209993" cy="306891"/>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de-DE" sz="1200" b="1">
                <a:solidFill>
                  <a:schemeClr val="bg1"/>
                </a:solidFill>
              </a:rPr>
              <a:t>Negative </a:t>
            </a:r>
            <a:r>
              <a:rPr lang="de-DE" sz="1200" b="1" err="1">
                <a:solidFill>
                  <a:schemeClr val="bg1"/>
                </a:solidFill>
              </a:rPr>
              <a:t>net</a:t>
            </a:r>
            <a:r>
              <a:rPr lang="de-DE" sz="1200" b="1">
                <a:solidFill>
                  <a:schemeClr val="bg1"/>
                </a:solidFill>
              </a:rPr>
              <a:t> </a:t>
            </a:r>
            <a:r>
              <a:rPr lang="de-DE" sz="1200" b="1" err="1">
                <a:solidFill>
                  <a:schemeClr val="bg1"/>
                </a:solidFill>
              </a:rPr>
              <a:t>cashflow</a:t>
            </a:r>
            <a:r>
              <a:rPr lang="de-DE" sz="1200" b="1">
                <a:solidFill>
                  <a:schemeClr val="bg1"/>
                </a:solidFill>
              </a:rPr>
              <a:t> </a:t>
            </a:r>
            <a:r>
              <a:rPr lang="de-DE" sz="1200" b="1" err="1">
                <a:solidFill>
                  <a:schemeClr val="bg1"/>
                </a:solidFill>
              </a:rPr>
              <a:t>effect</a:t>
            </a:r>
            <a:r>
              <a:rPr lang="de-DE" sz="1200" b="1">
                <a:solidFill>
                  <a:schemeClr val="bg1"/>
                </a:solidFill>
              </a:rPr>
              <a:t> </a:t>
            </a:r>
            <a:r>
              <a:rPr lang="de-DE" sz="1200" b="1" err="1">
                <a:solidFill>
                  <a:schemeClr val="bg1"/>
                </a:solidFill>
              </a:rPr>
              <a:t>given</a:t>
            </a:r>
            <a:r>
              <a:rPr lang="de-DE" sz="1200" b="1">
                <a:solidFill>
                  <a:schemeClr val="bg1"/>
                </a:solidFill>
              </a:rPr>
              <a:t> </a:t>
            </a:r>
            <a:r>
              <a:rPr lang="de-DE" sz="1200" b="1" err="1">
                <a:solidFill>
                  <a:schemeClr val="bg1"/>
                </a:solidFill>
              </a:rPr>
              <a:t>more</a:t>
            </a:r>
            <a:r>
              <a:rPr lang="de-DE" sz="1200" b="1">
                <a:solidFill>
                  <a:schemeClr val="bg1"/>
                </a:solidFill>
              </a:rPr>
              <a:t> </a:t>
            </a:r>
            <a:r>
              <a:rPr lang="de-DE" sz="1200" b="1" err="1">
                <a:solidFill>
                  <a:schemeClr val="bg1"/>
                </a:solidFill>
              </a:rPr>
              <a:t>pronounced</a:t>
            </a:r>
            <a:r>
              <a:rPr lang="de-DE" sz="1200" b="1">
                <a:solidFill>
                  <a:schemeClr val="bg1"/>
                </a:solidFill>
              </a:rPr>
              <a:t> </a:t>
            </a:r>
            <a:r>
              <a:rPr lang="de-DE" sz="1200" b="1" err="1">
                <a:solidFill>
                  <a:schemeClr val="bg1"/>
                </a:solidFill>
              </a:rPr>
              <a:t>impact</a:t>
            </a:r>
            <a:r>
              <a:rPr lang="de-DE" sz="1200" b="1">
                <a:solidFill>
                  <a:schemeClr val="bg1"/>
                </a:solidFill>
              </a:rPr>
              <a:t> on </a:t>
            </a:r>
            <a:r>
              <a:rPr lang="de-DE" sz="1200" b="1" err="1">
                <a:solidFill>
                  <a:schemeClr val="bg1"/>
                </a:solidFill>
              </a:rPr>
              <a:t>the</a:t>
            </a:r>
            <a:r>
              <a:rPr lang="de-DE" sz="1200" b="1">
                <a:solidFill>
                  <a:schemeClr val="bg1"/>
                </a:solidFill>
              </a:rPr>
              <a:t> </a:t>
            </a:r>
            <a:r>
              <a:rPr lang="de-DE" sz="1200" b="1" err="1">
                <a:solidFill>
                  <a:schemeClr val="bg1"/>
                </a:solidFill>
              </a:rPr>
              <a:t>long</a:t>
            </a:r>
            <a:r>
              <a:rPr lang="de-DE" sz="1200" b="1">
                <a:solidFill>
                  <a:schemeClr val="bg1"/>
                </a:solidFill>
              </a:rPr>
              <a:t>-term rate </a:t>
            </a:r>
            <a:endParaRPr lang="en-GB" sz="1200" b="1" err="1">
              <a:solidFill>
                <a:schemeClr val="bg1"/>
              </a:solidFill>
            </a:endParaRPr>
          </a:p>
        </p:txBody>
      </p:sp>
      <p:sp>
        <p:nvSpPr>
          <p:cNvPr id="8" name="Arrow: Pentagon 7">
            <a:extLst>
              <a:ext uri="{FF2B5EF4-FFF2-40B4-BE49-F238E27FC236}">
                <a16:creationId xmlns:a16="http://schemas.microsoft.com/office/drawing/2014/main" id="{DEA452C2-4031-0964-CAEC-5B2C5A06EB3C}"/>
              </a:ext>
            </a:extLst>
          </p:cNvPr>
          <p:cNvSpPr/>
          <p:nvPr/>
        </p:nvSpPr>
        <p:spPr>
          <a:xfrm rot="5400000">
            <a:off x="3257710" y="6075595"/>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5" name="Arrow: Pentagon 4">
            <a:extLst>
              <a:ext uri="{FF2B5EF4-FFF2-40B4-BE49-F238E27FC236}">
                <a16:creationId xmlns:a16="http://schemas.microsoft.com/office/drawing/2014/main" id="{53B649C6-0973-3F37-ECFB-9BC3897D0441}"/>
              </a:ext>
            </a:extLst>
          </p:cNvPr>
          <p:cNvSpPr/>
          <p:nvPr/>
        </p:nvSpPr>
        <p:spPr>
          <a:xfrm>
            <a:off x="6180145" y="5159140"/>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3" name="Arrow: Pentagon 12">
            <a:extLst>
              <a:ext uri="{FF2B5EF4-FFF2-40B4-BE49-F238E27FC236}">
                <a16:creationId xmlns:a16="http://schemas.microsoft.com/office/drawing/2014/main" id="{5E04690C-56AC-A3A2-BAF4-3B55B6114500}"/>
              </a:ext>
            </a:extLst>
          </p:cNvPr>
          <p:cNvSpPr/>
          <p:nvPr/>
        </p:nvSpPr>
        <p:spPr>
          <a:xfrm rot="16200000">
            <a:off x="6180145" y="543199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7" name="Arrow: Pentagon 16">
            <a:extLst>
              <a:ext uri="{FF2B5EF4-FFF2-40B4-BE49-F238E27FC236}">
                <a16:creationId xmlns:a16="http://schemas.microsoft.com/office/drawing/2014/main" id="{1CCFC9AA-E247-684B-1552-E3DAD38ED3E4}"/>
              </a:ext>
            </a:extLst>
          </p:cNvPr>
          <p:cNvSpPr/>
          <p:nvPr/>
        </p:nvSpPr>
        <p:spPr>
          <a:xfrm>
            <a:off x="6180145"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8" name="Arrow: Pentagon 17">
            <a:extLst>
              <a:ext uri="{FF2B5EF4-FFF2-40B4-BE49-F238E27FC236}">
                <a16:creationId xmlns:a16="http://schemas.microsoft.com/office/drawing/2014/main" id="{46010BFC-34C7-FD77-B927-153599FCB893}"/>
              </a:ext>
            </a:extLst>
          </p:cNvPr>
          <p:cNvSpPr/>
          <p:nvPr/>
        </p:nvSpPr>
        <p:spPr>
          <a:xfrm>
            <a:off x="1411606" y="5159140"/>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9" name="Arrow: Pentagon 18">
            <a:extLst>
              <a:ext uri="{FF2B5EF4-FFF2-40B4-BE49-F238E27FC236}">
                <a16:creationId xmlns:a16="http://schemas.microsoft.com/office/drawing/2014/main" id="{06470080-2986-D7BE-0458-6F36EBDE6E61}"/>
              </a:ext>
            </a:extLst>
          </p:cNvPr>
          <p:cNvSpPr/>
          <p:nvPr/>
        </p:nvSpPr>
        <p:spPr>
          <a:xfrm rot="16200000">
            <a:off x="1411606" y="543199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2" name="Arrow: Pentagon 21">
            <a:extLst>
              <a:ext uri="{FF2B5EF4-FFF2-40B4-BE49-F238E27FC236}">
                <a16:creationId xmlns:a16="http://schemas.microsoft.com/office/drawing/2014/main" id="{0E8AE1E8-8F3B-F2BA-19FE-F462FFB6B091}"/>
              </a:ext>
            </a:extLst>
          </p:cNvPr>
          <p:cNvSpPr/>
          <p:nvPr/>
        </p:nvSpPr>
        <p:spPr>
          <a:xfrm>
            <a:off x="1411606"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7170" name="Picture 2">
            <a:extLst>
              <a:ext uri="{FF2B5EF4-FFF2-40B4-BE49-F238E27FC236}">
                <a16:creationId xmlns:a16="http://schemas.microsoft.com/office/drawing/2014/main" id="{76765D25-E967-D72B-B52E-CD3BA7BBCBC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736" y="1300350"/>
            <a:ext cx="5129784" cy="341071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graph of a person with a black line&#10;&#10;AI-generated content may be incorrect.">
            <a:extLst>
              <a:ext uri="{FF2B5EF4-FFF2-40B4-BE49-F238E27FC236}">
                <a16:creationId xmlns:a16="http://schemas.microsoft.com/office/drawing/2014/main" id="{6D1C7761-AAEE-35DC-45C5-513396B79D6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598920" y="1300350"/>
            <a:ext cx="5038344" cy="3401568"/>
          </a:xfrm>
          <a:prstGeom prst="rect">
            <a:avLst/>
          </a:prstGeom>
        </p:spPr>
      </p:pic>
    </p:spTree>
    <p:extLst>
      <p:ext uri="{BB962C8B-B14F-4D97-AF65-F5344CB8AC3E}">
        <p14:creationId xmlns:p14="http://schemas.microsoft.com/office/powerpoint/2010/main" val="3593983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5DFD2-7D02-8DDB-0644-A63B38F57F01}"/>
              </a:ext>
            </a:extLst>
          </p:cNvPr>
          <p:cNvSpPr>
            <a:spLocks noGrp="1"/>
          </p:cNvSpPr>
          <p:nvPr>
            <p:ph type="title"/>
          </p:nvPr>
        </p:nvSpPr>
        <p:spPr/>
        <p:txBody>
          <a:bodyPr/>
          <a:lstStyle/>
          <a:p>
            <a:r>
              <a:rPr lang="de-DE"/>
              <a:t>Cash Flow at Risk </a:t>
            </a:r>
            <a:r>
              <a:rPr lang="de-DE" err="1"/>
              <a:t>Across</a:t>
            </a:r>
            <a:r>
              <a:rPr lang="de-DE"/>
              <a:t> </a:t>
            </a:r>
            <a:r>
              <a:rPr lang="de-DE" err="1"/>
              <a:t>Maturities</a:t>
            </a:r>
            <a:endParaRPr lang="en-GB" err="1"/>
          </a:p>
        </p:txBody>
      </p:sp>
      <p:graphicFrame>
        <p:nvGraphicFramePr>
          <p:cNvPr id="8" name="Table 7">
            <a:extLst>
              <a:ext uri="{FF2B5EF4-FFF2-40B4-BE49-F238E27FC236}">
                <a16:creationId xmlns:a16="http://schemas.microsoft.com/office/drawing/2014/main" id="{6719C0A3-0141-901E-D0F4-9C805D52FAA7}"/>
              </a:ext>
            </a:extLst>
          </p:cNvPr>
          <p:cNvGraphicFramePr>
            <a:graphicFrameLocks noGrp="1"/>
          </p:cNvGraphicFramePr>
          <p:nvPr>
            <p:extLst>
              <p:ext uri="{D42A27DB-BD31-4B8C-83A1-F6EECF244321}">
                <p14:modId xmlns:p14="http://schemas.microsoft.com/office/powerpoint/2010/main" val="1047233639"/>
              </p:ext>
            </p:extLst>
          </p:nvPr>
        </p:nvGraphicFramePr>
        <p:xfrm>
          <a:off x="1123950" y="2049757"/>
          <a:ext cx="9944100" cy="3019742"/>
        </p:xfrm>
        <a:graphic>
          <a:graphicData uri="http://schemas.openxmlformats.org/drawingml/2006/table">
            <a:tbl>
              <a:tblPr/>
              <a:tblGrid>
                <a:gridCol w="1016000">
                  <a:extLst>
                    <a:ext uri="{9D8B030D-6E8A-4147-A177-3AD203B41FA5}">
                      <a16:colId xmlns:a16="http://schemas.microsoft.com/office/drawing/2014/main" val="734238259"/>
                    </a:ext>
                  </a:extLst>
                </a:gridCol>
                <a:gridCol w="1168400">
                  <a:extLst>
                    <a:ext uri="{9D8B030D-6E8A-4147-A177-3AD203B41FA5}">
                      <a16:colId xmlns:a16="http://schemas.microsoft.com/office/drawing/2014/main" val="3217624202"/>
                    </a:ext>
                  </a:extLst>
                </a:gridCol>
                <a:gridCol w="965200">
                  <a:extLst>
                    <a:ext uri="{9D8B030D-6E8A-4147-A177-3AD203B41FA5}">
                      <a16:colId xmlns:a16="http://schemas.microsoft.com/office/drawing/2014/main" val="1447366279"/>
                    </a:ext>
                  </a:extLst>
                </a:gridCol>
                <a:gridCol w="939800">
                  <a:extLst>
                    <a:ext uri="{9D8B030D-6E8A-4147-A177-3AD203B41FA5}">
                      <a16:colId xmlns:a16="http://schemas.microsoft.com/office/drawing/2014/main" val="1205710824"/>
                    </a:ext>
                  </a:extLst>
                </a:gridCol>
                <a:gridCol w="1282700">
                  <a:extLst>
                    <a:ext uri="{9D8B030D-6E8A-4147-A177-3AD203B41FA5}">
                      <a16:colId xmlns:a16="http://schemas.microsoft.com/office/drawing/2014/main" val="2529739969"/>
                    </a:ext>
                  </a:extLst>
                </a:gridCol>
                <a:gridCol w="1346200">
                  <a:extLst>
                    <a:ext uri="{9D8B030D-6E8A-4147-A177-3AD203B41FA5}">
                      <a16:colId xmlns:a16="http://schemas.microsoft.com/office/drawing/2014/main" val="1304262711"/>
                    </a:ext>
                  </a:extLst>
                </a:gridCol>
                <a:gridCol w="1143000">
                  <a:extLst>
                    <a:ext uri="{9D8B030D-6E8A-4147-A177-3AD203B41FA5}">
                      <a16:colId xmlns:a16="http://schemas.microsoft.com/office/drawing/2014/main" val="867691229"/>
                    </a:ext>
                  </a:extLst>
                </a:gridCol>
                <a:gridCol w="1206500">
                  <a:extLst>
                    <a:ext uri="{9D8B030D-6E8A-4147-A177-3AD203B41FA5}">
                      <a16:colId xmlns:a16="http://schemas.microsoft.com/office/drawing/2014/main" val="3579487892"/>
                    </a:ext>
                  </a:extLst>
                </a:gridCol>
                <a:gridCol w="876300">
                  <a:extLst>
                    <a:ext uri="{9D8B030D-6E8A-4147-A177-3AD203B41FA5}">
                      <a16:colId xmlns:a16="http://schemas.microsoft.com/office/drawing/2014/main" val="2938244742"/>
                    </a:ext>
                  </a:extLst>
                </a:gridCol>
              </a:tblGrid>
              <a:tr h="274522">
                <a:tc>
                  <a:txBody>
                    <a:bodyPr/>
                    <a:lstStyle/>
                    <a:p>
                      <a:pPr algn="ctr" fontAlgn="t">
                        <a:buNone/>
                      </a:pPr>
                      <a:r>
                        <a:rPr lang="en-GB" sz="1100" b="1" i="0" u="none" strike="noStrike">
                          <a:solidFill>
                            <a:srgbClr val="000000"/>
                          </a:solidFill>
                          <a:effectLst/>
                          <a:latin typeface="Calibri" panose="020F0502020204030204" pitchFamily="34" charset="0"/>
                        </a:rPr>
                        <a:t>Maturity (Years)</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000000"/>
                          </a:solidFill>
                          <a:effectLst/>
                          <a:latin typeface="Calibri" panose="020F0502020204030204" pitchFamily="34" charset="0"/>
                        </a:rPr>
                        <a:t>Expected CF (Base)</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000000"/>
                          </a:solidFill>
                          <a:effectLst/>
                          <a:latin typeface="Calibri" panose="020F0502020204030204" pitchFamily="34" charset="0"/>
                        </a:rPr>
                        <a:t>Parallel +100bp</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000000"/>
                          </a:solidFill>
                          <a:effectLst/>
                          <a:latin typeface="Calibri" panose="020F0502020204030204" pitchFamily="34" charset="0"/>
                        </a:rPr>
                        <a:t>Parallel -100bp</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000000"/>
                          </a:solidFill>
                          <a:effectLst/>
                          <a:latin typeface="Calibri" panose="020F0502020204030204" pitchFamily="34" charset="0"/>
                        </a:rPr>
                        <a:t>Flattening around 5Y</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000000"/>
                          </a:solidFill>
                          <a:effectLst/>
                          <a:latin typeface="Calibri" panose="020F0502020204030204" pitchFamily="34" charset="0"/>
                        </a:rPr>
                        <a:t>Steepening around 5Y</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000000"/>
                          </a:solidFill>
                          <a:effectLst/>
                          <a:latin typeface="Calibri" panose="020F0502020204030204" pitchFamily="34" charset="0"/>
                        </a:rPr>
                        <a:t>Flattening from Y2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000000"/>
                          </a:solidFill>
                          <a:effectLst/>
                          <a:latin typeface="Calibri" panose="020F0502020204030204" pitchFamily="34" charset="0"/>
                        </a:rPr>
                        <a:t>Steepening from Y2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FF0000"/>
                          </a:solidFill>
                          <a:effectLst/>
                          <a:latin typeface="Calibri" panose="020F0502020204030204" pitchFamily="34" charset="0"/>
                        </a:rPr>
                        <a:t>CFaR_95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897392"/>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-3.922071315</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-5</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-4.8</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-3.2</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-1.027928685</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874993628"/>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-4.06919105</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-5.153868231</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-3.152366022</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-4.748813087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-3.556234132</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-3.949012989</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-4.357638958</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-0.983413395</a:t>
                      </a:r>
                    </a:p>
                  </a:txBody>
                  <a:tcPr marL="6350" marR="6350" marT="6350" marB="0" anchor="b">
                    <a:lnL>
                      <a:noFill/>
                    </a:lnL>
                    <a:lnR>
                      <a:noFill/>
                    </a:lnR>
                    <a:lnT>
                      <a:noFill/>
                    </a:lnT>
                    <a:lnB>
                      <a:noFill/>
                    </a:lnB>
                    <a:noFill/>
                  </a:tcPr>
                </a:tc>
                <a:extLst>
                  <a:ext uri="{0D108BD9-81ED-4DB2-BD59-A6C34878D82A}">
                    <a16:rowId xmlns:a16="http://schemas.microsoft.com/office/drawing/2014/main" val="1975918602"/>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-4.218476647</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-5.31077314</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-3.306674615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-4.696833049</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-3.918508091</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-3.897377295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-4.72234908</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-0.945190478</a:t>
                      </a:r>
                    </a:p>
                  </a:txBody>
                  <a:tcPr marL="6350" marR="6350" marT="6350" marB="0" anchor="b">
                    <a:lnL>
                      <a:noFill/>
                    </a:lnL>
                    <a:lnR>
                      <a:noFill/>
                    </a:lnR>
                    <a:lnT>
                      <a:noFill/>
                    </a:lnT>
                    <a:lnB>
                      <a:noFill/>
                    </a:lnB>
                    <a:noFill/>
                  </a:tcPr>
                </a:tc>
                <a:extLst>
                  <a:ext uri="{0D108BD9-81ED-4DB2-BD59-A6C34878D82A}">
                    <a16:rowId xmlns:a16="http://schemas.microsoft.com/office/drawing/2014/main" val="3019958191"/>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-4.370247768</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-5.471108868</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-3.463229221</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-4.644061212</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-4.288441187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-3.845102439</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-5.095862372</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-1.007049476</a:t>
                      </a:r>
                    </a:p>
                  </a:txBody>
                  <a:tcPr marL="6350" marR="6350" marT="6350" marB="0" anchor="b">
                    <a:lnL>
                      <a:noFill/>
                    </a:lnL>
                    <a:lnR>
                      <a:noFill/>
                    </a:lnR>
                    <a:lnT>
                      <a:noFill/>
                    </a:lnT>
                    <a:lnB>
                      <a:noFill/>
                    </a:lnB>
                    <a:noFill/>
                  </a:tcPr>
                </a:tc>
                <a:extLst>
                  <a:ext uri="{0D108BD9-81ED-4DB2-BD59-A6C34878D82A}">
                    <a16:rowId xmlns:a16="http://schemas.microsoft.com/office/drawing/2014/main" val="4074058805"/>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-4.524859296</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-5.635319649</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-3.6223628</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-4.590501233</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-4.667888811</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-3.792200038</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-5.480189759</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-1.07167788</a:t>
                      </a:r>
                    </a:p>
                  </a:txBody>
                  <a:tcPr marL="6350" marR="6350" marT="6350" marB="0" anchor="b">
                    <a:lnL>
                      <a:noFill/>
                    </a:lnL>
                    <a:lnR>
                      <a:noFill/>
                    </a:lnR>
                    <a:lnT>
                      <a:noFill/>
                    </a:lnT>
                    <a:lnB>
                      <a:noFill/>
                    </a:lnB>
                    <a:noFill/>
                  </a:tcPr>
                </a:tc>
                <a:extLst>
                  <a:ext uri="{0D108BD9-81ED-4DB2-BD59-A6C34878D82A}">
                    <a16:rowId xmlns:a16="http://schemas.microsoft.com/office/drawing/2014/main" val="129264658"/>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-4.682708351</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-5.803909806</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-3.784443815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-4.648165745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-4.94320416</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-3.738683855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-5.877712674</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-1.176553606</a:t>
                      </a:r>
                    </a:p>
                  </a:txBody>
                  <a:tcPr marL="6350" marR="6350" marT="6350" marB="0" anchor="b">
                    <a:lnL>
                      <a:noFill/>
                    </a:lnL>
                    <a:lnR>
                      <a:noFill/>
                    </a:lnR>
                    <a:lnT>
                      <a:noFill/>
                    </a:lnT>
                    <a:lnB>
                      <a:noFill/>
                    </a:lnB>
                    <a:noFill/>
                  </a:tcPr>
                </a:tc>
                <a:extLst>
                  <a:ext uri="{0D108BD9-81ED-4DB2-BD59-A6C34878D82A}">
                    <a16:rowId xmlns:a16="http://schemas.microsoft.com/office/drawing/2014/main" val="3648260927"/>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7</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-4.844242854</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-5.977456136</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-3.949883432</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-4.706045337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-5.227705117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-3.684569829</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-6.291307077</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-1.368601488</a:t>
                      </a:r>
                    </a:p>
                  </a:txBody>
                  <a:tcPr marL="6350" marR="6350" marT="6350" marB="0" anchor="b">
                    <a:lnL>
                      <a:noFill/>
                    </a:lnL>
                    <a:lnR>
                      <a:noFill/>
                    </a:lnR>
                    <a:lnT>
                      <a:noFill/>
                    </a:lnT>
                    <a:lnB>
                      <a:noFill/>
                    </a:lnB>
                    <a:noFill/>
                  </a:tcPr>
                </a:tc>
                <a:extLst>
                  <a:ext uri="{0D108BD9-81ED-4DB2-BD59-A6C34878D82A}">
                    <a16:rowId xmlns:a16="http://schemas.microsoft.com/office/drawing/2014/main" val="2863310169"/>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-5.009972074</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-6.156623411</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-4.11914427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-4.764537945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-5.522691947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-3.629876096</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-6.724515962</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-1.57257075</a:t>
                      </a:r>
                    </a:p>
                  </a:txBody>
                  <a:tcPr marL="6350" marR="6350" marT="6350" marB="0" anchor="b">
                    <a:lnL>
                      <a:noFill/>
                    </a:lnL>
                    <a:lnR>
                      <a:noFill/>
                    </a:lnR>
                    <a:lnT>
                      <a:noFill/>
                    </a:lnT>
                    <a:lnB>
                      <a:noFill/>
                    </a:lnB>
                    <a:noFill/>
                  </a:tcPr>
                </a:tc>
                <a:extLst>
                  <a:ext uri="{0D108BD9-81ED-4DB2-BD59-A6C34878D82A}">
                    <a16:rowId xmlns:a16="http://schemas.microsoft.com/office/drawing/2014/main" val="2568134484"/>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-5.18047979</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-6.342184007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-4.292751167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-4.82390701</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-5.829878615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-3.574622991</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-7.181796156</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-1.791413329</a:t>
                      </a:r>
                    </a:p>
                  </a:txBody>
                  <a:tcPr marL="6350" marR="6350" marT="6350" marB="0" anchor="b">
                    <a:lnL>
                      <a:noFill/>
                    </a:lnL>
                    <a:lnR>
                      <a:noFill/>
                    </a:lnR>
                    <a:lnT>
                      <a:noFill/>
                    </a:lnT>
                    <a:lnB>
                      <a:noFill/>
                    </a:lnB>
                    <a:noFill/>
                  </a:tcPr>
                </a:tc>
                <a:extLst>
                  <a:ext uri="{0D108BD9-81ED-4DB2-BD59-A6C34878D82A}">
                    <a16:rowId xmlns:a16="http://schemas.microsoft.com/office/drawing/2014/main" val="1907244477"/>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10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-5.356440879</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-6.53504306</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-4.471304583</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-4.884353307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-6.151431422</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-3.518833035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-7.6688822</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-2.028981535</a:t>
                      </a:r>
                    </a:p>
                  </a:txBody>
                  <a:tcPr marL="6350" marR="6350" marT="6350" marB="0" anchor="b">
                    <a:lnL>
                      <a:noFill/>
                    </a:lnL>
                    <a:lnR>
                      <a:noFill/>
                    </a:lnR>
                    <a:lnT>
                      <a:noFill/>
                    </a:lnT>
                    <a:lnB>
                      <a:noFill/>
                    </a:lnB>
                    <a:noFill/>
                  </a:tcPr>
                </a:tc>
                <a:extLst>
                  <a:ext uri="{0D108BD9-81ED-4DB2-BD59-A6C34878D82A}">
                    <a16:rowId xmlns:a16="http://schemas.microsoft.com/office/drawing/2014/main" val="3183943508"/>
                  </a:ext>
                </a:extLst>
              </a:tr>
            </a:tbl>
          </a:graphicData>
        </a:graphic>
      </p:graphicFrame>
      <p:sp>
        <p:nvSpPr>
          <p:cNvPr id="5" name="TextBox 4">
            <a:extLst>
              <a:ext uri="{FF2B5EF4-FFF2-40B4-BE49-F238E27FC236}">
                <a16:creationId xmlns:a16="http://schemas.microsoft.com/office/drawing/2014/main" id="{191B87B0-7323-FA56-0377-BC5158C1A505}"/>
              </a:ext>
            </a:extLst>
          </p:cNvPr>
          <p:cNvSpPr txBox="1"/>
          <p:nvPr/>
        </p:nvSpPr>
        <p:spPr>
          <a:xfrm>
            <a:off x="1128764" y="5375868"/>
            <a:ext cx="9730153" cy="492443"/>
          </a:xfrm>
          <a:prstGeom prst="rect">
            <a:avLst/>
          </a:prstGeom>
          <a:noFill/>
          <a:ln w="6350">
            <a:noFill/>
            <a:miter lim="800000"/>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300"/>
              </a:spcBef>
              <a:spcAft>
                <a:spcPts val="300"/>
              </a:spcAft>
            </a:pPr>
            <a:r>
              <a:rPr lang="en-US" sz="1600" b="1" i="1">
                <a:solidFill>
                  <a:schemeClr val="bg1"/>
                </a:solidFill>
                <a:ea typeface="+mn-lt"/>
                <a:cs typeface="+mn-lt"/>
              </a:rPr>
              <a:t>"At 1-year maturity, 95% </a:t>
            </a:r>
            <a:r>
              <a:rPr lang="en-US" sz="1600" b="1" i="1" err="1">
                <a:solidFill>
                  <a:schemeClr val="bg1"/>
                </a:solidFill>
                <a:ea typeface="+mn-lt"/>
                <a:cs typeface="+mn-lt"/>
              </a:rPr>
              <a:t>CFaR</a:t>
            </a:r>
            <a:r>
              <a:rPr lang="en-US" sz="1600" b="1" i="1">
                <a:solidFill>
                  <a:schemeClr val="bg1"/>
                </a:solidFill>
                <a:ea typeface="+mn-lt"/>
                <a:cs typeface="+mn-lt"/>
              </a:rPr>
              <a:t> = €1m. Meaning our annual interest cost could be €5m instead of €4m. Treasury must plan an extra €1m liquidity buffer."</a:t>
            </a:r>
            <a:endParaRPr lang="en-US" b="1" i="1">
              <a:solidFill>
                <a:schemeClr val="bg1"/>
              </a:solidFill>
              <a:cs typeface="Arial"/>
            </a:endParaRPr>
          </a:p>
        </p:txBody>
      </p:sp>
      <p:sp>
        <p:nvSpPr>
          <p:cNvPr id="7" name="TextBox 6">
            <a:extLst>
              <a:ext uri="{FF2B5EF4-FFF2-40B4-BE49-F238E27FC236}">
                <a16:creationId xmlns:a16="http://schemas.microsoft.com/office/drawing/2014/main" id="{4AE7650A-BDA9-AC49-A8AE-414D95ECD25B}"/>
              </a:ext>
            </a:extLst>
          </p:cNvPr>
          <p:cNvSpPr txBox="1"/>
          <p:nvPr/>
        </p:nvSpPr>
        <p:spPr>
          <a:xfrm>
            <a:off x="1128764" y="1478782"/>
            <a:ext cx="9730153" cy="246221"/>
          </a:xfrm>
          <a:prstGeom prst="rect">
            <a:avLst/>
          </a:prstGeom>
          <a:noFill/>
          <a:ln w="6350">
            <a:noFill/>
            <a:miter lim="800000"/>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300"/>
              </a:spcBef>
              <a:spcAft>
                <a:spcPts val="300"/>
              </a:spcAft>
            </a:pPr>
            <a:r>
              <a:rPr lang="en-US" sz="1600" b="1" i="1">
                <a:solidFill>
                  <a:schemeClr val="bg1"/>
                </a:solidFill>
                <a:ea typeface="+mn-lt"/>
                <a:cs typeface="+mn-lt"/>
              </a:rPr>
              <a:t>We assume one line item from the balance sheet, 100 Mio outstanding floating rate debt </a:t>
            </a:r>
            <a:endParaRPr lang="en-US" b="1">
              <a:solidFill>
                <a:schemeClr val="bg1"/>
              </a:solidFill>
              <a:cs typeface="Arial"/>
            </a:endParaRPr>
          </a:p>
        </p:txBody>
      </p:sp>
    </p:spTree>
    <p:extLst>
      <p:ext uri="{BB962C8B-B14F-4D97-AF65-F5344CB8AC3E}">
        <p14:creationId xmlns:p14="http://schemas.microsoft.com/office/powerpoint/2010/main" val="2607610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2F259-6DDC-4F2A-BF2F-FE05A63B98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9EA56-BB0C-E84A-936A-F81CAC86450B}"/>
              </a:ext>
            </a:extLst>
          </p:cNvPr>
          <p:cNvSpPr>
            <a:spLocks noGrp="1"/>
          </p:cNvSpPr>
          <p:nvPr>
            <p:ph type="title"/>
          </p:nvPr>
        </p:nvSpPr>
        <p:spPr/>
        <p:txBody>
          <a:bodyPr/>
          <a:lstStyle/>
          <a:p>
            <a:r>
              <a:rPr lang="en-US">
                <a:ea typeface="+mj-lt"/>
                <a:cs typeface="+mj-lt"/>
              </a:rPr>
              <a:t>Hedging Strategy Analysis</a:t>
            </a:r>
            <a:endParaRPr lang="zh-CN"/>
          </a:p>
        </p:txBody>
      </p:sp>
      <p:cxnSp>
        <p:nvCxnSpPr>
          <p:cNvPr id="3" name="Straight Connector 2">
            <a:extLst>
              <a:ext uri="{FF2B5EF4-FFF2-40B4-BE49-F238E27FC236}">
                <a16:creationId xmlns:a16="http://schemas.microsoft.com/office/drawing/2014/main" id="{EA7C9BE5-614B-F4BB-C567-E21B8566D888}"/>
              </a:ext>
            </a:extLst>
          </p:cNvPr>
          <p:cNvCxnSpPr>
            <a:cxnSpLocks/>
          </p:cNvCxnSpPr>
          <p:nvPr/>
        </p:nvCxnSpPr>
        <p:spPr>
          <a:xfrm>
            <a:off x="554736" y="2185599"/>
            <a:ext cx="11082528" cy="0"/>
          </a:xfrm>
          <a:prstGeom prst="line">
            <a:avLst/>
          </a:prstGeom>
          <a:ln w="952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9B20985A-DFD3-35EB-BD17-A9A303CBE683}"/>
              </a:ext>
            </a:extLst>
          </p:cNvPr>
          <p:cNvSpPr/>
          <p:nvPr/>
        </p:nvSpPr>
        <p:spPr>
          <a:xfrm>
            <a:off x="554736" y="1661409"/>
            <a:ext cx="2049316" cy="4354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Interest Rate Swap</a:t>
            </a:r>
          </a:p>
        </p:txBody>
      </p:sp>
      <p:sp>
        <p:nvSpPr>
          <p:cNvPr id="5" name="Rectangle 4">
            <a:extLst>
              <a:ext uri="{FF2B5EF4-FFF2-40B4-BE49-F238E27FC236}">
                <a16:creationId xmlns:a16="http://schemas.microsoft.com/office/drawing/2014/main" id="{020323FE-05F5-AB94-0705-7800CA0BA1FF}"/>
              </a:ext>
            </a:extLst>
          </p:cNvPr>
          <p:cNvSpPr/>
          <p:nvPr/>
        </p:nvSpPr>
        <p:spPr>
          <a:xfrm>
            <a:off x="554736" y="2274367"/>
            <a:ext cx="2049316" cy="4354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altLang="zh-CN" sz="1400" b="1">
                <a:solidFill>
                  <a:srgbClr val="FFFFFF"/>
                </a:solidFill>
              </a:rPr>
              <a:t>Interest Rate </a:t>
            </a:r>
            <a:r>
              <a:rPr kumimoji="0" lang="en-US" sz="1400" b="1" i="0" u="none" strike="noStrike" kern="1200" cap="none" spc="0" normalizeH="0" baseline="0" noProof="0">
                <a:ln>
                  <a:noFill/>
                </a:ln>
                <a:solidFill>
                  <a:srgbClr val="FFFFFF"/>
                </a:solidFill>
                <a:effectLst/>
                <a:uLnTx/>
                <a:uFillTx/>
                <a:latin typeface="Arial"/>
                <a:ea typeface="+mn-ea"/>
                <a:cs typeface="+mn-cs"/>
              </a:rPr>
              <a:t>Cap</a:t>
            </a:r>
          </a:p>
        </p:txBody>
      </p:sp>
      <p:sp>
        <p:nvSpPr>
          <p:cNvPr id="7" name="Rectangle 6">
            <a:extLst>
              <a:ext uri="{FF2B5EF4-FFF2-40B4-BE49-F238E27FC236}">
                <a16:creationId xmlns:a16="http://schemas.microsoft.com/office/drawing/2014/main" id="{336DCCCA-2088-7ACC-90DA-15A0932B0A0F}"/>
              </a:ext>
            </a:extLst>
          </p:cNvPr>
          <p:cNvSpPr/>
          <p:nvPr/>
        </p:nvSpPr>
        <p:spPr>
          <a:xfrm>
            <a:off x="554736" y="2887325"/>
            <a:ext cx="2049316" cy="4354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altLang="zh-CN" sz="1400" b="1">
                <a:solidFill>
                  <a:srgbClr val="FFFFFF"/>
                </a:solidFill>
              </a:rPr>
              <a:t>Interest Rate </a:t>
            </a:r>
            <a:r>
              <a:rPr kumimoji="0" lang="en-US" sz="1400" b="1" i="0" u="none" strike="noStrike" kern="1200" cap="none" spc="0" normalizeH="0" baseline="0" noProof="0">
                <a:ln>
                  <a:noFill/>
                </a:ln>
                <a:solidFill>
                  <a:srgbClr val="FFFFFF"/>
                </a:solidFill>
                <a:effectLst/>
                <a:uLnTx/>
                <a:uFillTx/>
                <a:latin typeface="Arial"/>
                <a:ea typeface="+mn-ea"/>
                <a:cs typeface="+mn-cs"/>
              </a:rPr>
              <a:t>Collar</a:t>
            </a:r>
          </a:p>
        </p:txBody>
      </p:sp>
      <p:sp>
        <p:nvSpPr>
          <p:cNvPr id="8" name="TextBox 7">
            <a:extLst>
              <a:ext uri="{FF2B5EF4-FFF2-40B4-BE49-F238E27FC236}">
                <a16:creationId xmlns:a16="http://schemas.microsoft.com/office/drawing/2014/main" id="{8C672E58-B767-D7D5-44C6-4648FAD184F5}"/>
              </a:ext>
            </a:extLst>
          </p:cNvPr>
          <p:cNvSpPr txBox="1"/>
          <p:nvPr/>
        </p:nvSpPr>
        <p:spPr>
          <a:xfrm>
            <a:off x="2786847" y="1663677"/>
            <a:ext cx="279319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chemeClr val="bg1"/>
                </a:solidFill>
                <a:effectLst/>
                <a:uLnTx/>
                <a:uFillTx/>
                <a:latin typeface="Arial"/>
                <a:ea typeface="+mn-ea"/>
                <a:cs typeface="Arial"/>
              </a:rPr>
              <a:t>Exchange floating-rate payments for fixed-rate payments</a:t>
            </a:r>
            <a:endParaRPr lang="en-US" sz="1400" b="0" i="0" u="none" strike="noStrike" kern="1200" cap="none" spc="0" normalizeH="0" baseline="0">
              <a:ln>
                <a:noFill/>
              </a:ln>
              <a:solidFill>
                <a:schemeClr val="bg1"/>
              </a:solidFill>
              <a:effectLst/>
              <a:uLnTx/>
              <a:uFillTx/>
              <a:latin typeface="Arial"/>
              <a:cs typeface="Arial"/>
            </a:endParaRPr>
          </a:p>
        </p:txBody>
      </p:sp>
      <p:sp>
        <p:nvSpPr>
          <p:cNvPr id="9" name="TextBox 8">
            <a:extLst>
              <a:ext uri="{FF2B5EF4-FFF2-40B4-BE49-F238E27FC236}">
                <a16:creationId xmlns:a16="http://schemas.microsoft.com/office/drawing/2014/main" id="{036009AD-4912-115C-92F8-AF0756CBA548}"/>
              </a:ext>
            </a:extLst>
          </p:cNvPr>
          <p:cNvSpPr txBox="1"/>
          <p:nvPr/>
        </p:nvSpPr>
        <p:spPr>
          <a:xfrm>
            <a:off x="6097577" y="1771398"/>
            <a:ext cx="3710887"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Reduces </a:t>
            </a:r>
            <a:r>
              <a:rPr kumimoji="0" lang="en-US" sz="1400" b="0" i="0" u="none" strike="noStrike" kern="1200" cap="none" spc="0" normalizeH="0" baseline="0" err="1">
                <a:ln>
                  <a:noFill/>
                </a:ln>
                <a:solidFill>
                  <a:srgbClr val="061F32"/>
                </a:solidFill>
                <a:effectLst/>
                <a:uLnTx/>
                <a:uFillTx/>
                <a:latin typeface="Arial"/>
                <a:ea typeface="+mn-ea"/>
                <a:cs typeface="Arial" panose="020B0604020202020204" pitchFamily="34" charset="0"/>
              </a:rPr>
              <a:t>CFaR</a:t>
            </a: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 volatility</a:t>
            </a:r>
          </a:p>
        </p:txBody>
      </p:sp>
      <p:sp>
        <p:nvSpPr>
          <p:cNvPr id="10" name="TextBox 9">
            <a:extLst>
              <a:ext uri="{FF2B5EF4-FFF2-40B4-BE49-F238E27FC236}">
                <a16:creationId xmlns:a16="http://schemas.microsoft.com/office/drawing/2014/main" id="{3F0354BC-AB71-6CBA-1A13-FD75D9DB0D80}"/>
              </a:ext>
            </a:extLst>
          </p:cNvPr>
          <p:cNvSpPr txBox="1"/>
          <p:nvPr/>
        </p:nvSpPr>
        <p:spPr>
          <a:xfrm>
            <a:off x="6097577" y="2384356"/>
            <a:ext cx="3710887"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Asymmetric </a:t>
            </a:r>
            <a:r>
              <a:rPr kumimoji="0" lang="en-US" sz="1400" b="0" i="0" u="none" strike="noStrike" kern="1200" cap="none" spc="0" normalizeH="0" baseline="0" err="1">
                <a:ln>
                  <a:noFill/>
                </a:ln>
                <a:solidFill>
                  <a:srgbClr val="061F32"/>
                </a:solidFill>
                <a:effectLst/>
                <a:uLnTx/>
                <a:uFillTx/>
                <a:latin typeface="Arial"/>
                <a:ea typeface="+mn-ea"/>
                <a:cs typeface="Arial" panose="020B0604020202020204" pitchFamily="34" charset="0"/>
              </a:rPr>
              <a:t>CFaR</a:t>
            </a: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 protection</a:t>
            </a:r>
          </a:p>
        </p:txBody>
      </p:sp>
      <p:sp>
        <p:nvSpPr>
          <p:cNvPr id="11" name="TextBox 10">
            <a:extLst>
              <a:ext uri="{FF2B5EF4-FFF2-40B4-BE49-F238E27FC236}">
                <a16:creationId xmlns:a16="http://schemas.microsoft.com/office/drawing/2014/main" id="{B8700686-B48D-FB2B-F290-80458B617B64}"/>
              </a:ext>
            </a:extLst>
          </p:cNvPr>
          <p:cNvSpPr txBox="1"/>
          <p:nvPr/>
        </p:nvSpPr>
        <p:spPr>
          <a:xfrm>
            <a:off x="2786847" y="2276635"/>
            <a:ext cx="279319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Provides protection when rates exceed the strike</a:t>
            </a:r>
          </a:p>
        </p:txBody>
      </p:sp>
      <p:sp>
        <p:nvSpPr>
          <p:cNvPr id="12" name="TextBox 11">
            <a:extLst>
              <a:ext uri="{FF2B5EF4-FFF2-40B4-BE49-F238E27FC236}">
                <a16:creationId xmlns:a16="http://schemas.microsoft.com/office/drawing/2014/main" id="{0D4B5EA1-448A-B961-0081-D0493E62136A}"/>
              </a:ext>
            </a:extLst>
          </p:cNvPr>
          <p:cNvSpPr txBox="1"/>
          <p:nvPr/>
        </p:nvSpPr>
        <p:spPr>
          <a:xfrm>
            <a:off x="2786847" y="2997314"/>
            <a:ext cx="2793194"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Combination of cap and floor</a:t>
            </a:r>
          </a:p>
        </p:txBody>
      </p:sp>
      <p:sp>
        <p:nvSpPr>
          <p:cNvPr id="13" name="TextBox 12">
            <a:extLst>
              <a:ext uri="{FF2B5EF4-FFF2-40B4-BE49-F238E27FC236}">
                <a16:creationId xmlns:a16="http://schemas.microsoft.com/office/drawing/2014/main" id="{245B619A-FA3B-BC6F-7A5B-B40627A77DE3}"/>
              </a:ext>
            </a:extLst>
          </p:cNvPr>
          <p:cNvSpPr txBox="1"/>
          <p:nvPr/>
        </p:nvSpPr>
        <p:spPr>
          <a:xfrm>
            <a:off x="6097577" y="2997314"/>
            <a:ext cx="3710887"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Balanced </a:t>
            </a:r>
            <a:r>
              <a:rPr kumimoji="0" lang="en-US" sz="1400" b="0" i="0" u="none" strike="noStrike" kern="1200" cap="none" spc="0" normalizeH="0" baseline="0" err="1">
                <a:ln>
                  <a:noFill/>
                </a:ln>
                <a:solidFill>
                  <a:srgbClr val="061F32"/>
                </a:solidFill>
                <a:effectLst/>
                <a:uLnTx/>
                <a:uFillTx/>
                <a:latin typeface="Arial"/>
                <a:ea typeface="+mn-ea"/>
                <a:cs typeface="Arial" panose="020B0604020202020204" pitchFamily="34" charset="0"/>
              </a:rPr>
              <a:t>CFaR</a:t>
            </a: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 reduction</a:t>
            </a:r>
          </a:p>
        </p:txBody>
      </p:sp>
      <p:sp>
        <p:nvSpPr>
          <p:cNvPr id="14" name="TextBox 13">
            <a:extLst>
              <a:ext uri="{FF2B5EF4-FFF2-40B4-BE49-F238E27FC236}">
                <a16:creationId xmlns:a16="http://schemas.microsoft.com/office/drawing/2014/main" id="{FF2B4A9D-7C91-F432-5053-6EF2DA0E4CBA}"/>
              </a:ext>
            </a:extLst>
          </p:cNvPr>
          <p:cNvSpPr txBox="1"/>
          <p:nvPr/>
        </p:nvSpPr>
        <p:spPr>
          <a:xfrm>
            <a:off x="554736" y="1275004"/>
            <a:ext cx="2049316" cy="246223"/>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61F32"/>
                </a:solidFill>
                <a:effectLst/>
                <a:uLnTx/>
                <a:uFillTx/>
                <a:latin typeface="Arial"/>
                <a:ea typeface="+mn-ea"/>
                <a:cs typeface="+mn-cs"/>
              </a:rPr>
              <a:t>S</a:t>
            </a:r>
            <a:r>
              <a:rPr kumimoji="0" lang="en-US" altLang="zh-CN" sz="1600" b="1" i="0" u="none" strike="noStrike" kern="1200" cap="none" spc="0" normalizeH="0" baseline="0" noProof="0">
                <a:ln>
                  <a:noFill/>
                </a:ln>
                <a:solidFill>
                  <a:srgbClr val="061F32"/>
                </a:solidFill>
                <a:effectLst/>
                <a:uLnTx/>
                <a:uFillTx/>
                <a:latin typeface="Arial"/>
                <a:ea typeface="+mn-ea"/>
                <a:cs typeface="+mn-cs"/>
              </a:rPr>
              <a:t>trategy Type</a:t>
            </a:r>
            <a:endParaRPr kumimoji="0" lang="en-US" sz="1600" b="1" i="0" u="none" strike="noStrike" kern="1200" cap="none" spc="0" normalizeH="0" baseline="0" noProof="0">
              <a:ln>
                <a:noFill/>
              </a:ln>
              <a:solidFill>
                <a:srgbClr val="061F32"/>
              </a:solidFill>
              <a:effectLst/>
              <a:uLnTx/>
              <a:uFillTx/>
              <a:latin typeface="Arial"/>
              <a:ea typeface="+mn-ea"/>
              <a:cs typeface="+mn-cs"/>
            </a:endParaRPr>
          </a:p>
        </p:txBody>
      </p:sp>
      <p:cxnSp>
        <p:nvCxnSpPr>
          <p:cNvPr id="15" name="Straight Connector 14">
            <a:extLst>
              <a:ext uri="{FF2B5EF4-FFF2-40B4-BE49-F238E27FC236}">
                <a16:creationId xmlns:a16="http://schemas.microsoft.com/office/drawing/2014/main" id="{AC055FE4-F47F-1BFA-3E3B-B3493E339351}"/>
              </a:ext>
            </a:extLst>
          </p:cNvPr>
          <p:cNvCxnSpPr>
            <a:cxnSpLocks/>
          </p:cNvCxnSpPr>
          <p:nvPr/>
        </p:nvCxnSpPr>
        <p:spPr>
          <a:xfrm>
            <a:off x="554736" y="1572641"/>
            <a:ext cx="2049316"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9B9AF00-9C17-8DF6-6968-48C95D012BAB}"/>
              </a:ext>
            </a:extLst>
          </p:cNvPr>
          <p:cNvSpPr txBox="1"/>
          <p:nvPr/>
        </p:nvSpPr>
        <p:spPr>
          <a:xfrm>
            <a:off x="2786847" y="1275004"/>
            <a:ext cx="4944969" cy="246223"/>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61F32"/>
                </a:solidFill>
                <a:effectLst/>
                <a:uLnTx/>
                <a:uFillTx/>
                <a:latin typeface="Arial"/>
                <a:ea typeface="+mn-ea"/>
                <a:cs typeface="+mn-cs"/>
              </a:rPr>
              <a:t>Basic Mechanism</a:t>
            </a:r>
          </a:p>
        </p:txBody>
      </p:sp>
      <p:cxnSp>
        <p:nvCxnSpPr>
          <p:cNvPr id="17" name="Straight Connector 16">
            <a:extLst>
              <a:ext uri="{FF2B5EF4-FFF2-40B4-BE49-F238E27FC236}">
                <a16:creationId xmlns:a16="http://schemas.microsoft.com/office/drawing/2014/main" id="{345CC337-B99C-8532-68B8-A28ED2E1396E}"/>
              </a:ext>
            </a:extLst>
          </p:cNvPr>
          <p:cNvCxnSpPr>
            <a:cxnSpLocks/>
          </p:cNvCxnSpPr>
          <p:nvPr/>
        </p:nvCxnSpPr>
        <p:spPr>
          <a:xfrm>
            <a:off x="2786847" y="1567804"/>
            <a:ext cx="3176631" cy="4837"/>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E5EAEAC-FD38-ED54-25CC-EFA404018823}"/>
              </a:ext>
            </a:extLst>
          </p:cNvPr>
          <p:cNvSpPr txBox="1"/>
          <p:nvPr/>
        </p:nvSpPr>
        <p:spPr>
          <a:xfrm>
            <a:off x="6097577" y="1275006"/>
            <a:ext cx="3710887" cy="24622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err="1">
                <a:ln>
                  <a:noFill/>
                </a:ln>
                <a:solidFill>
                  <a:srgbClr val="061F32"/>
                </a:solidFill>
                <a:effectLst/>
                <a:uLnTx/>
                <a:uFillTx/>
                <a:latin typeface="Arial"/>
                <a:ea typeface="+mn-ea"/>
                <a:cs typeface="+mn-cs"/>
              </a:rPr>
              <a:t>CFaR</a:t>
            </a:r>
            <a:r>
              <a:rPr kumimoji="0" lang="en-US" sz="1600" b="1" i="0" u="none" strike="noStrike" kern="1200" cap="none" spc="0" normalizeH="0" baseline="0" noProof="0">
                <a:ln>
                  <a:noFill/>
                </a:ln>
                <a:solidFill>
                  <a:srgbClr val="061F32"/>
                </a:solidFill>
                <a:effectLst/>
                <a:uLnTx/>
                <a:uFillTx/>
                <a:latin typeface="Arial"/>
                <a:ea typeface="+mn-ea"/>
                <a:cs typeface="+mn-cs"/>
              </a:rPr>
              <a:t> Impact</a:t>
            </a:r>
          </a:p>
        </p:txBody>
      </p:sp>
      <p:cxnSp>
        <p:nvCxnSpPr>
          <p:cNvPr id="19" name="Straight Connector 18">
            <a:extLst>
              <a:ext uri="{FF2B5EF4-FFF2-40B4-BE49-F238E27FC236}">
                <a16:creationId xmlns:a16="http://schemas.microsoft.com/office/drawing/2014/main" id="{52EF1EA5-0A6A-25FD-88EA-13757B770269}"/>
              </a:ext>
            </a:extLst>
          </p:cNvPr>
          <p:cNvCxnSpPr>
            <a:cxnSpLocks/>
          </p:cNvCxnSpPr>
          <p:nvPr/>
        </p:nvCxnSpPr>
        <p:spPr>
          <a:xfrm flipV="1">
            <a:off x="6097578" y="1572639"/>
            <a:ext cx="2291048" cy="2"/>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9E83C5F-1368-407D-67FE-BC6E575BFF9E}"/>
              </a:ext>
            </a:extLst>
          </p:cNvPr>
          <p:cNvCxnSpPr>
            <a:cxnSpLocks/>
          </p:cNvCxnSpPr>
          <p:nvPr/>
        </p:nvCxnSpPr>
        <p:spPr>
          <a:xfrm>
            <a:off x="554736" y="2798557"/>
            <a:ext cx="11082528" cy="0"/>
          </a:xfrm>
          <a:prstGeom prst="line">
            <a:avLst/>
          </a:prstGeom>
          <a:ln w="952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EEF4BFB-E290-0518-37F1-ACF22A5225B4}"/>
              </a:ext>
            </a:extLst>
          </p:cNvPr>
          <p:cNvSpPr txBox="1"/>
          <p:nvPr/>
        </p:nvSpPr>
        <p:spPr>
          <a:xfrm>
            <a:off x="8699107" y="1771398"/>
            <a:ext cx="3023490"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Fair value at inception</a:t>
            </a:r>
          </a:p>
        </p:txBody>
      </p:sp>
      <p:sp>
        <p:nvSpPr>
          <p:cNvPr id="30" name="TextBox 29">
            <a:extLst>
              <a:ext uri="{FF2B5EF4-FFF2-40B4-BE49-F238E27FC236}">
                <a16:creationId xmlns:a16="http://schemas.microsoft.com/office/drawing/2014/main" id="{EDEF7D52-DA99-BB9C-DD36-B7CC5F48CD9C}"/>
              </a:ext>
            </a:extLst>
          </p:cNvPr>
          <p:cNvSpPr txBox="1"/>
          <p:nvPr/>
        </p:nvSpPr>
        <p:spPr>
          <a:xfrm>
            <a:off x="8699107" y="2384356"/>
            <a:ext cx="3023490"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Premium payment required</a:t>
            </a:r>
          </a:p>
        </p:txBody>
      </p:sp>
      <p:sp>
        <p:nvSpPr>
          <p:cNvPr id="31" name="TextBox 30">
            <a:extLst>
              <a:ext uri="{FF2B5EF4-FFF2-40B4-BE49-F238E27FC236}">
                <a16:creationId xmlns:a16="http://schemas.microsoft.com/office/drawing/2014/main" id="{ECADE548-FDF6-6857-4B34-7F2F986F3096}"/>
              </a:ext>
            </a:extLst>
          </p:cNvPr>
          <p:cNvSpPr txBox="1"/>
          <p:nvPr/>
        </p:nvSpPr>
        <p:spPr>
          <a:xfrm>
            <a:off x="8699107" y="2997314"/>
            <a:ext cx="3023490"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Reduced or zero net premium</a:t>
            </a:r>
          </a:p>
        </p:txBody>
      </p:sp>
      <p:sp>
        <p:nvSpPr>
          <p:cNvPr id="32" name="TextBox 31">
            <a:extLst>
              <a:ext uri="{FF2B5EF4-FFF2-40B4-BE49-F238E27FC236}">
                <a16:creationId xmlns:a16="http://schemas.microsoft.com/office/drawing/2014/main" id="{6E2B1CDE-4BB7-21C4-DCF1-034ED8A5770E}"/>
              </a:ext>
            </a:extLst>
          </p:cNvPr>
          <p:cNvSpPr txBox="1"/>
          <p:nvPr/>
        </p:nvSpPr>
        <p:spPr>
          <a:xfrm>
            <a:off x="8699107" y="1275004"/>
            <a:ext cx="3023490" cy="24622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61F32"/>
                </a:solidFill>
                <a:effectLst/>
                <a:uLnTx/>
                <a:uFillTx/>
                <a:latin typeface="Arial"/>
                <a:ea typeface="+mn-ea"/>
                <a:cs typeface="+mn-cs"/>
              </a:rPr>
              <a:t>Cost </a:t>
            </a:r>
            <a:r>
              <a:rPr kumimoji="0" lang="en-US" sz="1600" b="1" i="0" u="none" strike="noStrike" kern="1200" cap="none" spc="0" normalizeH="0" baseline="0" noProof="0" err="1">
                <a:ln>
                  <a:noFill/>
                </a:ln>
                <a:solidFill>
                  <a:srgbClr val="061F32"/>
                </a:solidFill>
                <a:effectLst/>
                <a:uLnTx/>
                <a:uFillTx/>
                <a:latin typeface="Arial"/>
                <a:ea typeface="+mn-ea"/>
                <a:cs typeface="+mn-cs"/>
              </a:rPr>
              <a:t>Strcture</a:t>
            </a:r>
            <a:endParaRPr kumimoji="0" lang="en-US" sz="1600" b="1" i="0" u="none" strike="noStrike" kern="1200" cap="none" spc="0" normalizeH="0" baseline="0" noProof="0">
              <a:ln>
                <a:noFill/>
              </a:ln>
              <a:solidFill>
                <a:srgbClr val="061F32"/>
              </a:solidFill>
              <a:effectLst/>
              <a:uLnTx/>
              <a:uFillTx/>
              <a:latin typeface="Arial"/>
              <a:ea typeface="+mn-ea"/>
              <a:cs typeface="+mn-cs"/>
            </a:endParaRPr>
          </a:p>
        </p:txBody>
      </p:sp>
      <p:cxnSp>
        <p:nvCxnSpPr>
          <p:cNvPr id="33" name="Straight Connector 32">
            <a:extLst>
              <a:ext uri="{FF2B5EF4-FFF2-40B4-BE49-F238E27FC236}">
                <a16:creationId xmlns:a16="http://schemas.microsoft.com/office/drawing/2014/main" id="{8326275A-BE9E-8555-6F00-E58807D19723}"/>
              </a:ext>
            </a:extLst>
          </p:cNvPr>
          <p:cNvCxnSpPr>
            <a:cxnSpLocks/>
          </p:cNvCxnSpPr>
          <p:nvPr/>
        </p:nvCxnSpPr>
        <p:spPr>
          <a:xfrm>
            <a:off x="8699107" y="1572639"/>
            <a:ext cx="302348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49" name="Chart 48">
            <a:extLst>
              <a:ext uri="{FF2B5EF4-FFF2-40B4-BE49-F238E27FC236}">
                <a16:creationId xmlns:a16="http://schemas.microsoft.com/office/drawing/2014/main" id="{135DB89D-A9D7-9D81-F8FB-81091D820034}"/>
              </a:ext>
            </a:extLst>
          </p:cNvPr>
          <p:cNvGraphicFramePr/>
          <p:nvPr>
            <p:extLst>
              <p:ext uri="{D42A27DB-BD31-4B8C-83A1-F6EECF244321}">
                <p14:modId xmlns:p14="http://schemas.microsoft.com/office/powerpoint/2010/main" val="3656519970"/>
              </p:ext>
            </p:extLst>
          </p:nvPr>
        </p:nvGraphicFramePr>
        <p:xfrm>
          <a:off x="649644" y="3521503"/>
          <a:ext cx="5120096" cy="3064699"/>
        </p:xfrm>
        <a:graphic>
          <a:graphicData uri="http://schemas.openxmlformats.org/drawingml/2006/chart">
            <c:chart xmlns:c="http://schemas.openxmlformats.org/drawingml/2006/chart" xmlns:r="http://schemas.openxmlformats.org/officeDocument/2006/relationships" r:id="rId4"/>
          </a:graphicData>
        </a:graphic>
      </p:graphicFrame>
      <p:sp>
        <p:nvSpPr>
          <p:cNvPr id="53" name="Rectangle 52">
            <a:extLst>
              <a:ext uri="{FF2B5EF4-FFF2-40B4-BE49-F238E27FC236}">
                <a16:creationId xmlns:a16="http://schemas.microsoft.com/office/drawing/2014/main" id="{B57DE894-A0C0-6173-5BD8-565517822DFB}"/>
              </a:ext>
            </a:extLst>
          </p:cNvPr>
          <p:cNvSpPr/>
          <p:nvPr/>
        </p:nvSpPr>
        <p:spPr>
          <a:xfrm>
            <a:off x="1457363" y="3457109"/>
            <a:ext cx="3504658" cy="346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chemeClr val="bg1"/>
                </a:solidFill>
              </a:rPr>
              <a:t>Flexibility vs. Protection Trade-off</a:t>
            </a:r>
            <a:endParaRPr lang="zh-CN" altLang="en-US" sz="1600" b="1">
              <a:solidFill>
                <a:schemeClr val="bg1"/>
              </a:solidFill>
            </a:endParaRPr>
          </a:p>
        </p:txBody>
      </p:sp>
      <p:graphicFrame>
        <p:nvGraphicFramePr>
          <p:cNvPr id="59" name="Chart 58">
            <a:extLst>
              <a:ext uri="{FF2B5EF4-FFF2-40B4-BE49-F238E27FC236}">
                <a16:creationId xmlns:a16="http://schemas.microsoft.com/office/drawing/2014/main" id="{8E7110DB-C74E-803F-C726-55A9044F078F}"/>
              </a:ext>
            </a:extLst>
          </p:cNvPr>
          <p:cNvGraphicFramePr/>
          <p:nvPr>
            <p:extLst>
              <p:ext uri="{D42A27DB-BD31-4B8C-83A1-F6EECF244321}">
                <p14:modId xmlns:p14="http://schemas.microsoft.com/office/powerpoint/2010/main" val="82623529"/>
              </p:ext>
            </p:extLst>
          </p:nvPr>
        </p:nvGraphicFramePr>
        <p:xfrm>
          <a:off x="6422262" y="3819640"/>
          <a:ext cx="5215003" cy="2136840"/>
        </p:xfrm>
        <a:graphic>
          <a:graphicData uri="http://schemas.openxmlformats.org/drawingml/2006/chart">
            <c:chart xmlns:c="http://schemas.openxmlformats.org/drawingml/2006/chart" xmlns:r="http://schemas.openxmlformats.org/officeDocument/2006/relationships" r:id="rId5"/>
          </a:graphicData>
        </a:graphic>
      </p:graphicFrame>
      <p:cxnSp>
        <p:nvCxnSpPr>
          <p:cNvPr id="61" name="Straight Arrow Connector 60">
            <a:extLst>
              <a:ext uri="{FF2B5EF4-FFF2-40B4-BE49-F238E27FC236}">
                <a16:creationId xmlns:a16="http://schemas.microsoft.com/office/drawing/2014/main" id="{16153B24-2DA1-56F6-C5A2-B09E610747DC}"/>
              </a:ext>
            </a:extLst>
          </p:cNvPr>
          <p:cNvCxnSpPr>
            <a:cxnSpLocks/>
          </p:cNvCxnSpPr>
          <p:nvPr/>
        </p:nvCxnSpPr>
        <p:spPr>
          <a:xfrm flipV="1">
            <a:off x="6408984" y="3697940"/>
            <a:ext cx="0" cy="2300212"/>
          </a:xfrm>
          <a:prstGeom prst="straightConnector1">
            <a:avLst/>
          </a:prstGeom>
          <a:ln w="38100" cap="sq">
            <a:solidFill>
              <a:srgbClr val="061F32"/>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A21B255B-EE49-FD8C-7A9D-18FE70D4F8E8}"/>
              </a:ext>
            </a:extLst>
          </p:cNvPr>
          <p:cNvSpPr/>
          <p:nvPr/>
        </p:nvSpPr>
        <p:spPr>
          <a:xfrm>
            <a:off x="5900130" y="3697940"/>
            <a:ext cx="405684" cy="148405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lvl="0" algn="ctr">
              <a:defRPr/>
            </a:pPr>
            <a:r>
              <a:rPr lang="en-US" altLang="zh-CN" sz="1400" b="1" err="1">
                <a:solidFill>
                  <a:srgbClr val="061F32"/>
                </a:solidFill>
              </a:rPr>
              <a:t>CFaR</a:t>
            </a:r>
            <a:r>
              <a:rPr lang="en-US" altLang="zh-CN" sz="1400" b="1">
                <a:solidFill>
                  <a:srgbClr val="061F32"/>
                </a:solidFill>
              </a:rPr>
              <a:t> Reduction</a:t>
            </a:r>
            <a:endParaRPr kumimoji="0" lang="en-US" sz="1400" b="1" i="0" u="none" strike="noStrike" kern="1200" cap="none" spc="0" normalizeH="0" baseline="0" noProof="0">
              <a:ln>
                <a:noFill/>
              </a:ln>
              <a:solidFill>
                <a:srgbClr val="061F32"/>
              </a:solidFill>
              <a:effectLst/>
              <a:uLnTx/>
              <a:uFillTx/>
              <a:latin typeface="Arial"/>
              <a:ea typeface="+mn-ea"/>
              <a:cs typeface="+mn-cs"/>
            </a:endParaRPr>
          </a:p>
        </p:txBody>
      </p:sp>
      <p:cxnSp>
        <p:nvCxnSpPr>
          <p:cNvPr id="66" name="Straight Arrow Connector 65">
            <a:extLst>
              <a:ext uri="{FF2B5EF4-FFF2-40B4-BE49-F238E27FC236}">
                <a16:creationId xmlns:a16="http://schemas.microsoft.com/office/drawing/2014/main" id="{7A70D26A-DE67-A0FD-B1E6-42DABB4A6538}"/>
              </a:ext>
            </a:extLst>
          </p:cNvPr>
          <p:cNvCxnSpPr>
            <a:cxnSpLocks/>
          </p:cNvCxnSpPr>
          <p:nvPr/>
        </p:nvCxnSpPr>
        <p:spPr>
          <a:xfrm>
            <a:off x="6422262" y="5998152"/>
            <a:ext cx="5095770" cy="0"/>
          </a:xfrm>
          <a:prstGeom prst="straightConnector1">
            <a:avLst/>
          </a:prstGeom>
          <a:ln w="38100" cap="sq">
            <a:solidFill>
              <a:srgbClr val="061F32"/>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4B804F1E-F59F-0356-7337-BC4DE9949226}"/>
              </a:ext>
            </a:extLst>
          </p:cNvPr>
          <p:cNvSpPr/>
          <p:nvPr/>
        </p:nvSpPr>
        <p:spPr>
          <a:xfrm>
            <a:off x="10886621" y="5998152"/>
            <a:ext cx="631411" cy="43542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altLang="zh-CN" sz="1400" b="1">
                <a:solidFill>
                  <a:srgbClr val="061F32"/>
                </a:solidFill>
              </a:rPr>
              <a:t>Cost</a:t>
            </a:r>
            <a:endParaRPr kumimoji="0" lang="en-US" sz="1400" b="1" i="0" u="none" strike="noStrike" kern="1200" cap="none" spc="0" normalizeH="0" baseline="0" noProof="0">
              <a:ln>
                <a:noFill/>
              </a:ln>
              <a:solidFill>
                <a:srgbClr val="061F32"/>
              </a:solidFill>
              <a:effectLst/>
              <a:uLnTx/>
              <a:uFillTx/>
              <a:latin typeface="Arial"/>
              <a:ea typeface="+mn-ea"/>
              <a:cs typeface="+mn-cs"/>
            </a:endParaRPr>
          </a:p>
        </p:txBody>
      </p:sp>
      <p:sp>
        <p:nvSpPr>
          <p:cNvPr id="70" name="Rectangle 69">
            <a:extLst>
              <a:ext uri="{FF2B5EF4-FFF2-40B4-BE49-F238E27FC236}">
                <a16:creationId xmlns:a16="http://schemas.microsoft.com/office/drawing/2014/main" id="{2CFEBACE-4854-6726-78B5-528FED75DE1F}"/>
              </a:ext>
            </a:extLst>
          </p:cNvPr>
          <p:cNvSpPr/>
          <p:nvPr/>
        </p:nvSpPr>
        <p:spPr>
          <a:xfrm>
            <a:off x="6945059" y="3457109"/>
            <a:ext cx="4169408" cy="346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chemeClr val="bg1"/>
                </a:solidFill>
              </a:rPr>
              <a:t>Decision Matrix for Hedging Instruments</a:t>
            </a:r>
            <a:endParaRPr lang="zh-CN" altLang="en-US" sz="1600" b="1">
              <a:solidFill>
                <a:schemeClr val="bg1"/>
              </a:solidFill>
            </a:endParaRPr>
          </a:p>
        </p:txBody>
      </p:sp>
      <p:sp>
        <p:nvSpPr>
          <p:cNvPr id="71" name="Rectangle 70">
            <a:extLst>
              <a:ext uri="{FF2B5EF4-FFF2-40B4-BE49-F238E27FC236}">
                <a16:creationId xmlns:a16="http://schemas.microsoft.com/office/drawing/2014/main" id="{30E174BA-1808-2920-2B1E-E4F5E1D7117D}"/>
              </a:ext>
            </a:extLst>
          </p:cNvPr>
          <p:cNvSpPr/>
          <p:nvPr/>
        </p:nvSpPr>
        <p:spPr>
          <a:xfrm>
            <a:off x="10367852" y="4348063"/>
            <a:ext cx="850319" cy="27244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altLang="zh-CN" sz="1200" b="1">
                <a:solidFill>
                  <a:srgbClr val="061F32"/>
                </a:solidFill>
              </a:rPr>
              <a:t>Swap</a:t>
            </a:r>
            <a:endParaRPr kumimoji="0" lang="en-US" sz="1200" b="1" i="0" u="none" strike="noStrike" kern="1200" cap="none" spc="0" normalizeH="0" baseline="0" noProof="0">
              <a:ln>
                <a:noFill/>
              </a:ln>
              <a:solidFill>
                <a:srgbClr val="061F32"/>
              </a:solidFill>
              <a:effectLst/>
              <a:uLnTx/>
              <a:uFillTx/>
              <a:latin typeface="Arial"/>
              <a:ea typeface="+mn-ea"/>
              <a:cs typeface="+mn-cs"/>
            </a:endParaRPr>
          </a:p>
        </p:txBody>
      </p:sp>
      <p:sp>
        <p:nvSpPr>
          <p:cNvPr id="72" name="Rectangle 71">
            <a:extLst>
              <a:ext uri="{FF2B5EF4-FFF2-40B4-BE49-F238E27FC236}">
                <a16:creationId xmlns:a16="http://schemas.microsoft.com/office/drawing/2014/main" id="{271D714F-88AA-06AC-E8E3-E2ABBD54C531}"/>
              </a:ext>
            </a:extLst>
          </p:cNvPr>
          <p:cNvSpPr/>
          <p:nvPr/>
        </p:nvSpPr>
        <p:spPr>
          <a:xfrm>
            <a:off x="9670120" y="5282275"/>
            <a:ext cx="850319" cy="27244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altLang="zh-CN" sz="1200" b="1">
                <a:solidFill>
                  <a:srgbClr val="061F32"/>
                </a:solidFill>
              </a:rPr>
              <a:t>Cap</a:t>
            </a:r>
            <a:endParaRPr kumimoji="0" lang="en-US" sz="1200" b="1" i="0" u="none" strike="noStrike" kern="1200" cap="none" spc="0" normalizeH="0" baseline="0" noProof="0">
              <a:ln>
                <a:noFill/>
              </a:ln>
              <a:solidFill>
                <a:srgbClr val="061F32"/>
              </a:solidFill>
              <a:effectLst/>
              <a:uLnTx/>
              <a:uFillTx/>
              <a:latin typeface="Arial"/>
              <a:ea typeface="+mn-ea"/>
              <a:cs typeface="+mn-cs"/>
            </a:endParaRPr>
          </a:p>
        </p:txBody>
      </p:sp>
      <p:sp>
        <p:nvSpPr>
          <p:cNvPr id="73" name="Rectangle 72">
            <a:extLst>
              <a:ext uri="{FF2B5EF4-FFF2-40B4-BE49-F238E27FC236}">
                <a16:creationId xmlns:a16="http://schemas.microsoft.com/office/drawing/2014/main" id="{EB002D25-830A-76F5-0449-179689BD6465}"/>
              </a:ext>
            </a:extLst>
          </p:cNvPr>
          <p:cNvSpPr/>
          <p:nvPr/>
        </p:nvSpPr>
        <p:spPr>
          <a:xfrm>
            <a:off x="6881497" y="5140711"/>
            <a:ext cx="850319" cy="27244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altLang="zh-CN" sz="1200" b="1">
                <a:solidFill>
                  <a:srgbClr val="061F32"/>
                </a:solidFill>
              </a:rPr>
              <a:t>Collar</a:t>
            </a:r>
            <a:endParaRPr kumimoji="0" lang="en-US" sz="1200" b="1" i="0" u="none" strike="noStrike" kern="1200" cap="none" spc="0" normalizeH="0" baseline="0" noProof="0">
              <a:ln>
                <a:noFill/>
              </a:ln>
              <a:solidFill>
                <a:srgbClr val="061F32"/>
              </a:solidFill>
              <a:effectLst/>
              <a:uLnTx/>
              <a:uFillTx/>
              <a:latin typeface="Arial"/>
              <a:ea typeface="+mn-ea"/>
              <a:cs typeface="+mn-cs"/>
            </a:endParaRPr>
          </a:p>
        </p:txBody>
      </p:sp>
    </p:spTree>
    <p:extLst>
      <p:ext uri="{BB962C8B-B14F-4D97-AF65-F5344CB8AC3E}">
        <p14:creationId xmlns:p14="http://schemas.microsoft.com/office/powerpoint/2010/main" val="1608983217"/>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70B2-C13F-7F9F-4365-8EA246718DAE}"/>
              </a:ext>
            </a:extLst>
          </p:cNvPr>
          <p:cNvSpPr>
            <a:spLocks noGrp="1"/>
          </p:cNvSpPr>
          <p:nvPr>
            <p:ph type="title"/>
          </p:nvPr>
        </p:nvSpPr>
        <p:spPr/>
        <p:txBody>
          <a:bodyPr/>
          <a:lstStyle/>
          <a:p>
            <a:r>
              <a:rPr lang="en-US"/>
              <a:t>Calibration Choices: Tailoring </a:t>
            </a:r>
            <a:r>
              <a:rPr lang="en-US" err="1"/>
              <a:t>CFaR</a:t>
            </a:r>
            <a:r>
              <a:rPr lang="en-US"/>
              <a:t> to Treasury Governance</a:t>
            </a:r>
          </a:p>
        </p:txBody>
      </p:sp>
      <p:sp>
        <p:nvSpPr>
          <p:cNvPr id="5" name="Rectangle 4">
            <a:extLst>
              <a:ext uri="{FF2B5EF4-FFF2-40B4-BE49-F238E27FC236}">
                <a16:creationId xmlns:a16="http://schemas.microsoft.com/office/drawing/2014/main" id="{8ADF42E6-0350-2E1E-BEDB-011863063697}"/>
              </a:ext>
            </a:extLst>
          </p:cNvPr>
          <p:cNvSpPr/>
          <p:nvPr/>
        </p:nvSpPr>
        <p:spPr>
          <a:xfrm>
            <a:off x="1883679" y="3419395"/>
            <a:ext cx="4254993" cy="179551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tx2">
                  <a:lumMod val="10000"/>
                </a:schemeClr>
              </a:solidFill>
            </a:endParaRPr>
          </a:p>
        </p:txBody>
      </p:sp>
      <p:sp>
        <p:nvSpPr>
          <p:cNvPr id="6" name="Rectangle 5">
            <a:extLst>
              <a:ext uri="{FF2B5EF4-FFF2-40B4-BE49-F238E27FC236}">
                <a16:creationId xmlns:a16="http://schemas.microsoft.com/office/drawing/2014/main" id="{D9182DDA-9A4F-6439-1129-CB87EE518826}"/>
              </a:ext>
            </a:extLst>
          </p:cNvPr>
          <p:cNvSpPr/>
          <p:nvPr/>
        </p:nvSpPr>
        <p:spPr>
          <a:xfrm>
            <a:off x="1883679" y="1599492"/>
            <a:ext cx="4254993" cy="1795510"/>
          </a:xfrm>
          <a:prstGeom prst="rect">
            <a:avLst/>
          </a:prstGeom>
          <a:solidFill>
            <a:schemeClr val="bg1"/>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bg1"/>
              </a:solidFill>
            </a:endParaRPr>
          </a:p>
        </p:txBody>
      </p:sp>
      <p:sp>
        <p:nvSpPr>
          <p:cNvPr id="7" name="Rectangle 6">
            <a:extLst>
              <a:ext uri="{FF2B5EF4-FFF2-40B4-BE49-F238E27FC236}">
                <a16:creationId xmlns:a16="http://schemas.microsoft.com/office/drawing/2014/main" id="{3390739D-208F-D6D7-1345-6872832941D3}"/>
              </a:ext>
            </a:extLst>
          </p:cNvPr>
          <p:cNvSpPr/>
          <p:nvPr/>
        </p:nvSpPr>
        <p:spPr>
          <a:xfrm>
            <a:off x="6162102" y="3419395"/>
            <a:ext cx="4254993" cy="17955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bg1"/>
              </a:solidFill>
            </a:endParaRPr>
          </a:p>
        </p:txBody>
      </p:sp>
      <p:sp>
        <p:nvSpPr>
          <p:cNvPr id="8" name="Rectangle 7">
            <a:extLst>
              <a:ext uri="{FF2B5EF4-FFF2-40B4-BE49-F238E27FC236}">
                <a16:creationId xmlns:a16="http://schemas.microsoft.com/office/drawing/2014/main" id="{815DF3F3-8CB0-0577-D780-76B66E01B66A}"/>
              </a:ext>
            </a:extLst>
          </p:cNvPr>
          <p:cNvSpPr/>
          <p:nvPr/>
        </p:nvSpPr>
        <p:spPr>
          <a:xfrm>
            <a:off x="6162102" y="1599492"/>
            <a:ext cx="4254993" cy="17955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bg1"/>
              </a:solidFill>
            </a:endParaRPr>
          </a:p>
        </p:txBody>
      </p:sp>
      <p:cxnSp>
        <p:nvCxnSpPr>
          <p:cNvPr id="11" name="Straight Connector 10">
            <a:extLst>
              <a:ext uri="{FF2B5EF4-FFF2-40B4-BE49-F238E27FC236}">
                <a16:creationId xmlns:a16="http://schemas.microsoft.com/office/drawing/2014/main" id="{089262E9-A5DF-CD0B-6720-0588E72891FA}"/>
              </a:ext>
            </a:extLst>
          </p:cNvPr>
          <p:cNvCxnSpPr>
            <a:cxnSpLocks/>
          </p:cNvCxnSpPr>
          <p:nvPr/>
        </p:nvCxnSpPr>
        <p:spPr>
          <a:xfrm>
            <a:off x="1883679" y="3407199"/>
            <a:ext cx="853341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735FC38-299A-B6B8-A405-70A993C307AE}"/>
              </a:ext>
            </a:extLst>
          </p:cNvPr>
          <p:cNvCxnSpPr>
            <a:cxnSpLocks/>
          </p:cNvCxnSpPr>
          <p:nvPr/>
        </p:nvCxnSpPr>
        <p:spPr>
          <a:xfrm>
            <a:off x="6150387" y="1599492"/>
            <a:ext cx="0" cy="36154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B6BEC3B-DEDF-51C0-4D97-A9585AC3ACF6}"/>
              </a:ext>
            </a:extLst>
          </p:cNvPr>
          <p:cNvSpPr txBox="1"/>
          <p:nvPr/>
        </p:nvSpPr>
        <p:spPr>
          <a:xfrm>
            <a:off x="6478245" y="3624653"/>
            <a:ext cx="3622707" cy="1231106"/>
          </a:xfrm>
          <a:prstGeom prst="rect">
            <a:avLst/>
          </a:prstGeom>
          <a:noFill/>
        </p:spPr>
        <p:txBody>
          <a:bodyPr wrap="square" lIns="91440" tIns="45720" rIns="91440" bIns="45720" rtlCol="0" anchor="t">
            <a:spAutoFit/>
          </a:bodyPr>
          <a:lstStyle/>
          <a:p>
            <a:pPr algn="just"/>
            <a:r>
              <a:rPr lang="en-US" b="1"/>
              <a:t>Market Inputs</a:t>
            </a:r>
            <a:endParaRPr lang="en-US" sz="2400"/>
          </a:p>
          <a:p>
            <a:pPr algn="just"/>
            <a:endParaRPr lang="en-US" sz="1400" b="1"/>
          </a:p>
          <a:p>
            <a:pPr marL="285750" indent="-285750" algn="just">
              <a:buFont typeface="Arial" panose="020B0604020202020204" pitchFamily="34" charset="0"/>
              <a:buChar char="•"/>
            </a:pPr>
            <a:r>
              <a:rPr lang="en-US" sz="1400"/>
              <a:t>Swap curve: neutral market baseline</a:t>
            </a:r>
          </a:p>
          <a:p>
            <a:pPr marL="285750" indent="-285750" algn="just">
              <a:buFont typeface="Arial" panose="020B0604020202020204" pitchFamily="34" charset="0"/>
              <a:buChar char="•"/>
            </a:pPr>
            <a:r>
              <a:rPr lang="en-US" sz="1400"/>
              <a:t>Forward rates: market expectations</a:t>
            </a:r>
            <a:endParaRPr lang="en-US" sz="1400">
              <a:cs typeface="Arial"/>
            </a:endParaRPr>
          </a:p>
          <a:p>
            <a:pPr marL="285750" indent="-285750" algn="just">
              <a:buFont typeface="Arial" panose="020B0604020202020204" pitchFamily="34" charset="0"/>
              <a:buChar char="•"/>
            </a:pPr>
            <a:r>
              <a:rPr lang="en-US" sz="1400">
                <a:cs typeface="Arial"/>
              </a:rPr>
              <a:t>Internal forecasts: Budget inputs</a:t>
            </a:r>
            <a:endParaRPr lang="en-US"/>
          </a:p>
        </p:txBody>
      </p:sp>
      <p:sp>
        <p:nvSpPr>
          <p:cNvPr id="18" name="TextBox 17">
            <a:extLst>
              <a:ext uri="{FF2B5EF4-FFF2-40B4-BE49-F238E27FC236}">
                <a16:creationId xmlns:a16="http://schemas.microsoft.com/office/drawing/2014/main" id="{76E75235-6185-C9FD-2D6E-C1D3A65951CB}"/>
              </a:ext>
            </a:extLst>
          </p:cNvPr>
          <p:cNvSpPr txBox="1"/>
          <p:nvPr/>
        </p:nvSpPr>
        <p:spPr>
          <a:xfrm>
            <a:off x="2091048" y="3624653"/>
            <a:ext cx="3622707" cy="1231106"/>
          </a:xfrm>
          <a:prstGeom prst="rect">
            <a:avLst/>
          </a:prstGeom>
          <a:noFill/>
        </p:spPr>
        <p:txBody>
          <a:bodyPr wrap="square" lIns="91440" tIns="45720" rIns="91440" bIns="45720" rtlCol="0" anchor="t">
            <a:spAutoFit/>
          </a:bodyPr>
          <a:lstStyle/>
          <a:p>
            <a:pPr algn="just"/>
            <a:r>
              <a:rPr lang="en-US" b="1">
                <a:solidFill>
                  <a:schemeClr val="bg1"/>
                </a:solidFill>
              </a:rPr>
              <a:t>Methodology</a:t>
            </a:r>
            <a:endParaRPr lang="en-US" sz="2400">
              <a:solidFill>
                <a:schemeClr val="bg1"/>
              </a:solidFill>
            </a:endParaRPr>
          </a:p>
          <a:p>
            <a:pPr algn="just"/>
            <a:endParaRPr lang="en-US" sz="1400" b="1">
              <a:solidFill>
                <a:schemeClr val="bg1"/>
              </a:solidFill>
            </a:endParaRPr>
          </a:p>
          <a:p>
            <a:pPr marL="285750" indent="-285750" algn="just">
              <a:buFont typeface="Arial" panose="020B0604020202020204" pitchFamily="34" charset="0"/>
              <a:buChar char="•"/>
            </a:pPr>
            <a:r>
              <a:rPr lang="en-US" sz="1400">
                <a:solidFill>
                  <a:schemeClr val="bg1"/>
                </a:solidFill>
              </a:rPr>
              <a:t>Deterministic scenarios</a:t>
            </a:r>
            <a:endParaRPr lang="en-US">
              <a:solidFill>
                <a:schemeClr val="bg1"/>
              </a:solidFill>
            </a:endParaRPr>
          </a:p>
          <a:p>
            <a:pPr marL="285750" indent="-285750" algn="just">
              <a:buFont typeface="Arial" panose="020B0604020202020204" pitchFamily="34" charset="0"/>
              <a:buChar char="•"/>
            </a:pPr>
            <a:r>
              <a:rPr lang="en-US" sz="1400">
                <a:solidFill>
                  <a:schemeClr val="bg1"/>
                </a:solidFill>
                <a:cs typeface="Arial"/>
              </a:rPr>
              <a:t>Historical simulation</a:t>
            </a:r>
            <a:endParaRPr lang="en-US">
              <a:solidFill>
                <a:schemeClr val="bg1"/>
              </a:solidFill>
            </a:endParaRPr>
          </a:p>
          <a:p>
            <a:pPr marL="285750" indent="-285750" algn="just">
              <a:buFont typeface="Arial" panose="020B0604020202020204" pitchFamily="34" charset="0"/>
              <a:buChar char="•"/>
            </a:pPr>
            <a:r>
              <a:rPr lang="en-US" sz="1400">
                <a:solidFill>
                  <a:schemeClr val="bg1"/>
                </a:solidFill>
                <a:cs typeface="Arial"/>
              </a:rPr>
              <a:t>Monte Carlo</a:t>
            </a:r>
            <a:endParaRPr lang="en-US">
              <a:solidFill>
                <a:schemeClr val="bg1"/>
              </a:solidFill>
            </a:endParaRPr>
          </a:p>
        </p:txBody>
      </p:sp>
      <p:sp>
        <p:nvSpPr>
          <p:cNvPr id="19" name="TextBox 18">
            <a:extLst>
              <a:ext uri="{FF2B5EF4-FFF2-40B4-BE49-F238E27FC236}">
                <a16:creationId xmlns:a16="http://schemas.microsoft.com/office/drawing/2014/main" id="{F431C85B-1F3E-5652-2420-6CE44018EB72}"/>
              </a:ext>
            </a:extLst>
          </p:cNvPr>
          <p:cNvSpPr txBox="1"/>
          <p:nvPr/>
        </p:nvSpPr>
        <p:spPr>
          <a:xfrm>
            <a:off x="2091048" y="1733352"/>
            <a:ext cx="3622707" cy="1446550"/>
          </a:xfrm>
          <a:prstGeom prst="rect">
            <a:avLst/>
          </a:prstGeom>
          <a:noFill/>
        </p:spPr>
        <p:txBody>
          <a:bodyPr wrap="square" lIns="91440" tIns="45720" rIns="91440" bIns="45720" rtlCol="0" anchor="t">
            <a:spAutoFit/>
          </a:bodyPr>
          <a:lstStyle/>
          <a:p>
            <a:pPr algn="just"/>
            <a:r>
              <a:rPr lang="en-US" b="1"/>
              <a:t>Time Horizon</a:t>
            </a:r>
          </a:p>
          <a:p>
            <a:pPr algn="just"/>
            <a:endParaRPr lang="en-US" sz="1400" b="1"/>
          </a:p>
          <a:p>
            <a:pPr marL="285750" indent="-285750" algn="just">
              <a:buFont typeface="Arial" panose="020B0604020202020204" pitchFamily="34" charset="0"/>
              <a:buChar char="•"/>
            </a:pPr>
            <a:r>
              <a:rPr lang="en-US" sz="1400"/>
              <a:t>1 Year: aligns with annual budget cycle, liquidity buffer sizing.</a:t>
            </a:r>
          </a:p>
          <a:p>
            <a:pPr marL="285750" indent="-285750" algn="just">
              <a:buFont typeface="Arial" panose="020B0604020202020204" pitchFamily="34" charset="0"/>
              <a:buChar char="•"/>
            </a:pPr>
            <a:r>
              <a:rPr lang="en-US" sz="1400">
                <a:cs typeface="Arial"/>
              </a:rPr>
              <a:t>3–5 Years: captures refinancing and strategic debt mix.</a:t>
            </a:r>
            <a:endParaRPr lang="en-US" sz="1400"/>
          </a:p>
        </p:txBody>
      </p:sp>
      <p:sp>
        <p:nvSpPr>
          <p:cNvPr id="20" name="TextBox 19">
            <a:extLst>
              <a:ext uri="{FF2B5EF4-FFF2-40B4-BE49-F238E27FC236}">
                <a16:creationId xmlns:a16="http://schemas.microsoft.com/office/drawing/2014/main" id="{1CE696FA-28F0-C3BC-1184-CD8287CE0703}"/>
              </a:ext>
            </a:extLst>
          </p:cNvPr>
          <p:cNvSpPr txBox="1"/>
          <p:nvPr/>
        </p:nvSpPr>
        <p:spPr>
          <a:xfrm>
            <a:off x="6460672" y="1733352"/>
            <a:ext cx="3622707" cy="1015663"/>
          </a:xfrm>
          <a:prstGeom prst="rect">
            <a:avLst/>
          </a:prstGeom>
          <a:noFill/>
        </p:spPr>
        <p:txBody>
          <a:bodyPr wrap="square" lIns="91440" tIns="45720" rIns="91440" bIns="45720" rtlCol="0" anchor="t">
            <a:spAutoFit/>
          </a:bodyPr>
          <a:lstStyle/>
          <a:p>
            <a:pPr algn="just"/>
            <a:r>
              <a:rPr lang="en-US" b="1"/>
              <a:t>Confidence Level</a:t>
            </a:r>
            <a:endParaRPr lang="en-US" sz="2400"/>
          </a:p>
          <a:p>
            <a:pPr algn="just"/>
            <a:endParaRPr lang="en-US" sz="1400" b="1"/>
          </a:p>
          <a:p>
            <a:pPr marL="285750" indent="-285750" algn="just">
              <a:buFont typeface="Arial" panose="020B0604020202020204" pitchFamily="34" charset="0"/>
              <a:buChar char="•"/>
            </a:pPr>
            <a:r>
              <a:rPr lang="en-US" sz="1400"/>
              <a:t>95% vs 99% Level: </a:t>
            </a:r>
            <a:r>
              <a:rPr lang="en-US" sz="1400">
                <a:ea typeface="+mn-lt"/>
                <a:cs typeface="+mn-lt"/>
              </a:rPr>
              <a:t>planning vs conservative buffer</a:t>
            </a:r>
            <a:endParaRPr lang="en-US" sz="1400">
              <a:cs typeface="Arial"/>
            </a:endParaRPr>
          </a:p>
        </p:txBody>
      </p:sp>
      <p:sp>
        <p:nvSpPr>
          <p:cNvPr id="9" name="TextBox 8">
            <a:extLst>
              <a:ext uri="{FF2B5EF4-FFF2-40B4-BE49-F238E27FC236}">
                <a16:creationId xmlns:a16="http://schemas.microsoft.com/office/drawing/2014/main" id="{2F6ED3A0-B55D-AFA2-8FB0-EDEA0DCE7C21}"/>
              </a:ext>
            </a:extLst>
          </p:cNvPr>
          <p:cNvSpPr txBox="1"/>
          <p:nvPr/>
        </p:nvSpPr>
        <p:spPr>
          <a:xfrm>
            <a:off x="1927140" y="5500489"/>
            <a:ext cx="8469923" cy="492443"/>
          </a:xfrm>
          <a:prstGeom prst="rect">
            <a:avLst/>
          </a:prstGeom>
          <a:noFill/>
          <a:ln w="6350">
            <a:noFill/>
            <a:miter lim="800000"/>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spcBef>
                <a:spcPts val="300"/>
              </a:spcBef>
              <a:spcAft>
                <a:spcPts val="300"/>
              </a:spcAft>
            </a:pPr>
            <a:r>
              <a:rPr lang="en-US" sz="1600" i="1">
                <a:solidFill>
                  <a:schemeClr val="bg1"/>
                </a:solidFill>
                <a:cs typeface="Arial"/>
              </a:rPr>
              <a:t>"Calibration makes </a:t>
            </a:r>
            <a:r>
              <a:rPr lang="en-US" sz="1600" i="1" err="1">
                <a:solidFill>
                  <a:schemeClr val="bg1"/>
                </a:solidFill>
                <a:cs typeface="Arial"/>
              </a:rPr>
              <a:t>CFaR</a:t>
            </a:r>
            <a:r>
              <a:rPr lang="en-US" sz="1600" i="1">
                <a:solidFill>
                  <a:schemeClr val="bg1"/>
                </a:solidFill>
                <a:cs typeface="Arial"/>
              </a:rPr>
              <a:t> flexible. By adjusting horizon, confidence, methodology, and inputs, the metric can be tailored to treasury governance and board risk appetite”</a:t>
            </a:r>
            <a:endParaRPr lang="en-US" i="1">
              <a:solidFill>
                <a:schemeClr val="bg1"/>
              </a:solidFill>
              <a:cs typeface="Arial"/>
            </a:endParaRPr>
          </a:p>
        </p:txBody>
      </p:sp>
    </p:spTree>
    <p:extLst>
      <p:ext uri="{BB962C8B-B14F-4D97-AF65-F5344CB8AC3E}">
        <p14:creationId xmlns:p14="http://schemas.microsoft.com/office/powerpoint/2010/main" val="1279722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15C1-FA95-6FE3-A12D-44541793DF2B}"/>
              </a:ext>
            </a:extLst>
          </p:cNvPr>
          <p:cNvSpPr>
            <a:spLocks noGrp="1"/>
          </p:cNvSpPr>
          <p:nvPr>
            <p:ph type="title"/>
          </p:nvPr>
        </p:nvSpPr>
        <p:spPr/>
        <p:txBody>
          <a:bodyPr/>
          <a:lstStyle/>
          <a:p>
            <a:r>
              <a:rPr lang="en-GB" err="1"/>
              <a:t>CFaR</a:t>
            </a:r>
            <a:r>
              <a:rPr lang="en-GB"/>
              <a:t> – A tool and a framework</a:t>
            </a:r>
            <a:endParaRPr lang="en-US"/>
          </a:p>
        </p:txBody>
      </p:sp>
      <p:sp>
        <p:nvSpPr>
          <p:cNvPr id="7" name="Rectangle 6">
            <a:extLst>
              <a:ext uri="{FF2B5EF4-FFF2-40B4-BE49-F238E27FC236}">
                <a16:creationId xmlns:a16="http://schemas.microsoft.com/office/drawing/2014/main" id="{00F1BFF1-6A16-0A82-1E8A-CE50EB88E00E}"/>
              </a:ext>
            </a:extLst>
          </p:cNvPr>
          <p:cNvSpPr/>
          <p:nvPr/>
        </p:nvSpPr>
        <p:spPr>
          <a:xfrm>
            <a:off x="622829" y="2431915"/>
            <a:ext cx="10174874" cy="3270656"/>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108000" rIns="91440" bIns="45720" rtlCol="0" anchor="t"/>
          <a:lstStyle/>
          <a:p>
            <a:pPr marL="342900" indent="-342900">
              <a:buFont typeface="Arial"/>
              <a:buChar char="•"/>
            </a:pPr>
            <a:r>
              <a:rPr lang="en-US" sz="1900" b="1">
                <a:solidFill>
                  <a:schemeClr val="bg1"/>
                </a:solidFill>
                <a:ea typeface="+mn-lt"/>
                <a:cs typeface="+mn-lt"/>
              </a:rPr>
              <a:t>Liquidity focus:</a:t>
            </a:r>
            <a:r>
              <a:rPr lang="en-US" sz="1900">
                <a:solidFill>
                  <a:schemeClr val="bg1"/>
                </a:solidFill>
                <a:ea typeface="+mn-lt"/>
                <a:cs typeface="+mn-lt"/>
              </a:rPr>
              <a:t> quantifies worst-case cash shortfall, not mark-to-market swings</a:t>
            </a:r>
            <a:endParaRPr lang="en-US">
              <a:solidFill>
                <a:schemeClr val="bg1"/>
              </a:solidFill>
              <a:cs typeface="Arial"/>
            </a:endParaRPr>
          </a:p>
          <a:p>
            <a:pPr marL="342900" indent="-342900">
              <a:buFont typeface="Arial"/>
              <a:buChar char="•"/>
            </a:pPr>
            <a:endParaRPr lang="en-US" sz="1900">
              <a:solidFill>
                <a:schemeClr val="bg1"/>
              </a:solidFill>
              <a:cs typeface="Arial"/>
            </a:endParaRPr>
          </a:p>
          <a:p>
            <a:pPr marL="342900" indent="-342900">
              <a:buFont typeface="Arial"/>
              <a:buChar char="•"/>
            </a:pPr>
            <a:r>
              <a:rPr lang="en-US" sz="1900" b="1">
                <a:solidFill>
                  <a:schemeClr val="bg1"/>
                </a:solidFill>
                <a:ea typeface="+mn-lt"/>
                <a:cs typeface="+mn-lt"/>
              </a:rPr>
              <a:t>Board-ready metric:</a:t>
            </a:r>
            <a:r>
              <a:rPr lang="en-US" sz="1900">
                <a:solidFill>
                  <a:schemeClr val="bg1"/>
                </a:solidFill>
                <a:ea typeface="+mn-lt"/>
                <a:cs typeface="+mn-lt"/>
              </a:rPr>
              <a:t> simple output in € terms (95% confidence, 12m horizon)</a:t>
            </a:r>
          </a:p>
          <a:p>
            <a:pPr marL="285750" indent="-285750">
              <a:buFont typeface="Arial" panose="020B0604020202020204" pitchFamily="34" charset="0"/>
              <a:buChar char="•"/>
            </a:pPr>
            <a:endParaRPr lang="en-US">
              <a:solidFill>
                <a:schemeClr val="bg1"/>
              </a:solidFill>
              <a:cs typeface="Arial"/>
            </a:endParaRPr>
          </a:p>
          <a:p>
            <a:pPr marL="342900" indent="-342900">
              <a:buFont typeface="Arial"/>
              <a:buChar char="•"/>
            </a:pPr>
            <a:r>
              <a:rPr lang="en-US" sz="1900" b="1">
                <a:solidFill>
                  <a:schemeClr val="bg1"/>
                </a:solidFill>
                <a:ea typeface="+mn-lt"/>
                <a:cs typeface="+mn-lt"/>
              </a:rPr>
              <a:t>Decision support:</a:t>
            </a:r>
            <a:r>
              <a:rPr lang="en-US" sz="1900">
                <a:solidFill>
                  <a:schemeClr val="bg1"/>
                </a:solidFill>
                <a:ea typeface="+mn-lt"/>
                <a:cs typeface="+mn-lt"/>
              </a:rPr>
              <a:t> evaluates hedging trade-offs (hedged vs unhedged)</a:t>
            </a:r>
          </a:p>
          <a:p>
            <a:pPr marL="285750" indent="-285750">
              <a:buFont typeface="Arial" panose="020B0604020202020204" pitchFamily="34" charset="0"/>
              <a:buChar char="•"/>
            </a:pPr>
            <a:endParaRPr lang="en-US">
              <a:solidFill>
                <a:schemeClr val="bg1"/>
              </a:solidFill>
              <a:cs typeface="Arial"/>
            </a:endParaRPr>
          </a:p>
          <a:p>
            <a:pPr marL="342900" indent="-342900">
              <a:buFont typeface="Arial"/>
              <a:buChar char="•"/>
            </a:pPr>
            <a:r>
              <a:rPr lang="en-US" sz="1900" b="1">
                <a:solidFill>
                  <a:schemeClr val="bg1"/>
                </a:solidFill>
                <a:ea typeface="+mn-lt"/>
                <a:cs typeface="+mn-lt"/>
              </a:rPr>
              <a:t>Governance alignment:</a:t>
            </a:r>
            <a:r>
              <a:rPr lang="en-US" sz="1900">
                <a:solidFill>
                  <a:schemeClr val="bg1"/>
                </a:solidFill>
                <a:ea typeface="+mn-lt"/>
                <a:cs typeface="+mn-lt"/>
              </a:rPr>
              <a:t> ties risk reporting to board appetite and rating agency expectations</a:t>
            </a:r>
            <a:endParaRPr lang="en-US">
              <a:solidFill>
                <a:schemeClr val="bg1"/>
              </a:solidFill>
              <a:cs typeface="Arial"/>
            </a:endParaRPr>
          </a:p>
          <a:p>
            <a:pPr marL="342900" indent="-342900">
              <a:spcBef>
                <a:spcPts val="300"/>
              </a:spcBef>
              <a:spcAft>
                <a:spcPts val="300"/>
              </a:spcAft>
              <a:buFont typeface="Arial" panose="020B0604020202020204" pitchFamily="34" charset="0"/>
              <a:buChar char="•"/>
            </a:pPr>
            <a:endParaRPr lang="en-US" sz="1900">
              <a:solidFill>
                <a:schemeClr val="bg1"/>
              </a:solidFill>
              <a:cs typeface="Arial"/>
            </a:endParaRPr>
          </a:p>
        </p:txBody>
      </p:sp>
      <p:sp>
        <p:nvSpPr>
          <p:cNvPr id="4" name="TextBox 3">
            <a:extLst>
              <a:ext uri="{FF2B5EF4-FFF2-40B4-BE49-F238E27FC236}">
                <a16:creationId xmlns:a16="http://schemas.microsoft.com/office/drawing/2014/main" id="{284BFC92-041B-2555-3665-ADA32727520C}"/>
              </a:ext>
            </a:extLst>
          </p:cNvPr>
          <p:cNvSpPr txBox="1"/>
          <p:nvPr/>
        </p:nvSpPr>
        <p:spPr>
          <a:xfrm>
            <a:off x="554735" y="1486419"/>
            <a:ext cx="11082527" cy="707886"/>
          </a:xfrm>
          <a:prstGeom prst="rect">
            <a:avLst/>
          </a:prstGeom>
          <a:noFill/>
          <a:ln w="6350">
            <a:noFill/>
            <a:miter lim="800000"/>
          </a:ln>
        </p:spPr>
        <p:txBody>
          <a:bodyPr wrap="square">
            <a:spAutoFit/>
          </a:bodyPr>
          <a:lstStyle/>
          <a:p>
            <a:r>
              <a:rPr lang="en-GB" sz="2000" err="1">
                <a:solidFill>
                  <a:schemeClr val="bg1"/>
                </a:solidFill>
              </a:rPr>
              <a:t>CFaR</a:t>
            </a:r>
            <a:r>
              <a:rPr lang="en-GB" sz="2000">
                <a:solidFill>
                  <a:schemeClr val="bg1"/>
                </a:solidFill>
              </a:rPr>
              <a:t> is both a tool and a framework — it gives treasury an actionable liquidity risk number today, and a governance process to manage interest rate risk going forward</a:t>
            </a:r>
            <a:endParaRPr lang="de-DE" sz="2000">
              <a:solidFill>
                <a:schemeClr val="bg1"/>
              </a:solidFill>
            </a:endParaRPr>
          </a:p>
        </p:txBody>
      </p:sp>
    </p:spTree>
    <p:extLst>
      <p:ext uri="{BB962C8B-B14F-4D97-AF65-F5344CB8AC3E}">
        <p14:creationId xmlns:p14="http://schemas.microsoft.com/office/powerpoint/2010/main" val="3378234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7160-F115-DE5F-8F29-4D9B6BAED357}"/>
              </a:ext>
            </a:extLst>
          </p:cNvPr>
          <p:cNvSpPr>
            <a:spLocks noGrp="1"/>
          </p:cNvSpPr>
          <p:nvPr>
            <p:ph type="title"/>
          </p:nvPr>
        </p:nvSpPr>
        <p:spPr/>
        <p:txBody>
          <a:bodyPr/>
          <a:lstStyle/>
          <a:p>
            <a:r>
              <a:rPr lang="en-US"/>
              <a:t>Recommendation</a:t>
            </a:r>
          </a:p>
        </p:txBody>
      </p:sp>
      <p:sp>
        <p:nvSpPr>
          <p:cNvPr id="5" name="Text Placeholder 5">
            <a:extLst>
              <a:ext uri="{FF2B5EF4-FFF2-40B4-BE49-F238E27FC236}">
                <a16:creationId xmlns:a16="http://schemas.microsoft.com/office/drawing/2014/main" id="{A151E2E0-6437-BF34-25B2-9758B83504B6}"/>
              </a:ext>
            </a:extLst>
          </p:cNvPr>
          <p:cNvSpPr txBox="1">
            <a:spLocks/>
          </p:cNvSpPr>
          <p:nvPr/>
        </p:nvSpPr>
        <p:spPr>
          <a:xfrm>
            <a:off x="564464" y="1520827"/>
            <a:ext cx="11321952" cy="4198553"/>
          </a:xfrm>
          <a:prstGeom prst="rect">
            <a:avLst/>
          </a:prstGeom>
          <a:solidFill>
            <a:schemeClr val="tx1"/>
          </a:solidFill>
        </p:spPr>
        <p:txBody>
          <a:bodyPr vert="horz" lIns="0" tIns="0" rIns="0" bIns="0" rtlCol="0" anchor="t">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2300" b="1">
                <a:cs typeface="Arial"/>
              </a:rPr>
              <a:t>Model Configuration:</a:t>
            </a:r>
          </a:p>
          <a:p>
            <a:pPr marL="342900" indent="-342900">
              <a:buFont typeface="Arial" panose="020B0604020202020204" pitchFamily="34" charset="0"/>
              <a:buChar char="•"/>
            </a:pPr>
            <a:r>
              <a:rPr lang="en-US" sz="1900">
                <a:cs typeface="Arial"/>
              </a:rPr>
              <a:t>Time Horizon: 12-month primary horizon with quarterly updates</a:t>
            </a:r>
          </a:p>
          <a:p>
            <a:pPr marL="342900" indent="-342900">
              <a:buFont typeface="Arial" panose="020B0604020202020204" pitchFamily="34" charset="0"/>
              <a:buChar char="•"/>
            </a:pPr>
            <a:r>
              <a:rPr lang="en-US" sz="1900">
                <a:cs typeface="Arial"/>
              </a:rPr>
              <a:t>Confidence Level: 95% for management reporting, 99% for a more conservative view</a:t>
            </a:r>
            <a:endParaRPr lang="en-US" sz="1900"/>
          </a:p>
          <a:p>
            <a:pPr marL="342900" indent="-342900">
              <a:buFont typeface="Arial" panose="020B0604020202020204" pitchFamily="34" charset="0"/>
              <a:buChar char="•"/>
            </a:pPr>
            <a:r>
              <a:rPr lang="en-US" sz="1900">
                <a:cs typeface="Arial"/>
              </a:rPr>
              <a:t>Scenario Framework: Equal weighting of all 6 scenarios as baseline approach</a:t>
            </a:r>
          </a:p>
          <a:p>
            <a:pPr marL="342900" indent="-342900">
              <a:buFont typeface="Arial" panose="020B0604020202020204" pitchFamily="34" charset="0"/>
              <a:buChar char="•"/>
            </a:pPr>
            <a:r>
              <a:rPr lang="en-US" sz="1900">
                <a:cs typeface="Arial"/>
              </a:rPr>
              <a:t>Update Frequency: Monthly </a:t>
            </a:r>
            <a:r>
              <a:rPr lang="en-US" sz="1900" err="1">
                <a:cs typeface="Arial"/>
              </a:rPr>
              <a:t>CFaR</a:t>
            </a:r>
            <a:r>
              <a:rPr lang="en-US" sz="1900">
                <a:cs typeface="Arial"/>
              </a:rPr>
              <a:t> calculation with quarterly model recalibration</a:t>
            </a:r>
          </a:p>
          <a:p>
            <a:br>
              <a:rPr lang="en-US" sz="1900"/>
            </a:br>
            <a:r>
              <a:rPr lang="en-US" sz="2300" b="1">
                <a:cs typeface="Arial"/>
              </a:rPr>
              <a:t>Calibration Recommendations:</a:t>
            </a:r>
          </a:p>
          <a:p>
            <a:pPr marL="285750" indent="-285750">
              <a:buFont typeface="Arial" panose="020B0604020202020204" pitchFamily="34" charset="0"/>
              <a:buChar char="•"/>
            </a:pPr>
            <a:r>
              <a:rPr lang="en-US" sz="1800">
                <a:cs typeface="Arial"/>
              </a:rPr>
              <a:t>Start Simple: Begin with basic scenario analysis before advanced modeling</a:t>
            </a:r>
          </a:p>
          <a:p>
            <a:pPr marL="285750" indent="-285750">
              <a:buFont typeface="Arial" panose="020B0604020202020204" pitchFamily="34" charset="0"/>
              <a:buChar char="•"/>
            </a:pPr>
            <a:r>
              <a:rPr lang="en-US" sz="1800">
                <a:cs typeface="Arial"/>
              </a:rPr>
              <a:t>Focus on Material Exposures: Prioritize largest interest rate exposures</a:t>
            </a:r>
          </a:p>
          <a:p>
            <a:pPr marL="285750" indent="-285750">
              <a:buFont typeface="Arial" panose="020B0604020202020204" pitchFamily="34" charset="0"/>
              <a:buChar char="•"/>
            </a:pPr>
            <a:r>
              <a:rPr lang="en-US" sz="1800">
                <a:cs typeface="Arial"/>
              </a:rPr>
              <a:t>Validate Regularly: Quarterly </a:t>
            </a:r>
            <a:r>
              <a:rPr lang="en-US" sz="1800" err="1">
                <a:cs typeface="Arial"/>
              </a:rPr>
              <a:t>backtesting</a:t>
            </a:r>
            <a:r>
              <a:rPr lang="en-US" sz="1800">
                <a:cs typeface="Arial"/>
              </a:rPr>
              <a:t> against actual outcomes</a:t>
            </a:r>
          </a:p>
          <a:p>
            <a:pPr marL="285750" indent="-285750">
              <a:buFont typeface="Arial" panose="020B0604020202020204" pitchFamily="34" charset="0"/>
              <a:buChar char="•"/>
            </a:pPr>
            <a:r>
              <a:rPr lang="en-US" sz="1800">
                <a:cs typeface="Arial"/>
              </a:rPr>
              <a:t>Document Assumptions: Clear audit trail for all model parameters</a:t>
            </a:r>
          </a:p>
          <a:p>
            <a:pPr>
              <a:buNone/>
            </a:pPr>
            <a:endParaRPr lang="en-US" sz="1800"/>
          </a:p>
          <a:p>
            <a:pPr>
              <a:buNone/>
            </a:pPr>
            <a:endParaRPr lang="en-US" sz="2000">
              <a:solidFill>
                <a:srgbClr val="000000"/>
              </a:solidFill>
              <a:latin typeface="Arial"/>
            </a:endParaRPr>
          </a:p>
        </p:txBody>
      </p:sp>
    </p:spTree>
    <p:extLst>
      <p:ext uri="{BB962C8B-B14F-4D97-AF65-F5344CB8AC3E}">
        <p14:creationId xmlns:p14="http://schemas.microsoft.com/office/powerpoint/2010/main" val="3484074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E84FB-D0A0-9B28-1642-68338E9F48B5}"/>
              </a:ext>
            </a:extLst>
          </p:cNvPr>
          <p:cNvSpPr>
            <a:spLocks noGrp="1"/>
          </p:cNvSpPr>
          <p:nvPr>
            <p:ph type="title"/>
          </p:nvPr>
        </p:nvSpPr>
        <p:spPr/>
        <p:txBody>
          <a:bodyPr/>
          <a:lstStyle/>
          <a:p>
            <a:r>
              <a:rPr lang="en-US"/>
              <a:t>Team</a:t>
            </a:r>
          </a:p>
        </p:txBody>
      </p:sp>
      <p:sp>
        <p:nvSpPr>
          <p:cNvPr id="3" name="Google Shape;23;p40">
            <a:extLst>
              <a:ext uri="{FF2B5EF4-FFF2-40B4-BE49-F238E27FC236}">
                <a16:creationId xmlns:a16="http://schemas.microsoft.com/office/drawing/2014/main" id="{B64188AF-7AEA-A4DF-CD4D-E054554F6C7C}"/>
              </a:ext>
            </a:extLst>
          </p:cNvPr>
          <p:cNvSpPr txBox="1">
            <a:spLocks noGrp="1"/>
          </p:cNvSpPr>
          <p:nvPr>
            <p:ph type="sldNum" idx="4294967295"/>
          </p:nvPr>
        </p:nvSpPr>
        <p:spPr>
          <a:xfrm>
            <a:off x="11655425" y="6426200"/>
            <a:ext cx="53657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20</a:t>
            </a:fld>
            <a:endParaRPr/>
          </a:p>
        </p:txBody>
      </p:sp>
      <p:sp>
        <p:nvSpPr>
          <p:cNvPr id="40" name="Rectangle 39">
            <a:extLst>
              <a:ext uri="{FF2B5EF4-FFF2-40B4-BE49-F238E27FC236}">
                <a16:creationId xmlns:a16="http://schemas.microsoft.com/office/drawing/2014/main" id="{E5879B90-B394-264D-A9A4-AFA2655752C8}"/>
              </a:ext>
            </a:extLst>
          </p:cNvPr>
          <p:cNvSpPr/>
          <p:nvPr/>
        </p:nvSpPr>
        <p:spPr>
          <a:xfrm>
            <a:off x="6517051" y="5679502"/>
            <a:ext cx="2596406" cy="488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Mujtaba Ali Bhutto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8513611</a:t>
            </a:r>
            <a:endParaRPr kumimoji="0" lang="en-GB" sz="1400" b="0" i="0" u="none" strike="noStrike" kern="1200" cap="none" spc="0" normalizeH="0" baseline="0" noProof="0">
              <a:ln>
                <a:noFill/>
              </a:ln>
              <a:solidFill>
                <a:srgbClr val="061F32"/>
              </a:solidFill>
              <a:effectLst/>
              <a:uLnTx/>
              <a:uFillTx/>
              <a:latin typeface="Arial" panose="020B0604020202020204"/>
              <a:ea typeface="+mn-ea"/>
              <a:cs typeface="+mn-cs"/>
            </a:endParaRPr>
          </a:p>
        </p:txBody>
      </p:sp>
      <p:sp>
        <p:nvSpPr>
          <p:cNvPr id="43" name="Oval 42">
            <a:extLst>
              <a:ext uri="{FF2B5EF4-FFF2-40B4-BE49-F238E27FC236}">
                <a16:creationId xmlns:a16="http://schemas.microsoft.com/office/drawing/2014/main" id="{FC47664F-B1EA-DA46-B633-60042D41A20F}"/>
              </a:ext>
            </a:extLst>
          </p:cNvPr>
          <p:cNvSpPr>
            <a:spLocks noChangeAspect="1"/>
          </p:cNvSpPr>
          <p:nvPr/>
        </p:nvSpPr>
        <p:spPr>
          <a:xfrm>
            <a:off x="2174724" y="1452798"/>
            <a:ext cx="1715448" cy="1706689"/>
          </a:xfrm>
          <a:prstGeom prst="ellipse">
            <a:avLst/>
          </a:prstGeom>
          <a:blipFill>
            <a:blip r:embed="rId3"/>
            <a:stretch>
              <a:fillRect l="12225" r="1222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4" name="Oval 43">
            <a:extLst>
              <a:ext uri="{FF2B5EF4-FFF2-40B4-BE49-F238E27FC236}">
                <a16:creationId xmlns:a16="http://schemas.microsoft.com/office/drawing/2014/main" id="{F35E1A02-74DC-C54B-B04E-9E6F6C69D1E0}"/>
              </a:ext>
            </a:extLst>
          </p:cNvPr>
          <p:cNvSpPr>
            <a:spLocks noChangeAspect="1"/>
          </p:cNvSpPr>
          <p:nvPr/>
        </p:nvSpPr>
        <p:spPr>
          <a:xfrm>
            <a:off x="5240540" y="1470315"/>
            <a:ext cx="1702800" cy="1706689"/>
          </a:xfrm>
          <a:prstGeom prst="ellipse">
            <a:avLst/>
          </a:prstGeom>
          <a:blipFill>
            <a:blip r:embed="rId4"/>
            <a:stretch>
              <a:fillRect l="-17322" t="-4843" r="-15870" b="-484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Oval 44">
            <a:extLst>
              <a:ext uri="{FF2B5EF4-FFF2-40B4-BE49-F238E27FC236}">
                <a16:creationId xmlns:a16="http://schemas.microsoft.com/office/drawing/2014/main" id="{4D608764-C16E-9C45-AE7F-702C61403095}"/>
              </a:ext>
            </a:extLst>
          </p:cNvPr>
          <p:cNvSpPr>
            <a:spLocks noChangeAspect="1"/>
          </p:cNvSpPr>
          <p:nvPr/>
        </p:nvSpPr>
        <p:spPr>
          <a:xfrm>
            <a:off x="8464014" y="1470315"/>
            <a:ext cx="1715448" cy="1706689"/>
          </a:xfrm>
          <a:prstGeom prst="ellipse">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Oval 17">
            <a:extLst>
              <a:ext uri="{FF2B5EF4-FFF2-40B4-BE49-F238E27FC236}">
                <a16:creationId xmlns:a16="http://schemas.microsoft.com/office/drawing/2014/main" id="{CE32AE9B-50CA-A63E-4AEA-BA5DEE36278F}"/>
              </a:ext>
            </a:extLst>
          </p:cNvPr>
          <p:cNvSpPr>
            <a:spLocks noChangeAspect="1"/>
          </p:cNvSpPr>
          <p:nvPr/>
        </p:nvSpPr>
        <p:spPr>
          <a:xfrm>
            <a:off x="764585" y="3901372"/>
            <a:ext cx="1715448" cy="1706689"/>
          </a:xfrm>
          <a:prstGeom prst="ellipse">
            <a:avLst/>
          </a:prstGeom>
          <a:blipFill>
            <a:blip r:embed="rId6"/>
            <a:stretch>
              <a:fillRect l="-32894" t="-25937" r="-32894" b="-2593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Oval 18">
            <a:extLst>
              <a:ext uri="{FF2B5EF4-FFF2-40B4-BE49-F238E27FC236}">
                <a16:creationId xmlns:a16="http://schemas.microsoft.com/office/drawing/2014/main" id="{0FCFE8AE-8537-FF0D-5391-AB2CEAB3FA5E}"/>
              </a:ext>
            </a:extLst>
          </p:cNvPr>
          <p:cNvSpPr>
            <a:spLocks noChangeAspect="1"/>
          </p:cNvSpPr>
          <p:nvPr/>
        </p:nvSpPr>
        <p:spPr>
          <a:xfrm>
            <a:off x="3725297" y="3901372"/>
            <a:ext cx="1715448" cy="1706689"/>
          </a:xfrm>
          <a:prstGeom prst="ellipse">
            <a:avLst/>
          </a:prstGeom>
          <a:blipFill>
            <a:blip r:embed="rId7"/>
            <a:stretch>
              <a:fillRect l="-5289" t="-2734" r="-3837" b="-273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 name="Oval 19">
            <a:extLst>
              <a:ext uri="{FF2B5EF4-FFF2-40B4-BE49-F238E27FC236}">
                <a16:creationId xmlns:a16="http://schemas.microsoft.com/office/drawing/2014/main" id="{13CDBEA1-865D-3765-5D24-DF52201FBC14}"/>
              </a:ext>
            </a:extLst>
          </p:cNvPr>
          <p:cNvSpPr>
            <a:spLocks noChangeAspect="1"/>
          </p:cNvSpPr>
          <p:nvPr/>
        </p:nvSpPr>
        <p:spPr>
          <a:xfrm>
            <a:off x="6957530" y="3901372"/>
            <a:ext cx="1715448" cy="1706689"/>
          </a:xfrm>
          <a:prstGeom prst="ellipse">
            <a:avLst/>
          </a:prstGeom>
          <a:blipFill>
            <a:blip r:embed="rId8"/>
            <a:stretch>
              <a:fillRect l="10451" t="4649" r="11902" b="464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AE76F4D8-D12C-C053-7D53-7FFE2040D768}"/>
              </a:ext>
            </a:extLst>
          </p:cNvPr>
          <p:cNvSpPr>
            <a:spLocks noChangeAspect="1"/>
          </p:cNvSpPr>
          <p:nvPr/>
        </p:nvSpPr>
        <p:spPr>
          <a:xfrm>
            <a:off x="9865392" y="3901372"/>
            <a:ext cx="1715448" cy="1706689"/>
          </a:xfrm>
          <a:prstGeom prst="ellipse">
            <a:avLst/>
          </a:prstGeom>
          <a:blipFill>
            <a:blip r:embed="rId9"/>
            <a:stretch>
              <a:fillRect l="-30795" t="-17500" r="-30795" b="-3437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CF2BB0B6-1D78-ED47-766C-CB9FEED34F37}"/>
              </a:ext>
            </a:extLst>
          </p:cNvPr>
          <p:cNvSpPr/>
          <p:nvPr/>
        </p:nvSpPr>
        <p:spPr>
          <a:xfrm>
            <a:off x="3284818" y="5679501"/>
            <a:ext cx="2596406" cy="488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Shangrun Jiang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8501084</a:t>
            </a:r>
            <a:endParaRPr kumimoji="0" lang="en-GB" sz="1400" b="0" i="0" u="none" strike="noStrike" kern="1200" cap="none" spc="0" normalizeH="0" baseline="0" noProof="0">
              <a:ln>
                <a:noFill/>
              </a:ln>
              <a:solidFill>
                <a:srgbClr val="061F32"/>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E3DF0A2B-3EAC-B25A-B064-D512B77EFE9F}"/>
              </a:ext>
            </a:extLst>
          </p:cNvPr>
          <p:cNvSpPr/>
          <p:nvPr/>
        </p:nvSpPr>
        <p:spPr>
          <a:xfrm>
            <a:off x="324106" y="5679501"/>
            <a:ext cx="2596406" cy="488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a:solidFill>
                  <a:srgbClr val="061F32"/>
                </a:solidFill>
                <a:latin typeface="Arial" panose="020B0604020202020204"/>
              </a:rPr>
              <a:t>Ritesh Kumar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8510249</a:t>
            </a:r>
          </a:p>
        </p:txBody>
      </p:sp>
      <p:sp>
        <p:nvSpPr>
          <p:cNvPr id="11" name="Rectangle 10">
            <a:extLst>
              <a:ext uri="{FF2B5EF4-FFF2-40B4-BE49-F238E27FC236}">
                <a16:creationId xmlns:a16="http://schemas.microsoft.com/office/drawing/2014/main" id="{0D56CBF7-E077-5C27-7295-043080B505D2}"/>
              </a:ext>
            </a:extLst>
          </p:cNvPr>
          <p:cNvSpPr/>
          <p:nvPr/>
        </p:nvSpPr>
        <p:spPr>
          <a:xfrm>
            <a:off x="9477763" y="5679500"/>
            <a:ext cx="2596406" cy="488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Chang Liu</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8514049</a:t>
            </a:r>
            <a:endParaRPr kumimoji="0" lang="en-GB" sz="1400" b="0" i="0" u="none" strike="noStrike" kern="1200" cap="none" spc="0" normalizeH="0" baseline="0" noProof="0">
              <a:ln>
                <a:noFill/>
              </a:ln>
              <a:solidFill>
                <a:srgbClr val="061F32"/>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15C7033E-84C2-36C7-F0C6-80CA2FB78BF1}"/>
              </a:ext>
            </a:extLst>
          </p:cNvPr>
          <p:cNvSpPr/>
          <p:nvPr/>
        </p:nvSpPr>
        <p:spPr>
          <a:xfrm>
            <a:off x="1734245" y="3198736"/>
            <a:ext cx="2596406" cy="488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a:solidFill>
                  <a:srgbClr val="061F32"/>
                </a:solidFill>
                <a:latin typeface="Arial" panose="020B0604020202020204"/>
              </a:rPr>
              <a:t>Ying Liu</a:t>
            </a:r>
            <a:endParaRPr kumimoji="0" lang="en-GB" sz="1600" b="1" i="0" u="none" strike="noStrike" kern="1200" cap="none" spc="0" normalizeH="0" baseline="0" noProof="0">
              <a:ln>
                <a:noFill/>
              </a:ln>
              <a:solidFill>
                <a:srgbClr val="061F32"/>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a:solidFill>
                  <a:srgbClr val="061F32"/>
                </a:solidFill>
                <a:latin typeface="Arial" panose="020B0604020202020204"/>
              </a:rPr>
              <a:t>8513629</a:t>
            </a:r>
            <a:endParaRPr kumimoji="0" lang="en-GB" sz="1400" b="0" i="0" u="none" strike="noStrike" kern="1200" cap="none" spc="0" normalizeH="0" baseline="0" noProof="0">
              <a:ln>
                <a:noFill/>
              </a:ln>
              <a:solidFill>
                <a:srgbClr val="061F32"/>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3A09EF99-471B-850D-653F-850EEA1D9579}"/>
              </a:ext>
            </a:extLst>
          </p:cNvPr>
          <p:cNvSpPr/>
          <p:nvPr/>
        </p:nvSpPr>
        <p:spPr>
          <a:xfrm>
            <a:off x="4793737" y="3230659"/>
            <a:ext cx="2596406" cy="488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a:solidFill>
                  <a:srgbClr val="061F32"/>
                </a:solidFill>
                <a:latin typeface="Arial" panose="020B0604020202020204"/>
              </a:rPr>
              <a:t>Abdul Malik</a:t>
            </a:r>
            <a:endParaRPr kumimoji="0" lang="en-GB" sz="1600" b="1" i="0" u="none" strike="noStrike" kern="1200" cap="none" spc="0" normalizeH="0" baseline="0" noProof="0">
              <a:ln>
                <a:noFill/>
              </a:ln>
              <a:solidFill>
                <a:srgbClr val="061F32"/>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8512905</a:t>
            </a:r>
            <a:endParaRPr kumimoji="0" lang="en-GB" sz="1400" b="0" i="0" u="none" strike="noStrike" kern="1200" cap="none" spc="0" normalizeH="0" baseline="0" noProof="0">
              <a:ln>
                <a:noFill/>
              </a:ln>
              <a:solidFill>
                <a:srgbClr val="061F32"/>
              </a:solidFill>
              <a:effectLst/>
              <a:uLnTx/>
              <a:uFillTx/>
              <a:latin typeface="Arial" panose="020B0604020202020204"/>
              <a:ea typeface="+mn-ea"/>
              <a:cs typeface="+mn-cs"/>
            </a:endParaRPr>
          </a:p>
        </p:txBody>
      </p:sp>
      <p:sp>
        <p:nvSpPr>
          <p:cNvPr id="14" name="Rectangle 13">
            <a:extLst>
              <a:ext uri="{FF2B5EF4-FFF2-40B4-BE49-F238E27FC236}">
                <a16:creationId xmlns:a16="http://schemas.microsoft.com/office/drawing/2014/main" id="{9BB030BC-3431-F066-87D1-E224AEFB8CED}"/>
              </a:ext>
            </a:extLst>
          </p:cNvPr>
          <p:cNvSpPr/>
          <p:nvPr/>
        </p:nvSpPr>
        <p:spPr>
          <a:xfrm>
            <a:off x="8023535" y="3227182"/>
            <a:ext cx="2596406" cy="488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Marco Leibersperger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8518121</a:t>
            </a:r>
            <a:endParaRPr kumimoji="0" lang="en-GB" sz="1400" b="0" i="0" u="none" strike="noStrike" kern="1200" cap="none" spc="0" normalizeH="0" baseline="0" noProof="0">
              <a:ln>
                <a:noFill/>
              </a:ln>
              <a:solidFill>
                <a:srgbClr val="061F32"/>
              </a:solidFill>
              <a:effectLst/>
              <a:uLnTx/>
              <a:uFillTx/>
              <a:latin typeface="Arial" panose="020B0604020202020204"/>
              <a:ea typeface="+mn-ea"/>
              <a:cs typeface="+mn-cs"/>
            </a:endParaRPr>
          </a:p>
        </p:txBody>
      </p:sp>
    </p:spTree>
    <p:extLst>
      <p:ext uri="{BB962C8B-B14F-4D97-AF65-F5344CB8AC3E}">
        <p14:creationId xmlns:p14="http://schemas.microsoft.com/office/powerpoint/2010/main" val="4080989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577FB-10CC-7F25-8305-D2CA06A321D0}"/>
              </a:ext>
            </a:extLst>
          </p:cNvPr>
          <p:cNvSpPr>
            <a:spLocks noGrp="1"/>
          </p:cNvSpPr>
          <p:nvPr>
            <p:ph type="title"/>
          </p:nvPr>
        </p:nvSpPr>
        <p:spPr>
          <a:xfrm>
            <a:off x="645848" y="4996145"/>
            <a:ext cx="4623502" cy="731520"/>
          </a:xfrm>
        </p:spPr>
        <p:txBody>
          <a:bodyPr/>
          <a:lstStyle/>
          <a:p>
            <a:r>
              <a:rPr lang="en-IN" sz="6000"/>
              <a:t>Thank you !</a:t>
            </a:r>
            <a:endParaRPr lang="de-DE" sz="6000"/>
          </a:p>
        </p:txBody>
      </p:sp>
      <p:pic>
        <p:nvPicPr>
          <p:cNvPr id="5" name="Picture 4">
            <a:extLst>
              <a:ext uri="{FF2B5EF4-FFF2-40B4-BE49-F238E27FC236}">
                <a16:creationId xmlns:a16="http://schemas.microsoft.com/office/drawing/2014/main" id="{6DFA4CCC-737D-DE6F-A373-CC087DB4F40E}"/>
              </a:ext>
            </a:extLst>
          </p:cNvPr>
          <p:cNvPicPr>
            <a:picLocks noChangeAspect="1"/>
          </p:cNvPicPr>
          <p:nvPr/>
        </p:nvPicPr>
        <p:blipFill>
          <a:blip r:embed="rId2"/>
          <a:stretch>
            <a:fillRect/>
          </a:stretch>
        </p:blipFill>
        <p:spPr>
          <a:xfrm>
            <a:off x="9653272" y="383411"/>
            <a:ext cx="1944415" cy="626996"/>
          </a:xfrm>
          <a:prstGeom prst="rect">
            <a:avLst/>
          </a:prstGeom>
        </p:spPr>
      </p:pic>
    </p:spTree>
    <p:extLst>
      <p:ext uri="{BB962C8B-B14F-4D97-AF65-F5344CB8AC3E}">
        <p14:creationId xmlns:p14="http://schemas.microsoft.com/office/powerpoint/2010/main" val="10432277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4.xml><?xml version="1.0" encoding="utf-8"?>
<p:tagLst xmlns:a="http://schemas.openxmlformats.org/drawingml/2006/main" xmlns:r="http://schemas.openxmlformats.org/officeDocument/2006/relationships" xmlns:p="http://schemas.openxmlformats.org/presentationml/2006/main">
  <p:tag name="SHAPENAME" val="BottomLine"/>
</p:tagLst>
</file>

<file path=ppt/tags/tag5.xml><?xml version="1.0" encoding="utf-8"?>
<p:tagLst xmlns:a="http://schemas.openxmlformats.org/drawingml/2006/main" xmlns:r="http://schemas.openxmlformats.org/officeDocument/2006/relationships" xmlns:p="http://schemas.openxmlformats.org/presentationml/2006/main">
  <p:tag name="SHAPENAME" val="TopLine"/>
</p:tagLst>
</file>

<file path=ppt/tags/tag6.xml><?xml version="1.0" encoding="utf-8"?>
<p:tagLst xmlns:a="http://schemas.openxmlformats.org/drawingml/2006/main" xmlns:r="http://schemas.openxmlformats.org/officeDocument/2006/relationships" xmlns:p="http://schemas.openxmlformats.org/presentationml/2006/main">
  <p:tag name="SHAPENAME" val="4. Footnote"/>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xml><?xml version="1.0" encoding="utf-8"?>
<p:tagLst xmlns:a="http://schemas.openxmlformats.org/drawingml/2006/main" xmlns:r="http://schemas.openxmlformats.org/officeDocument/2006/relationships" xmlns:p="http://schemas.openxmlformats.org/presentationml/2006/main">
  <p:tag name="SHAPENAME" val="Grid"/>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NAME" val="Moon"/>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5"/>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4"/>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3"/>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2"/>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ANGLE" val="1"/>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6.xml><?xml version="1.0" encoding="utf-8"?>
<p:tagLst xmlns:a="http://schemas.openxmlformats.org/drawingml/2006/main" xmlns:r="http://schemas.openxmlformats.org/officeDocument/2006/relationships" xmlns:p="http://schemas.openxmlformats.org/presentationml/2006/main">
  <p:tag name="SHAPENAME" val="ClientLogo"/>
</p:tagLst>
</file>

<file path=ppt/tags/tag27.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8.xml><?xml version="1.0" encoding="utf-8"?>
<p:tagLst xmlns:a="http://schemas.openxmlformats.org/drawingml/2006/main" xmlns:r="http://schemas.openxmlformats.org/officeDocument/2006/relationships" xmlns:p="http://schemas.openxmlformats.org/presentationml/2006/main">
  <p:tag name="SHAPENAME" val="Subtitle"/>
</p:tagLst>
</file>

<file path=ppt/tags/tag29.xml><?xml version="1.0" encoding="utf-8"?>
<p:tagLst xmlns:a="http://schemas.openxmlformats.org/drawingml/2006/main" xmlns:r="http://schemas.openxmlformats.org/officeDocument/2006/relationships" xmlns:p="http://schemas.openxmlformats.org/presentationml/2006/main">
  <p:tag name="SHAPENAME" val="Title"/>
</p:tagLst>
</file>

<file path=ppt/tags/tag3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4.xml><?xml version="1.0" encoding="utf-8"?>
<p:tagLst xmlns:a="http://schemas.openxmlformats.org/drawingml/2006/main" xmlns:r="http://schemas.openxmlformats.org/officeDocument/2006/relationships" xmlns:p="http://schemas.openxmlformats.org/presentationml/2006/main">
  <p:tag name="SHAPENAME" val="3. Subtitle"/>
</p:tagLst>
</file>

<file path=ppt/tags/tag3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6.xml><?xml version="1.0" encoding="utf-8"?>
<p:tagLst xmlns:a="http://schemas.openxmlformats.org/drawingml/2006/main" xmlns:r="http://schemas.openxmlformats.org/officeDocument/2006/relationships" xmlns:p="http://schemas.openxmlformats.org/presentationml/2006/main">
  <p:tag name="SHAPENAME" val="5. Source"/>
</p:tagLst>
</file>

<file path=ppt/tags/tag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1.xml><?xml version="1.0" encoding="utf-8"?>
<p:tagLst xmlns:a="http://schemas.openxmlformats.org/drawingml/2006/main" xmlns:r="http://schemas.openxmlformats.org/officeDocument/2006/relationships" xmlns:p="http://schemas.openxmlformats.org/presentationml/2006/main">
  <p:tag name="SHAPENAME" val="5. Source"/>
</p:tagLst>
</file>

<file path=ppt/tags/tag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4.xml><?xml version="1.0" encoding="utf-8"?>
<p:tagLst xmlns:a="http://schemas.openxmlformats.org/drawingml/2006/main" xmlns:r="http://schemas.openxmlformats.org/officeDocument/2006/relationships" xmlns:p="http://schemas.openxmlformats.org/presentationml/2006/main">
  <p:tag name="SHAPENAME" val="5. Source"/>
</p:tagLst>
</file>

<file path=ppt/tags/tag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8.xml><?xml version="1.0" encoding="utf-8"?>
<p:tagLst xmlns:a="http://schemas.openxmlformats.org/drawingml/2006/main" xmlns:r="http://schemas.openxmlformats.org/officeDocument/2006/relationships" xmlns:p="http://schemas.openxmlformats.org/presentationml/2006/main">
  <p:tag name="SHAPENAME" val="5. Source"/>
</p:tagLst>
</file>

<file path=ppt/tags/tag4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5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5.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56.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57.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58.xml><?xml version="1.0" encoding="utf-8"?>
<p:tagLst xmlns:a="http://schemas.openxmlformats.org/drawingml/2006/main" xmlns:r="http://schemas.openxmlformats.org/officeDocument/2006/relationships" xmlns:p="http://schemas.openxmlformats.org/presentationml/2006/main">
  <p:tag name="SHAPENAME" val="TopLineLeft"/>
</p:tagLst>
</file>

<file path=ppt/tags/tag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xml><?xml version="1.0" encoding="utf-8"?>
<p:tagLst xmlns:a="http://schemas.openxmlformats.org/drawingml/2006/main" xmlns:r="http://schemas.openxmlformats.org/officeDocument/2006/relationships" xmlns:p="http://schemas.openxmlformats.org/presentationml/2006/main">
  <p:tag name="SHAPENAME" val="3. Subtitle"/>
</p:tagLst>
</file>

<file path=ppt/tags/tag61.xml><?xml version="1.0" encoding="utf-8"?>
<p:tagLst xmlns:a="http://schemas.openxmlformats.org/drawingml/2006/main" xmlns:r="http://schemas.openxmlformats.org/officeDocument/2006/relationships" xmlns:p="http://schemas.openxmlformats.org/presentationml/2006/main">
  <p:tag name="SHAPENAME" val="5. Source"/>
</p:tagLst>
</file>

<file path=ppt/tags/tag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6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6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6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7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7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7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3.xml><?xml version="1.0" encoding="utf-8"?>
<p:tagLst xmlns:a="http://schemas.openxmlformats.org/drawingml/2006/main" xmlns:r="http://schemas.openxmlformats.org/officeDocument/2006/relationships" xmlns:p="http://schemas.openxmlformats.org/presentationml/2006/main">
  <p:tag name="SHAPENAME" val="3. Subtitle"/>
</p:tagLst>
</file>

<file path=ppt/tags/tag74.xml><?xml version="1.0" encoding="utf-8"?>
<p:tagLst xmlns:a="http://schemas.openxmlformats.org/drawingml/2006/main" xmlns:r="http://schemas.openxmlformats.org/officeDocument/2006/relationships" xmlns:p="http://schemas.openxmlformats.org/presentationml/2006/main">
  <p:tag name="SHAPENAME" val="5. Source"/>
</p:tagLst>
</file>

<file path=ppt/tags/tag7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7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1.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82.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8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8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85.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7.xml><?xml version="1.0" encoding="utf-8"?>
<p:tagLst xmlns:a="http://schemas.openxmlformats.org/drawingml/2006/main" xmlns:r="http://schemas.openxmlformats.org/officeDocument/2006/relationships" xmlns:p="http://schemas.openxmlformats.org/presentationml/2006/main">
  <p:tag name="SHAPENAME" val="3. Subtitle"/>
</p:tagLst>
</file>

<file path=ppt/tags/tag88.xml><?xml version="1.0" encoding="utf-8"?>
<p:tagLst xmlns:a="http://schemas.openxmlformats.org/drawingml/2006/main" xmlns:r="http://schemas.openxmlformats.org/officeDocument/2006/relationships" xmlns:p="http://schemas.openxmlformats.org/presentationml/2006/main">
  <p:tag name="SHAPENAME" val="5. Source"/>
</p:tagLst>
</file>

<file path=ppt/tags/tag8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9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5.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96.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97.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98.xml><?xml version="1.0" encoding="utf-8"?>
<p:tagLst xmlns:a="http://schemas.openxmlformats.org/drawingml/2006/main" xmlns:r="http://schemas.openxmlformats.org/officeDocument/2006/relationships" xmlns:p="http://schemas.openxmlformats.org/presentationml/2006/main">
  <p:tag name="SHAPENAME" val="TopLineLeft"/>
</p:tagLst>
</file>

<file path=ppt/tags/tag99.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2.xml><?xml version="1.0" encoding="utf-8"?>
<p:tagLst xmlns:a="http://schemas.openxmlformats.org/drawingml/2006/main" xmlns:r="http://schemas.openxmlformats.org/officeDocument/2006/relationships" xmlns:p="http://schemas.openxmlformats.org/presentationml/2006/main">
  <p:tag name="SHAPENAME" val="5. Source"/>
</p:tagLst>
</file>

<file path=ppt/tags/tag10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10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0.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11.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12.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13.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14.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11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6.xml><?xml version="1.0" encoding="utf-8"?>
<p:tagLst xmlns:a="http://schemas.openxmlformats.org/drawingml/2006/main" xmlns:r="http://schemas.openxmlformats.org/officeDocument/2006/relationships" xmlns:p="http://schemas.openxmlformats.org/presentationml/2006/main">
  <p:tag name="SHAPENAME" val="5. Source"/>
</p:tagLst>
</file>

<file path=ppt/tags/tag11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12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2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2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3.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2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2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26.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2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9.xml><?xml version="1.0" encoding="utf-8"?>
<p:tagLst xmlns:a="http://schemas.openxmlformats.org/drawingml/2006/main" xmlns:r="http://schemas.openxmlformats.org/officeDocument/2006/relationships" xmlns:p="http://schemas.openxmlformats.org/presentationml/2006/main">
  <p:tag name="SHAPENAME" val="5. Source"/>
</p:tagLst>
</file>

<file path=ppt/tags/tag13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SHAPENAME" val="5. Source"/>
</p:tagLst>
</file>

<file path=ppt/tags/tag133.xml><?xml version="1.0" encoding="utf-8"?>
<p:tagLst xmlns:a="http://schemas.openxmlformats.org/drawingml/2006/main" xmlns:r="http://schemas.openxmlformats.org/officeDocument/2006/relationships" xmlns:p="http://schemas.openxmlformats.org/presentationml/2006/main">
  <p:tag name="SHAPENAME" val="ClientLogo"/>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7.xml><?xml version="1.0" encoding="utf-8"?>
<p:tagLst xmlns:a="http://schemas.openxmlformats.org/drawingml/2006/main" xmlns:r="http://schemas.openxmlformats.org/officeDocument/2006/relationships" xmlns:p="http://schemas.openxmlformats.org/presentationml/2006/main">
  <p:tag name="SHAPENAME" val="5. Source"/>
</p:tagLst>
</file>

<file path=ppt/tags/tag1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15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52.xml><?xml version="1.0" encoding="utf-8"?>
<p:tagLst xmlns:a="http://schemas.openxmlformats.org/drawingml/2006/main" xmlns:r="http://schemas.openxmlformats.org/officeDocument/2006/relationships" xmlns:p="http://schemas.openxmlformats.org/presentationml/2006/main">
  <p:tag name="SHAPENAME" val="BottomLine"/>
</p:tagLst>
</file>

<file path=ppt/tags/tag153.xml><?xml version="1.0" encoding="utf-8"?>
<p:tagLst xmlns:a="http://schemas.openxmlformats.org/drawingml/2006/main" xmlns:r="http://schemas.openxmlformats.org/officeDocument/2006/relationships" xmlns:p="http://schemas.openxmlformats.org/presentationml/2006/main">
  <p:tag name="SHAPENAME" val="TopLine"/>
</p:tagLst>
</file>

<file path=ppt/tags/tag154.xml><?xml version="1.0" encoding="utf-8"?>
<p:tagLst xmlns:a="http://schemas.openxmlformats.org/drawingml/2006/main" xmlns:r="http://schemas.openxmlformats.org/officeDocument/2006/relationships" xmlns:p="http://schemas.openxmlformats.org/presentationml/2006/main">
  <p:tag name="SHAPENAME" val="4. Footnote"/>
</p:tagLst>
</file>

<file path=ppt/tags/tag1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6.xml><?xml version="1.0" encoding="utf-8"?>
<p:tagLst xmlns:a="http://schemas.openxmlformats.org/drawingml/2006/main" xmlns:r="http://schemas.openxmlformats.org/officeDocument/2006/relationships" xmlns:p="http://schemas.openxmlformats.org/presentationml/2006/main">
  <p:tag name="SHAPENAME" val="Grid"/>
</p:tagLst>
</file>

<file path=ppt/tags/tag157.xml><?xml version="1.0" encoding="utf-8"?>
<p:tagLst xmlns:a="http://schemas.openxmlformats.org/drawingml/2006/main" xmlns:r="http://schemas.openxmlformats.org/officeDocument/2006/relationships" xmlns:p="http://schemas.openxmlformats.org/presentationml/2006/main">
  <p:tag name="NAME" val="Moon"/>
</p:tagLst>
</file>

<file path=ppt/tags/tag158.xml><?xml version="1.0" encoding="utf-8"?>
<p:tagLst xmlns:a="http://schemas.openxmlformats.org/drawingml/2006/main" xmlns:r="http://schemas.openxmlformats.org/officeDocument/2006/relationships" xmlns:p="http://schemas.openxmlformats.org/presentationml/2006/main">
  <p:tag name="NAME" val="Moon"/>
</p:tagLst>
</file>

<file path=ppt/tags/tag159.xml><?xml version="1.0" encoding="utf-8"?>
<p:tagLst xmlns:a="http://schemas.openxmlformats.org/drawingml/2006/main" xmlns:r="http://schemas.openxmlformats.org/officeDocument/2006/relationships" xmlns:p="http://schemas.openxmlformats.org/presentationml/2006/main">
  <p:tag name="NAME" val="Moon"/>
</p:tagLst>
</file>

<file path=ppt/tags/tag160.xml><?xml version="1.0" encoding="utf-8"?>
<p:tagLst xmlns:a="http://schemas.openxmlformats.org/drawingml/2006/main" xmlns:r="http://schemas.openxmlformats.org/officeDocument/2006/relationships" xmlns:p="http://schemas.openxmlformats.org/presentationml/2006/main">
  <p:tag name="NAME" val="Moon"/>
</p:tagLst>
</file>

<file path=ppt/tags/tag161.xml><?xml version="1.0" encoding="utf-8"?>
<p:tagLst xmlns:a="http://schemas.openxmlformats.org/drawingml/2006/main" xmlns:r="http://schemas.openxmlformats.org/officeDocument/2006/relationships" xmlns:p="http://schemas.openxmlformats.org/presentationml/2006/main">
  <p:tag name="NAME" val="Moon"/>
</p:tagLst>
</file>

<file path=ppt/tags/tag162.xml><?xml version="1.0" encoding="utf-8"?>
<p:tagLst xmlns:a="http://schemas.openxmlformats.org/drawingml/2006/main" xmlns:r="http://schemas.openxmlformats.org/officeDocument/2006/relationships" xmlns:p="http://schemas.openxmlformats.org/presentationml/2006/main">
  <p:tag name="ANGLE" val="5"/>
</p:tagLst>
</file>

<file path=ppt/tags/tag163.xml><?xml version="1.0" encoding="utf-8"?>
<p:tagLst xmlns:a="http://schemas.openxmlformats.org/drawingml/2006/main" xmlns:r="http://schemas.openxmlformats.org/officeDocument/2006/relationships" xmlns:p="http://schemas.openxmlformats.org/presentationml/2006/main">
  <p:tag name="ANGLE" val="5"/>
</p:tagLst>
</file>

<file path=ppt/tags/tag164.xml><?xml version="1.0" encoding="utf-8"?>
<p:tagLst xmlns:a="http://schemas.openxmlformats.org/drawingml/2006/main" xmlns:r="http://schemas.openxmlformats.org/officeDocument/2006/relationships" xmlns:p="http://schemas.openxmlformats.org/presentationml/2006/main">
  <p:tag name="ANGLE" val="4"/>
</p:tagLst>
</file>

<file path=ppt/tags/tag165.xml><?xml version="1.0" encoding="utf-8"?>
<p:tagLst xmlns:a="http://schemas.openxmlformats.org/drawingml/2006/main" xmlns:r="http://schemas.openxmlformats.org/officeDocument/2006/relationships" xmlns:p="http://schemas.openxmlformats.org/presentationml/2006/main">
  <p:tag name="ANGLE" val="4"/>
</p:tagLst>
</file>

<file path=ppt/tags/tag166.xml><?xml version="1.0" encoding="utf-8"?>
<p:tagLst xmlns:a="http://schemas.openxmlformats.org/drawingml/2006/main" xmlns:r="http://schemas.openxmlformats.org/officeDocument/2006/relationships" xmlns:p="http://schemas.openxmlformats.org/presentationml/2006/main">
  <p:tag name="ANGLE" val="3"/>
</p:tagLst>
</file>

<file path=ppt/tags/tag167.xml><?xml version="1.0" encoding="utf-8"?>
<p:tagLst xmlns:a="http://schemas.openxmlformats.org/drawingml/2006/main" xmlns:r="http://schemas.openxmlformats.org/officeDocument/2006/relationships" xmlns:p="http://schemas.openxmlformats.org/presentationml/2006/main">
  <p:tag name="ANGLE" val="3"/>
</p:tagLst>
</file>

<file path=ppt/tags/tag168.xml><?xml version="1.0" encoding="utf-8"?>
<p:tagLst xmlns:a="http://schemas.openxmlformats.org/drawingml/2006/main" xmlns:r="http://schemas.openxmlformats.org/officeDocument/2006/relationships" xmlns:p="http://schemas.openxmlformats.org/presentationml/2006/main">
  <p:tag name="ANGLE" val="2"/>
</p:tagLst>
</file>

<file path=ppt/tags/tag169.xml><?xml version="1.0" encoding="utf-8"?>
<p:tagLst xmlns:a="http://schemas.openxmlformats.org/drawingml/2006/main" xmlns:r="http://schemas.openxmlformats.org/officeDocument/2006/relationships" xmlns:p="http://schemas.openxmlformats.org/presentationml/2006/main">
  <p:tag name="ANGLE" val="2"/>
</p:tagLst>
</file>

<file path=ppt/tags/tag170.xml><?xml version="1.0" encoding="utf-8"?>
<p:tagLst xmlns:a="http://schemas.openxmlformats.org/drawingml/2006/main" xmlns:r="http://schemas.openxmlformats.org/officeDocument/2006/relationships" xmlns:p="http://schemas.openxmlformats.org/presentationml/2006/main">
  <p:tag name="ANGLE" val="1"/>
</p:tagLst>
</file>

<file path=ppt/tags/tag171.xml><?xml version="1.0" encoding="utf-8"?>
<p:tagLst xmlns:a="http://schemas.openxmlformats.org/drawingml/2006/main" xmlns:r="http://schemas.openxmlformats.org/officeDocument/2006/relationships" xmlns:p="http://schemas.openxmlformats.org/presentationml/2006/main">
  <p:tag name="ANGLE" val="1"/>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174.xml><?xml version="1.0" encoding="utf-8"?>
<p:tagLst xmlns:a="http://schemas.openxmlformats.org/drawingml/2006/main" xmlns:r="http://schemas.openxmlformats.org/officeDocument/2006/relationships" xmlns:p="http://schemas.openxmlformats.org/presentationml/2006/main">
  <p:tag name="SHAPENAME" val="ClientLogo"/>
</p:tagLst>
</file>

<file path=ppt/tags/tag175.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76.xml><?xml version="1.0" encoding="utf-8"?>
<p:tagLst xmlns:a="http://schemas.openxmlformats.org/drawingml/2006/main" xmlns:r="http://schemas.openxmlformats.org/officeDocument/2006/relationships" xmlns:p="http://schemas.openxmlformats.org/presentationml/2006/main">
  <p:tag name="SHAPENAME" val="Subtitle"/>
</p:tagLst>
</file>

<file path=ppt/tags/tag177.xml><?xml version="1.0" encoding="utf-8"?>
<p:tagLst xmlns:a="http://schemas.openxmlformats.org/drawingml/2006/main" xmlns:r="http://schemas.openxmlformats.org/officeDocument/2006/relationships" xmlns:p="http://schemas.openxmlformats.org/presentationml/2006/main">
  <p:tag name="SHAPENAME" val="Title"/>
</p:tagLst>
</file>

<file path=ppt/tags/tag17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8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4.xml><?xml version="1.0" encoding="utf-8"?>
<p:tagLst xmlns:a="http://schemas.openxmlformats.org/drawingml/2006/main" xmlns:r="http://schemas.openxmlformats.org/officeDocument/2006/relationships" xmlns:p="http://schemas.openxmlformats.org/presentationml/2006/main">
  <p:tag name="SHAPENAME" val="5. Source"/>
</p:tagLst>
</file>

<file path=ppt/tags/tag18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9.xml><?xml version="1.0" encoding="utf-8"?>
<p:tagLst xmlns:a="http://schemas.openxmlformats.org/drawingml/2006/main" xmlns:r="http://schemas.openxmlformats.org/officeDocument/2006/relationships" xmlns:p="http://schemas.openxmlformats.org/presentationml/2006/main">
  <p:tag name="SHAPENAME" val="5. Source"/>
</p:tagLst>
</file>

<file path=ppt/tags/tag19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2.xml><?xml version="1.0" encoding="utf-8"?>
<p:tagLst xmlns:a="http://schemas.openxmlformats.org/drawingml/2006/main" xmlns:r="http://schemas.openxmlformats.org/officeDocument/2006/relationships" xmlns:p="http://schemas.openxmlformats.org/presentationml/2006/main">
  <p:tag name="SHAPENAME" val="5. Source"/>
</p:tagLst>
</file>

<file path=ppt/tags/tag1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6.xml><?xml version="1.0" encoding="utf-8"?>
<p:tagLst xmlns:a="http://schemas.openxmlformats.org/drawingml/2006/main" xmlns:r="http://schemas.openxmlformats.org/officeDocument/2006/relationships" xmlns:p="http://schemas.openxmlformats.org/presentationml/2006/main">
  <p:tag name="SHAPENAME" val="5. Source"/>
</p:tagLst>
</file>

<file path=ppt/tags/tag19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20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0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0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0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0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0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0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9.xml><?xml version="1.0" encoding="utf-8"?>
<p:tagLst xmlns:a="http://schemas.openxmlformats.org/drawingml/2006/main" xmlns:r="http://schemas.openxmlformats.org/officeDocument/2006/relationships" xmlns:p="http://schemas.openxmlformats.org/presentationml/2006/main">
  <p:tag name="SHAPENAME" val="5. Source"/>
</p:tagLst>
</file>

<file path=ppt/tags/tag21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21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1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1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1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1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2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2.xml><?xml version="1.0" encoding="utf-8"?>
<p:tagLst xmlns:a="http://schemas.openxmlformats.org/drawingml/2006/main" xmlns:r="http://schemas.openxmlformats.org/officeDocument/2006/relationships" xmlns:p="http://schemas.openxmlformats.org/presentationml/2006/main">
  <p:tag name="SHAPENAME" val="5. Source"/>
</p:tagLst>
</file>

<file path=ppt/tags/tag22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22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2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3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3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3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33.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3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5.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6.xml><?xml version="1.0" encoding="utf-8"?>
<p:tagLst xmlns:a="http://schemas.openxmlformats.org/drawingml/2006/main" xmlns:r="http://schemas.openxmlformats.org/officeDocument/2006/relationships" xmlns:p="http://schemas.openxmlformats.org/presentationml/2006/main">
  <p:tag name="SHAPENAME" val="5. Source"/>
</p:tagLst>
</file>

<file path=ppt/tags/tag2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24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4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4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4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4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47.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4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50.xml><?xml version="1.0" encoding="utf-8"?>
<p:tagLst xmlns:a="http://schemas.openxmlformats.org/drawingml/2006/main" xmlns:r="http://schemas.openxmlformats.org/officeDocument/2006/relationships" xmlns:p="http://schemas.openxmlformats.org/presentationml/2006/main">
  <p:tag name="SHAPENAME" val="5. Source"/>
</p:tagLst>
</file>

<file path=ppt/tags/tag2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2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5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5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5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6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6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62.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263.xml><?xml version="1.0" encoding="utf-8"?>
<p:tagLst xmlns:a="http://schemas.openxmlformats.org/drawingml/2006/main" xmlns:r="http://schemas.openxmlformats.org/officeDocument/2006/relationships" xmlns:p="http://schemas.openxmlformats.org/presentationml/2006/main">
  <p:tag name="SHAPENAME" val="3. Subtitle"/>
</p:tagLst>
</file>

<file path=ppt/tags/tag264.xml><?xml version="1.0" encoding="utf-8"?>
<p:tagLst xmlns:a="http://schemas.openxmlformats.org/drawingml/2006/main" xmlns:r="http://schemas.openxmlformats.org/officeDocument/2006/relationships" xmlns:p="http://schemas.openxmlformats.org/presentationml/2006/main">
  <p:tag name="SHAPENAME" val="5. Source"/>
</p:tagLst>
</file>

<file path=ppt/tags/tag26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26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6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7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7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72.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73.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7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7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7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77.xml><?xml version="1.0" encoding="utf-8"?>
<p:tagLst xmlns:a="http://schemas.openxmlformats.org/drawingml/2006/main" xmlns:r="http://schemas.openxmlformats.org/officeDocument/2006/relationships" xmlns:p="http://schemas.openxmlformats.org/presentationml/2006/main">
  <p:tag name="SHAPENAME" val="5. Source"/>
</p:tagLst>
</file>

<file path=ppt/tags/tag27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0.xml><?xml version="1.0" encoding="utf-8"?>
<p:tagLst xmlns:a="http://schemas.openxmlformats.org/drawingml/2006/main" xmlns:r="http://schemas.openxmlformats.org/officeDocument/2006/relationships" xmlns:p="http://schemas.openxmlformats.org/presentationml/2006/main">
  <p:tag name="SHAPENAME" val="5. Source"/>
</p:tagLst>
</file>

<file path=ppt/tags/tag281.xml><?xml version="1.0" encoding="utf-8"?>
<p:tagLst xmlns:a="http://schemas.openxmlformats.org/drawingml/2006/main" xmlns:r="http://schemas.openxmlformats.org/officeDocument/2006/relationships" xmlns:p="http://schemas.openxmlformats.org/presentationml/2006/main">
  <p:tag name="SHAPENAME" val="ClientLogo"/>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8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85.xml><?xml version="1.0" encoding="utf-8"?>
<p:tagLst xmlns:a="http://schemas.openxmlformats.org/drawingml/2006/main" xmlns:r="http://schemas.openxmlformats.org/officeDocument/2006/relationships" xmlns:p="http://schemas.openxmlformats.org/presentationml/2006/main">
  <p:tag name="SHAPENAME" val="5. Source"/>
</p:tagLst>
</file>

<file path=ppt/tags/tag28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8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8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9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9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9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White">
  <a:themeElements>
    <a:clrScheme name="Slideworks Colors">
      <a:dk1>
        <a:srgbClr val="FFFFFF"/>
      </a:dk1>
      <a:lt1>
        <a:srgbClr val="061F32"/>
      </a:lt1>
      <a:dk2>
        <a:srgbClr val="000000"/>
      </a:dk2>
      <a:lt2>
        <a:srgbClr val="000000"/>
      </a:lt2>
      <a:accent1>
        <a:srgbClr val="00A7F2"/>
      </a:accent1>
      <a:accent2>
        <a:srgbClr val="3478AB"/>
      </a:accent2>
      <a:accent3>
        <a:srgbClr val="1D4769"/>
      </a:accent3>
      <a:accent4>
        <a:srgbClr val="061F32"/>
      </a:accent4>
      <a:accent5>
        <a:srgbClr val="1C3CDF"/>
      </a:accent5>
      <a:accent6>
        <a:srgbClr val="F8BC3B"/>
      </a:accent6>
      <a:hlink>
        <a:srgbClr val="3478AB"/>
      </a:hlink>
      <a:folHlink>
        <a:srgbClr val="8B78AB"/>
      </a:folHlink>
    </a:clrScheme>
    <a:fontScheme name="Scheme 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rgbClr val="000000"/>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51C2C"/>
        </a:accent1>
        <a:accent2>
          <a:srgbClr val="00A9F4"/>
        </a:accent2>
        <a:accent3>
          <a:srgbClr val="1F40E6"/>
        </a:accent3>
        <a:accent4>
          <a:srgbClr val="AAE6F0"/>
        </a:accent4>
        <a:accent5>
          <a:srgbClr val="3C96B4"/>
        </a:accent5>
        <a:accent6>
          <a:srgbClr val="AFC3FF"/>
        </a:accent6>
        <a:hlink>
          <a:srgbClr val="1F40E6"/>
        </a:hlink>
        <a:folHlink>
          <a:srgbClr val="8C5AC8"/>
        </a:folHlink>
      </a:clrScheme>
    </a:extraClrScheme>
  </a:extraClrSchemeLst>
  <a:custClrLst>
    <a:custClr name="Deep Blue">
      <a:srgbClr val="051C2C"/>
    </a:custClr>
    <a:custClr name="Cyan">
      <a:srgbClr val="00A9F4"/>
    </a:custClr>
    <a:custClr name="Electric Blue">
      <a:srgbClr val="1F40E6"/>
    </a:custClr>
    <a:custClr name="Pale Blue">
      <a:srgbClr val="AAE6F0"/>
    </a:custClr>
    <a:custClr name="Turquoise">
      <a:srgbClr val="3C96B4"/>
    </a:custClr>
    <a:custClr name="Pale Electric Blue">
      <a:srgbClr val="AFC3FF"/>
    </a:custClr>
    <a:custClr name="Purple">
      <a:srgbClr val="8C5AC8"/>
    </a:custClr>
    <a:custClr name="Pink">
      <a:srgbClr val="E6A0C8"/>
    </a:custClr>
    <a:custClr name="Red">
      <a:srgbClr val="E5546C"/>
    </a:custClr>
    <a:custClr name="Orange">
      <a:srgbClr val="FAA082"/>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FFFFF"/>
    </a:custClr>
    <a:custClr name="Null">
      <a:srgbClr val="FFFFFF"/>
    </a:custClr>
    <a:custClr name="Null">
      <a:srgbClr val="FFFFFF"/>
    </a:custClr>
    <a:custClr name="Null">
      <a:srgbClr val="FFFFFF"/>
    </a:custClr>
    <a:custClr name="Null">
      <a:srgbClr val="FFFFFF"/>
    </a:custClr>
    <a:custClr name="Linear 1 (Deep Blue)">
      <a:srgbClr val="051C2C"/>
    </a:custClr>
    <a:custClr name="Linear 2">
      <a:srgbClr val="034B6F"/>
    </a:custClr>
    <a:custClr name="Linear 3">
      <a:srgbClr val="027AB1"/>
    </a:custClr>
    <a:custClr name="Linear 4 (Cyan)">
      <a:srgbClr val="00A9F4"/>
    </a:custClr>
    <a:custClr name="Linear 5">
      <a:srgbClr val="39BDF3"/>
    </a:custClr>
    <a:custClr name="Linear 6">
      <a:srgbClr val="71D2F1"/>
    </a:custClr>
    <a:custClr name="Linear 7 (Pale Blue)">
      <a:srgbClr val="AAE6F0"/>
    </a:custClr>
    <a:custClr name="Null">
      <a:srgbClr val="FFFFFF"/>
    </a:custClr>
    <a:custClr name="Null">
      <a:srgbClr val="FFFFFF"/>
    </a:custClr>
    <a:custClr name="Null">
      <a:srgbClr val="FFFFFF"/>
    </a:custClr>
  </a:custClrLst>
  <a:extLst>
    <a:ext uri="{05A4C25C-085E-4340-85A3-A5531E510DB2}">
      <thm15:themeFamily xmlns:thm15="http://schemas.microsoft.com/office/thememl/2012/main" name="OneFirm-English (United States)-Wide.potx" id="{50FC1F8C-36A8-43E0-A709-09110D5475E7}" vid="{B89EF835-3564-4FB3-A7E4-97DE50749BA2}"/>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White">
  <a:themeElements>
    <a:clrScheme name="Slideworks Colors">
      <a:dk1>
        <a:srgbClr val="FFFFFF"/>
      </a:dk1>
      <a:lt1>
        <a:srgbClr val="061F32"/>
      </a:lt1>
      <a:dk2>
        <a:srgbClr val="000000"/>
      </a:dk2>
      <a:lt2>
        <a:srgbClr val="000000"/>
      </a:lt2>
      <a:accent1>
        <a:srgbClr val="00A7F2"/>
      </a:accent1>
      <a:accent2>
        <a:srgbClr val="3478AB"/>
      </a:accent2>
      <a:accent3>
        <a:srgbClr val="1D4769"/>
      </a:accent3>
      <a:accent4>
        <a:srgbClr val="061F32"/>
      </a:accent4>
      <a:accent5>
        <a:srgbClr val="1C3CDF"/>
      </a:accent5>
      <a:accent6>
        <a:srgbClr val="F8BC3B"/>
      </a:accent6>
      <a:hlink>
        <a:srgbClr val="3478AB"/>
      </a:hlink>
      <a:folHlink>
        <a:srgbClr val="8B78AB"/>
      </a:folHlink>
    </a:clrScheme>
    <a:fontScheme name="Scheme 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rgbClr val="000000"/>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51C2C"/>
        </a:accent1>
        <a:accent2>
          <a:srgbClr val="00A9F4"/>
        </a:accent2>
        <a:accent3>
          <a:srgbClr val="1F40E6"/>
        </a:accent3>
        <a:accent4>
          <a:srgbClr val="AAE6F0"/>
        </a:accent4>
        <a:accent5>
          <a:srgbClr val="3C96B4"/>
        </a:accent5>
        <a:accent6>
          <a:srgbClr val="AFC3FF"/>
        </a:accent6>
        <a:hlink>
          <a:srgbClr val="1F40E6"/>
        </a:hlink>
        <a:folHlink>
          <a:srgbClr val="8C5AC8"/>
        </a:folHlink>
      </a:clrScheme>
    </a:extraClrScheme>
  </a:extraClrSchemeLst>
  <a:custClrLst>
    <a:custClr name="Deep Blue">
      <a:srgbClr val="051C2C"/>
    </a:custClr>
    <a:custClr name="Cyan">
      <a:srgbClr val="00A9F4"/>
    </a:custClr>
    <a:custClr name="Electric Blue">
      <a:srgbClr val="1F40E6"/>
    </a:custClr>
    <a:custClr name="Pale Blue">
      <a:srgbClr val="AAE6F0"/>
    </a:custClr>
    <a:custClr name="Turquoise">
      <a:srgbClr val="3C96B4"/>
    </a:custClr>
    <a:custClr name="Pale Electric Blue">
      <a:srgbClr val="AFC3FF"/>
    </a:custClr>
    <a:custClr name="Purple">
      <a:srgbClr val="8C5AC8"/>
    </a:custClr>
    <a:custClr name="Pink">
      <a:srgbClr val="E6A0C8"/>
    </a:custClr>
    <a:custClr name="Red">
      <a:srgbClr val="E5546C"/>
    </a:custClr>
    <a:custClr name="Orange">
      <a:srgbClr val="FAA082"/>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FFFFF"/>
    </a:custClr>
    <a:custClr name="Null">
      <a:srgbClr val="FFFFFF"/>
    </a:custClr>
    <a:custClr name="Null">
      <a:srgbClr val="FFFFFF"/>
    </a:custClr>
    <a:custClr name="Null">
      <a:srgbClr val="FFFFFF"/>
    </a:custClr>
    <a:custClr name="Null">
      <a:srgbClr val="FFFFFF"/>
    </a:custClr>
    <a:custClr name="Linear 1 (Deep Blue)">
      <a:srgbClr val="051C2C"/>
    </a:custClr>
    <a:custClr name="Linear 2">
      <a:srgbClr val="034B6F"/>
    </a:custClr>
    <a:custClr name="Linear 3">
      <a:srgbClr val="027AB1"/>
    </a:custClr>
    <a:custClr name="Linear 4 (Cyan)">
      <a:srgbClr val="00A9F4"/>
    </a:custClr>
    <a:custClr name="Linear 5">
      <a:srgbClr val="39BDF3"/>
    </a:custClr>
    <a:custClr name="Linear 6">
      <a:srgbClr val="71D2F1"/>
    </a:custClr>
    <a:custClr name="Linear 7 (Pale Blue)">
      <a:srgbClr val="AAE6F0"/>
    </a:custClr>
    <a:custClr name="Null">
      <a:srgbClr val="FFFFFF"/>
    </a:custClr>
    <a:custClr name="Null">
      <a:srgbClr val="FFFFFF"/>
    </a:custClr>
    <a:custClr name="Null">
      <a:srgbClr val="FFFFFF"/>
    </a:custClr>
  </a:custClrLst>
  <a:extLst>
    <a:ext uri="{05A4C25C-085E-4340-85A3-A5531E510DB2}">
      <thm15:themeFamily xmlns:thm15="http://schemas.microsoft.com/office/thememl/2012/main" name="OneFirm-English (United States)-Wide.potx" id="{50FC1F8C-36A8-43E0-A709-09110D5475E7}" vid="{B89EF835-3564-4FB3-A7E4-97DE50749BA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Slideworks Colors">
    <a:dk1>
      <a:srgbClr val="FFFFFF"/>
    </a:dk1>
    <a:lt1>
      <a:srgbClr val="061F32"/>
    </a:lt1>
    <a:dk2>
      <a:srgbClr val="000000"/>
    </a:dk2>
    <a:lt2>
      <a:srgbClr val="000000"/>
    </a:lt2>
    <a:accent1>
      <a:srgbClr val="00A7F2"/>
    </a:accent1>
    <a:accent2>
      <a:srgbClr val="3478AB"/>
    </a:accent2>
    <a:accent3>
      <a:srgbClr val="1D4769"/>
    </a:accent3>
    <a:accent4>
      <a:srgbClr val="061F32"/>
    </a:accent4>
    <a:accent5>
      <a:srgbClr val="1C3CDF"/>
    </a:accent5>
    <a:accent6>
      <a:srgbClr val="F8BC3B"/>
    </a:accent6>
    <a:hlink>
      <a:srgbClr val="3478AB"/>
    </a:hlink>
    <a:folHlink>
      <a:srgbClr val="8B78AB"/>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28001c6-3414-4bb4-8e4d-ef44f41ef01d" xsi:nil="true"/>
    <lcf76f155ced4ddcb4097134ff3c332f xmlns="dfb55420-9e89-4a77-b785-ae8cb2d34317">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0F964EA60144AF4C8BF187EC409E1C91" ma:contentTypeVersion="9" ma:contentTypeDescription="Ein neues Dokument erstellen." ma:contentTypeScope="" ma:versionID="a84d0e2b0ab33d3eddc55da5755b006d">
  <xsd:schema xmlns:xsd="http://www.w3.org/2001/XMLSchema" xmlns:xs="http://www.w3.org/2001/XMLSchema" xmlns:p="http://schemas.microsoft.com/office/2006/metadata/properties" xmlns:ns2="dfb55420-9e89-4a77-b785-ae8cb2d34317" xmlns:ns3="928001c6-3414-4bb4-8e4d-ef44f41ef01d" targetNamespace="http://schemas.microsoft.com/office/2006/metadata/properties" ma:root="true" ma:fieldsID="ed00c54209ebb3073991f8463165ce2f" ns2:_="" ns3:_="">
    <xsd:import namespace="dfb55420-9e89-4a77-b785-ae8cb2d34317"/>
    <xsd:import namespace="928001c6-3414-4bb4-8e4d-ef44f41ef01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b55420-9e89-4a77-b785-ae8cb2d3431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45b14518-4d3d-476a-94d0-3ccb46acc175"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8001c6-3414-4bb4-8e4d-ef44f41ef01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2cd4216-2360-4c7a-ac5b-68c49338fb55}" ma:internalName="TaxCatchAll" ma:showField="CatchAllData" ma:web="928001c6-3414-4bb4-8e4d-ef44f41ef0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686818D-62B1-4FAB-AC05-5FA3154561FB}">
  <ds:schemaRefs>
    <ds:schemaRef ds:uri="http://schemas.microsoft.com/sharepoint/v3/contenttype/forms"/>
  </ds:schemaRefs>
</ds:datastoreItem>
</file>

<file path=customXml/itemProps2.xml><?xml version="1.0" encoding="utf-8"?>
<ds:datastoreItem xmlns:ds="http://schemas.openxmlformats.org/officeDocument/2006/customXml" ds:itemID="{01958423-E166-4449-BA6C-F1A43F55BBA4}">
  <ds:schemaRefs>
    <ds:schemaRef ds:uri="http://schemas.microsoft.com/office/2006/metadata/properties"/>
    <ds:schemaRef ds:uri="http://purl.org/dc/terms/"/>
    <ds:schemaRef ds:uri="http://purl.org/dc/elements/1.1/"/>
    <ds:schemaRef ds:uri="http://purl.org/dc/dcmitype/"/>
    <ds:schemaRef ds:uri="dfb55420-9e89-4a77-b785-ae8cb2d34317"/>
    <ds:schemaRef ds:uri="http://schemas.microsoft.com/office/2006/documentManagement/types"/>
    <ds:schemaRef ds:uri="http://schemas.microsoft.com/office/infopath/2007/PartnerControls"/>
    <ds:schemaRef ds:uri="http://schemas.openxmlformats.org/package/2006/metadata/core-properties"/>
    <ds:schemaRef ds:uri="928001c6-3414-4bb4-8e4d-ef44f41ef01d"/>
    <ds:schemaRef ds:uri="http://www.w3.org/XML/1998/namespace"/>
  </ds:schemaRefs>
</ds:datastoreItem>
</file>

<file path=customXml/itemProps3.xml><?xml version="1.0" encoding="utf-8"?>
<ds:datastoreItem xmlns:ds="http://schemas.openxmlformats.org/officeDocument/2006/customXml" ds:itemID="{CA98CB97-FF16-4554-9E29-FEF94A3190D6}">
  <ds:schemaRefs>
    <ds:schemaRef ds:uri="928001c6-3414-4bb4-8e4d-ef44f41ef01d"/>
    <ds:schemaRef ds:uri="dfb55420-9e89-4a77-b785-ae8cb2d3431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1876</Words>
  <Application>Microsoft Office PowerPoint</Application>
  <PresentationFormat>Widescreen</PresentationFormat>
  <Paragraphs>351</Paragraphs>
  <Slides>21</Slides>
  <Notes>4</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1</vt:i4>
      </vt:variant>
      <vt:variant>
        <vt:lpstr>Slide Titles</vt:lpstr>
      </vt:variant>
      <vt:variant>
        <vt:i4>21</vt:i4>
      </vt:variant>
    </vt:vector>
  </HeadingPairs>
  <TitlesOfParts>
    <vt:vector size="33" baseType="lpstr">
      <vt:lpstr>Aptos</vt:lpstr>
      <vt:lpstr>Aptos Display</vt:lpstr>
      <vt:lpstr>Arial</vt:lpstr>
      <vt:lpstr>Calibri</vt:lpstr>
      <vt:lpstr>Cambria Math</vt:lpstr>
      <vt:lpstr>Georgia</vt:lpstr>
      <vt:lpstr>Segoe UI</vt:lpstr>
      <vt:lpstr>Wingdings</vt:lpstr>
      <vt:lpstr>White</vt:lpstr>
      <vt:lpstr>Custom Design</vt:lpstr>
      <vt:lpstr>White</vt:lpstr>
      <vt:lpstr>think-cell Slide</vt:lpstr>
      <vt:lpstr>PowerPoint Presentation</vt:lpstr>
      <vt:lpstr>Presentation Roadmap</vt:lpstr>
      <vt:lpstr>The Challenge</vt:lpstr>
      <vt:lpstr>Where does cash flow volatility come from?</vt:lpstr>
      <vt:lpstr>Concept of Cashflow at Risk</vt:lpstr>
      <vt:lpstr>One Simple Example</vt:lpstr>
      <vt:lpstr>Advantages &amp; Disadvantages</vt:lpstr>
      <vt:lpstr>Why Cash Flow at Risk Matters</vt:lpstr>
      <vt:lpstr>Interest Rate Scenario 1: Parallel +100bp</vt:lpstr>
      <vt:lpstr>Interest Rate Scenario 2: Parallel - 100bp</vt:lpstr>
      <vt:lpstr>Interest Rate Scenario 3: Flattening the Curve Around 5Y </vt:lpstr>
      <vt:lpstr>Interest Rate Scenario 4: Steepening the Curve Around 5Y </vt:lpstr>
      <vt:lpstr>Interest Rate Scenario 5: Flattening the Curve Around 2Y </vt:lpstr>
      <vt:lpstr>Interest Rate Scenario 6: Steepening the Curve Around 2Y </vt:lpstr>
      <vt:lpstr>Cash Flow at Risk Across Maturities</vt:lpstr>
      <vt:lpstr>Hedging Strategy Analysis</vt:lpstr>
      <vt:lpstr>Calibration Choices: Tailoring CFaR to Treasury Governance</vt:lpstr>
      <vt:lpstr>CFaR – A tool and a framework</vt:lpstr>
      <vt:lpstr>Recommendation</vt:lpstr>
      <vt:lpstr>Team</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 Malik</dc:creator>
  <cp:lastModifiedBy>Abdul Malik</cp:lastModifiedBy>
  <cp:revision>4</cp:revision>
  <dcterms:created xsi:type="dcterms:W3CDTF">2025-09-22T13:15:20Z</dcterms:created>
  <dcterms:modified xsi:type="dcterms:W3CDTF">2025-09-23T14:34:41Z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0x0101000F964EA60144AF4C8BF187EC409E1C91</vt:lpwstr>
  </property>
  <property fmtid="{D5CDD505-2E9C-101B-9397-08002B2CF9AE}" pid="3" name="MediaServiceImageTags">
    <vt:lpwstr/>
  </property>
</Properties>
</file>