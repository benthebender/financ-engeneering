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Returns – What the 15-Year Monte-Carlo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50,000 paths on the actual funding waterfall; returns above the 1.0% guarantee on every percentile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1828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MONTE-CARLO RETURN DISTRIBUTION</a:t>
            </a:r>
          </a:p>
        </p:txBody>
      </p:sp>
      <p:pic>
        <p:nvPicPr>
          <p:cNvPr id="12" name="Picture 11" descr="lc_03_15year_IR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810512"/>
            <a:ext cx="6903720" cy="32234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79" y="1810512"/>
            <a:ext cx="4334256" cy="2084831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810512"/>
            <a:ext cx="433425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1929384"/>
            <a:ext cx="40416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F4E5F"/>
                </a:solidFill>
                <a:latin typeface="Calibri"/>
              </a:rPr>
              <a:t>How the returns are simulated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386584"/>
            <a:ext cx="4078224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50,000 paths, annual steps.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€5.0bn into the matched bond book at t=0; €0.5bn/yr into the 14-index return portfolio, years 1–10.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Multivariate Student-t (df 5),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scaled so the shock covariance equals the 10-year historical covariance; geometric-mean drift; −99% floor.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Realised in the sim: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return portfolio 11.1% mean / 16.5% vol p.a., bond book 3.9% / 5.2% — in line with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041648"/>
            <a:ext cx="4334256" cy="2084831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041648"/>
            <a:ext cx="433425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3" y="4160520"/>
            <a:ext cx="40416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F4E5F"/>
                </a:solidFill>
                <a:latin typeface="Calibri"/>
              </a:rPr>
              <a:t>What the returns say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4617720"/>
            <a:ext cx="4078224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Median 15-year IRR 6.5% p.a.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≈ 550 bps above the 1.0% guarantee; mean annual return 6.6%.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5th-percentile path 2.6% p.a., 0.5th-percentile 0.2%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— still positive, still ahead of the guaranteed accrual.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Median assets at year 15 ≈ €22.0bn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on €10.0bn of paid-in capital → median funded ratio 220%.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MEDIAN 15Y IRR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6.5% p.a.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money-weighted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73986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73986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2858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5TH-PCT IRR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92858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2.6% p.a.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92858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clears the guarantee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45635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5635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4507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0.5TH-PCT IRR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4507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0.2% p.a.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4507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still ≥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7286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7286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6157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MEAN ANNUAL 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6157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6.6%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6157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contribution-stripped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" y="63093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Source: mc_lifecycle.py / results_var/MC_LIFECYCLE_REPORT.md.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Keeping Within Our Risk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1-year 99% VaR against the board's economic risk limit and the Solvency II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1828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1-YEAR 99% VAR VS. THE RISK LIMIT</a:t>
            </a:r>
          </a:p>
        </p:txBody>
      </p:sp>
      <p:pic>
        <p:nvPicPr>
          <p:cNvPr id="12" name="Picture 11" descr="var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874519"/>
            <a:ext cx="6903720" cy="293041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79" y="1810512"/>
            <a:ext cx="4334256" cy="2084831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810512"/>
            <a:ext cx="433425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1929384"/>
            <a:ext cx="40416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F4E5F"/>
                </a:solidFill>
                <a:latin typeface="Calibri"/>
              </a:rPr>
              <a:t>Where the limit comes from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386584"/>
            <a:ext cx="4078224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Own funds (economic surplus) €3.19bn.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Board funding-ratio floor 1.20 → max tolerable 1-year asset loss €1.83bn.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Net of non-equity surplus risk,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the equity 99% 1y VaR limit is €0.83bn — rule-derived, not an arbitrary %.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Regulatory: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SCR (99.5%, internal model) €0.94bn → Solvency II ratio ≈ 340%; MCR ≈ €0.23bn (&gt; 1,300% covered).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041648"/>
            <a:ext cx="4334256" cy="2084831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041648"/>
            <a:ext cx="433425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3" y="4160520"/>
            <a:ext cx="40416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F4E5F"/>
                </a:solidFill>
                <a:latin typeface="Calibri"/>
              </a:rPr>
              <a:t>Where we 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4617720"/>
            <a:ext cx="4078224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Surplus 1y 99% VaR €1.21bn unhedged → €0.85bn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with the receiver-IRS overlay (−30%); Asset VaR €2.51bn.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Equity-futures overlay stays at 0%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— the IRS already brings surplus risk inside the board limit.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Monte-Carlo (Student-t + Heston VIX) surplus VaR €1.81bn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— fatter tails, still well inside own funds.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SURPLUS VAR (HEDGED)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€0.85bn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−30% vs unhedged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73986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73986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2858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SCR (99.5%, 1Y)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92858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€0.94bn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92858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internal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45635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5635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4507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SOLVENCY II 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4507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≈ 340%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4507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own funds / SCR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7286" y="5285232"/>
            <a:ext cx="1588769" cy="749808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7286" y="5285232"/>
            <a:ext cx="1588769" cy="4114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6157" y="5358384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1" i="0">
                <a:solidFill>
                  <a:srgbClr val="3B8E9E"/>
                </a:solidFill>
                <a:latin typeface="Calibri"/>
              </a:rPr>
              <a:t>EQUITY FUTURES HEDGE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6157" y="5541264"/>
            <a:ext cx="13693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12323F"/>
                </a:solidFill>
                <a:latin typeface="Calibri"/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6157" y="5843016"/>
            <a:ext cx="136931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IRS frees the budget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" y="63093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Source: results_var/HS_REPORT_full_(unhedged|hedged).md, HS_REPORT_scr_irs.md, MC_REPORT_mc_full.md, SOLVENCY_II.md.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Splitting Up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Standalone 99% 1-year loss by driver — and why they net to a much smaller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1828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STANDALONE 99% 1-YEAR LOSS BY DRIVER</a:t>
            </a:r>
          </a:p>
        </p:txBody>
      </p:sp>
      <p:pic>
        <p:nvPicPr>
          <p:cNvPr id="12" name="Picture 11" descr="risk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828800"/>
            <a:ext cx="7040880" cy="358270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810512"/>
            <a:ext cx="4242816" cy="2084831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810512"/>
            <a:ext cx="424281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1929384"/>
            <a:ext cx="39502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F4E5F"/>
                </a:solidFill>
                <a:latin typeface="Calibri"/>
              </a:rPr>
              <a:t>Rate risk nets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386584"/>
            <a:ext cx="3986783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The guaranteed liability PV moves €2.92bn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and the bond book €1.54bn on the same rate shocks — in the surplus they largely cancel (Surplus P&amp;L = ΔAssets − ΔLiability).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The receiver IRS (€0.98bn standalone)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sits between them and closes the residual duration gap, so the surplus's net rate exposure is ≈ 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041648"/>
            <a:ext cx="4242816" cy="2084831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041648"/>
            <a:ext cx="424281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35824" y="4160520"/>
            <a:ext cx="39502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F4E5F"/>
                </a:solidFill>
                <a:latin typeface="Calibri"/>
              </a:rPr>
              <a:t>The risks we choose to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617720"/>
            <a:ext cx="3986783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Equity €0.96bn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— the deliberate risk budget, funded by surplus, never touching the guarantee.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FX-hedge residual €0.19bn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— the 1-year rate differential on rolling the USD→EUR hedges; HY and rates/credit indices negligible.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B8E9E"/>
                </a:solidFill>
                <a:latin typeface="Calibri"/>
              </a:rPr>
              <a:t>•  </a:t>
            </a:r>
            <a:r>
              <a:rPr sz="930" b="1" i="0">
                <a:solidFill>
                  <a:srgbClr val="1F4E5F"/>
                </a:solidFill>
                <a:latin typeface="Calibri"/>
              </a:rPr>
              <a:t>Longevity is not a market-VaR driver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— it is handled by buffer sizing and optional reinsurance.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6089904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The standalone losses sum to &gt; €6bn but the diversified total surplus VaR is €0.85bn — the gap is diversification: rate moves hit assets and the liability together, and the IRS closes what is left.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