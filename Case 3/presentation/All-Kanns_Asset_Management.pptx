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137160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12880" y="228600"/>
            <a:ext cx="411480" cy="411480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7373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400" b="1" i="0">
                <a:solidFill>
                  <a:srgbClr val="12323F"/>
                </a:solidFill>
                <a:latin typeface="Calibri Light"/>
              </a:rPr>
              <a:t>Asset Management for the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400" b="1" i="0">
                <a:solidFill>
                  <a:srgbClr val="12323F"/>
                </a:solidFill>
                <a:latin typeface="Calibri Light"/>
              </a:rPr>
              <a:t>All-Kanns Life Insurance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05840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Financial Engineering  </a:t>
            </a:r>
            <a:r>
              <a:rPr sz="1600" b="0" i="0">
                <a:solidFill>
                  <a:srgbClr val="8A8A8A"/>
                </a:solidFill>
                <a:latin typeface="Calibri"/>
              </a:rPr>
              <a:t>|  Prof. Dr. Stefan Tilch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Group 3b  </a:t>
            </a:r>
            <a:r>
              <a:rPr sz="1300" b="0" i="0">
                <a:solidFill>
                  <a:srgbClr val="8A8A8A"/>
                </a:solidFill>
                <a:latin typeface="Calibri"/>
              </a:rPr>
              <a:t>|  1-year 99% VaR, EUR swap curve as of 2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Ben Lösche   ·   David Wolter   ·   Kira Clara Bøgeskov Pedersen   ·   Ishita Pandey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Manuel Blasco Blázquez   ·   Wiktor Murawski   ·   Zhuoran Wang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mandate, our approach and the outcome our model produces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MANDATE AT A GLANCE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€5.0bn → ~€10bn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100,000-policyholder book, contributions €0.5bn/yr for 10y, 15-year horizon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699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4699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61003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APPROACH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1003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2 sleeves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1003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Liability-matching bond book + surplus-funded return portfolio, split re-struck yearly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7064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7064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~6.0% p.a.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Median 15-year IRR; even the 5th-pct path (2.9%) clears the 1.0% guarantee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39428" y="1828800"/>
            <a:ext cx="2692908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39428" y="182880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5732" y="194767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THE RISK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5732" y="221284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700" b="1" i="0">
                <a:solidFill>
                  <a:srgbClr val="12323F"/>
                </a:solidFill>
                <a:latin typeface="Calibri"/>
              </a:rPr>
              <a:t>€0.85bn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5732" y="2724912"/>
            <a:ext cx="2418588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1-year 99% surplus VaR after the receiver-IRS overlay (€1.21bn before)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" y="3931920"/>
            <a:ext cx="11430000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059936"/>
            <a:ext cx="10972800" cy="8686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1">
                <a:solidFill>
                  <a:srgbClr val="FFFFFF"/>
                </a:solidFill>
                <a:latin typeface="Calibri"/>
              </a:rPr>
              <a:t>In short: </a:t>
            </a:r>
            <a:r>
              <a:rPr sz="1300" b="0" i="1">
                <a:solidFill>
                  <a:srgbClr val="FFFFFF"/>
                </a:solidFill>
                <a:latin typeface="Calibri"/>
              </a:rPr>
              <a:t>a cash-flow- and key-rate-matched bond book clears the €11.3bn guaranteed floor; the surplus funds an aggressive, diversified return portfolio with a 90/10 policyholder profit share. A par receiver-IRS overlay (no cash outlay) closes the residual duration gap.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175504"/>
            <a:ext cx="11338560" cy="1005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Funding waterfall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t=0 → €5.0bn into the liability-matching bond book;  t=1..10 → €0.5bn/yr into the return portfolio.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Every USD sleeve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is swapped back to EUR;  accounting basis IAS;  regulatory frame Solvency II / BaFin AnlV.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Client Situation / Needs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The book, the guarantee, the payout election and the regulatory frame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Client Profile and Portfolio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100,000 policyholders, one age cohort, a 10-year contribution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SET-UP OF ALL-KANNS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Baseline &amp; liabilities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Book value today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€5.0bn  (100,000 × €50,000).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Contributions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€5,000 per person per year, end of year, for 10 years  →  €0.5bn/yr.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One cohort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all insured are 50 (50% male);  no deaths assumed in the first 15 years.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Guarantee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1.0% p.a. Höchstrechnungszins on every euro paid in, to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Election at year 15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lump sum or a monthly pension (≥10 years); base case an even 50/50 split.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F4E5F"/>
                </a:solidFill>
                <a:latin typeface="Calibri"/>
              </a:rPr>
              <a:t>Accounting / regulation  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IAS;  Solvency II SCR (99.5%);  BaFin AnlV quantitative limits.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956816"/>
            <a:ext cx="530352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Cash flow to the insurer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5936" y="2395728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2414016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0  (age 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7173" y="2414016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existing assets  €5.0bn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2889504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 – 10  (51–60)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7173" y="2889504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+ €0.5bn per year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45936" y="3346704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3364992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11 – 14  (61–64)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7173" y="3364992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no contribution, no payment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3840479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15  (65)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7173" y="3840479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guaranteed benefits begin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4297679"/>
            <a:ext cx="5285232" cy="47548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4315967"/>
            <a:ext cx="2082637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16 – 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7173" y="4315967"/>
            <a:ext cx="2928274" cy="47548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pension tail for annuitants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Sources: assignment brief;  results/optimization_summary.txt  (guaranteed accumulated value €11.303bn at year 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Defined Payout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Contributions run 10 years; the year-15 election sets the payout shape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1" i="0">
                <a:solidFill>
                  <a:srgbClr val="1F4E5F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PAYOUT OPTIONS AT YEAR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Lump 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Accumulated guaranteed capital paid as a single amount at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Relationship ends – no residual risk to us after payment.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Monthly pension (annuity)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stream for life, guaranteed for at least 10 years (to year 25).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Beyond year 25 it continues only for survivors – longevity risk sits with 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CHOICE AT YEAR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50 / 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Base-case split; stressed ±25pp (results/policyholder_choice_scenarios.csv)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5488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85488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1792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CONTRIBUTION INFLOW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1792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€0.5bn/yr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1792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€5,000 × 100,000, years 1–10, end of year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8640" y="3931920"/>
            <a:ext cx="3663696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68640" y="3931920"/>
            <a:ext cx="3663696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4944" y="4050791"/>
            <a:ext cx="3389376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NO DEATHS YR 1–15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4944" y="4315968"/>
            <a:ext cx="338937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clean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4944" y="4828031"/>
            <a:ext cx="3389376" cy="804671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Mortality only enters the pension tail from year 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Pension tail modelled age 65→99 (Destatis Sterbetafel 2022/24), minimum 10 years guaranteed.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Our Expertise and Goals For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Why a liability-precision manager, not a generalist balanced fund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Why All-Kanns Should Choose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Four reasons, matched to the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OUR 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Liability-precision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One cohort, one contribution schedule – a genuine cash-flow + key-rate match.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Assets phased to the accumulation, bridge and payout stages of your liability.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IAS-aware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Built around fair-value volatility, not return alone – reported earnings protected.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Duration and key-rate DV01 calibrated to keep P&amp;L / OCI swings defensible.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50208"/>
            <a:ext cx="5532120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50208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078224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Embedded-option 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553712"/>
            <a:ext cx="5239512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We price the year-15 lump-sum-vs-pension election like a callable bond.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Structural insight most generalist managers overlook.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950208"/>
            <a:ext cx="5687568" cy="19659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950208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59" y="4078224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Scale and built-in margin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4553712"/>
            <a:ext cx="5394959" cy="12344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€5.0bn today → c.€10bn by year 10 – institutional pricing on every trade.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Engineered to clear the 1.0% guarantee with room to spare on the median path.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Objective: a partner who thinks like an ALM actuary and invests like an institutional asset manager.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Considerations and Market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Allocation management, the regulatory frame and the European backdrop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Considerations When Implementing the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Balancing liquidity, long-term return and regulation across a 15-year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KEY STRATEGIC CHALLENGES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Allocation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Cash buffer ahead of the year-15 lump-sum spike – no forced asset sales.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Stable, liquid book in the years 11–15 bridge.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Weight limits across asset classes for diversification.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7516368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75163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956816"/>
            <a:ext cx="713232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each challenge demands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395728"/>
            <a:ext cx="7223760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Sufficient cash / T-bills ahead of lump-sum payouts to meet benefits without selling into weakness.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stable, highly liquid portfolio through the residual bridge period to safeguard capital.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Operating inside the AnlV investable universe and internal policy limits.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Single-debtor ≤ 5% and corporate-group ≤ 3% of guarantee assets – concentration control.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Solvency II capital efficiency weighed against every return-seeking 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Quantitative Capital Requirements – Solvency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Directive 2009/138/EC – the frame our internal limits sit inside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ASSESSMENT PARAMETERS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SCR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5456" y="182880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8336" y="1920240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Capital to absorb unexpected loss over one year at 99.5% confidence (1-in-200); standard formula or internal model; own funds must cover it at all times.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" y="324612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37560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MCR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5456" y="324612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8336" y="3337560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Hard floor with an absolute minimum; always between 25% and 45% of the SCR.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4663440"/>
            <a:ext cx="1920240" cy="1234440"/>
          </a:xfrm>
          <a:prstGeom prst="roundRect">
            <a:avLst>
              <a:gd name="adj" fmla="val 4500"/>
            </a:avLst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54879"/>
            <a:ext cx="17373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Valuation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5456" y="4663440"/>
            <a:ext cx="9326880" cy="12344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8336" y="4754879"/>
            <a:ext cx="9052560" cy="109728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Assets and liabilities at market-consistent fair value; technical provisions = best-estimate liabilities + risk margin.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Our internal steering measure is a 1-year 99% VaR (below); the 99.5% SCR remains the binding regulatory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IAS Accounting Impact on the Balance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Accounting treatment steers the book toward stable, long-duration, transparent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IAS STANDARD → PORTFOLIO IMPLICATION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755648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Investment valuation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755648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1810512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HTM / AFS / FVTPL rules change how market moves hit P&amp;L vs OCI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4464" y="1755648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810512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Favours stable long-term bonds over volatile short-term holdings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2816352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71216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Liability measurement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816352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871216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Future obligations discounted (guarantee accrues at 1.0%; market value on the EUR curve)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4" y="2816352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871216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Match asset duration and key-rate profile to the liability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" y="3877056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931920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Revenue recognition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877056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9856" y="3931920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Income recognised when earned, not on mark-to-market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3877056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931920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Predictable, steady running yield aligned to payouts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937760"/>
            <a:ext cx="274320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992624"/>
            <a:ext cx="25603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1F4E5F"/>
                </a:solidFill>
                <a:latin typeface="Calibri"/>
              </a:rPr>
              <a:t>Reporting &amp; transparency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4937760"/>
            <a:ext cx="4846320" cy="9144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9856" y="4992624"/>
            <a:ext cx="461772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Low-volatility results and disclosure of key assumptions required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4937760"/>
            <a:ext cx="3547872" cy="914400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992624"/>
            <a:ext cx="3310128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1F4E5F"/>
                </a:solidFill>
                <a:latin typeface="Calibri"/>
              </a:rPr>
              <a:t>Transparent, low-turnover portfolio; documented stress + VaR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" y="6126480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800" b="0" i="1">
                <a:solidFill>
                  <a:srgbClr val="8A8A8A"/>
                </a:solidFill>
                <a:latin typeface="Calibri"/>
              </a:rPr>
              <a:t>Not accounting advice.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Eligible Asset Classes – BaFin AnlV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investable universe for guarantee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ELIGIBLE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Government &amp; public-sector bonds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core matching asset for long-dated liabilities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1104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1104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Covered bonds &amp; bank debt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secured, limited credit risk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18288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1" y="18288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5" y="19568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Corporate loans &amp; bonds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spread pick-up over sovereigns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2336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Equities &amp; participations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long-term return engine, capped by AnlV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1104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Structured credit (ABS / CLN)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permitted within tight limits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9871" y="32004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19871" y="32004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6175" y="33284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Real estate &amp; REITs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inflation-linked, illiquid diversifier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Investment funds (UCITS / AIF)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efficient diversified access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61104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8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Deposits &amp; cash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liquidity buffer for benefit payments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19871" y="4572000"/>
            <a:ext cx="3657600" cy="1225296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19871" y="4572000"/>
            <a:ext cx="3657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700016"/>
            <a:ext cx="33832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Opening-clause assets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only with explicit BaFin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BaFin Anlageverordnung (AnlV), 14.11.2018.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Prohibited Assets – BaFin AnlV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Excluded from the guarantee-asset universe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PROHIBITED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90195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Consumer / working-capital lending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consumer or working-capital loans, movable goods and claims on them, intangibles (patents, goodwill)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" y="288036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336" y="288036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95351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Group companies of the insurer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§18 AktG entities, unless a purely passive stake with no operational influence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3931920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3931920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005072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Outsourced service companies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firms performing the insurer's core insurance activities on its behalf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4983479"/>
            <a:ext cx="11430000" cy="914400"/>
          </a:xfrm>
          <a:prstGeom prst="roundRect">
            <a:avLst>
              <a:gd name="adj" fmla="val 4500"/>
            </a:avLst>
          </a:prstGeom>
          <a:solidFill>
            <a:srgbClr val="F6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2336" y="4983479"/>
            <a:ext cx="82296" cy="914400"/>
          </a:xfrm>
          <a:prstGeom prst="rect">
            <a:avLst/>
          </a:prstGeom>
          <a:solidFill>
            <a:srgbClr val="C8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056631"/>
            <a:ext cx="10972800" cy="8229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C85A2B"/>
                </a:solidFill>
                <a:latin typeface="Calibri"/>
              </a:rPr>
              <a:t>Crypto and digital assets  —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excluded from the guarantee-asset universe under AnlV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Quantitative Limitations Constrain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BaFin caps exposure by asset class to control concentration and valuation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MAXIMUM EXPOSURE (% OF GUARANTEE ASSETS)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1874519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Equities, PE &amp; subordinated debt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929384"/>
            <a:ext cx="512064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874519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2359152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Sovereigns &amp; public bodies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414016"/>
            <a:ext cx="384047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1" y="2359152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" y="2843784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Real estate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898648"/>
            <a:ext cx="320040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2843784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3328415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Covered bonds / public-sector banks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383279"/>
            <a:ext cx="192023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1" y="3328415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3813048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Credit-linked, hedge &amp; commodity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867911"/>
            <a:ext cx="960119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68112" y="3813048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7.5%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" y="4297680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Corporate loans (secured)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4352544"/>
            <a:ext cx="64008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8072" y="4297680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" y="4782312"/>
            <a:ext cx="393192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Infrastructure (own quota, Feb 2025)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4837176"/>
            <a:ext cx="640080" cy="31089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072" y="4782312"/>
            <a:ext cx="82296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6960" y="1828800"/>
            <a:ext cx="1865376" cy="37033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1956816"/>
            <a:ext cx="1645920" cy="34747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B8E9E"/>
                </a:solidFill>
                <a:latin typeface="Calibri"/>
              </a:rPr>
              <a:t>Also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single debtor ≤ 5%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corporate group ≤ 3%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single holding ≤ 1%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unlisted ≤ 15%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BaFin AnlV, 14.11.2018; amendment effective Feb 2025.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European Insurers Have Shifted Back to Fixed Income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ECB data: rate normalisation restored the appeal of long-duration bonds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WHAT THE BACKDROP TELLS 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77840" cy="39319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7784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48655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85231" cy="32004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Fixed income is the core.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Debt securities remain the dominant euro-area insurer asset class.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Funds / equity rose post-2020.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low-rate years pushed insurers up the risk curve.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4E5F"/>
                </a:solidFill>
                <a:latin typeface="Calibri"/>
              </a:rPr>
              <a:t>Now: back to debt.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ECB hikes lifted long-bond yields to ~3.3–3.6% on the EUR curve – a bond-anchored strategy is well timed.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39319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we take from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32004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€5.0bn liability-matching sleeve earns a ~4.0% running yield at today's spreads – comfortably above the 1.0%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Duration is available: the 15–30y part of the EUR curve is the natural home for this liability.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The return sleeve is funded only by surplus, so the bond anchor is never at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ECB insurance-corporation statistics, 2025; EUR swap curve as of 2 Sep 2026 (results/normalized_eur_swap_curve.csv).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Partnering to Enhance Performance Within the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Each client challenge matched to a concrete element of our support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YOUR CHALLENGE → OUR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74519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65960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Navigating the rate environment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874519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Optimised long-term allocation on real market data, structured to exceed 1.0% with stable income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" y="3246120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337560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Balancing solvency with performance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246120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337560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Solvency II capital and BaFin limits built directly into portfolio construction and risk reporting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4617720"/>
            <a:ext cx="5532120" cy="1170432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709159"/>
            <a:ext cx="530352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1F4E5F"/>
                </a:solidFill>
                <a:latin typeface="Calibri"/>
              </a:rPr>
              <a:t>Strengthening investment 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4617720"/>
            <a:ext cx="5687568" cy="1170432"/>
          </a:xfrm>
          <a:prstGeom prst="roundRect">
            <a:avLst>
              <a:gd name="adj" fmla="val 45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59"/>
            <a:ext cx="5440680" cy="100584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30" b="0" i="0">
                <a:solidFill>
                  <a:srgbClr val="333333"/>
                </a:solidFill>
                <a:latin typeface="Calibri"/>
              </a:rPr>
              <a:t>Transparent, data-driven process: quarterly ALM review, documented stress + 99% VaR limits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Product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Two sleeves: a matched bond floor, a surplus-funded return engine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Securing Long-Term Returns Above the 1.0% Guarantee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 two-sleeve strategy; model median 15-year IRR ≈ 6.0%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FROM HERE TO THERE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Where you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100,000 insured aged 50, 50/50 male/female.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AUM €5.0bn;  contributions €0.5bn/yr for 10y.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Guarantee 1.0% p.a.;  year-15 election lump vs pension.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370332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How we get there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3" y="2432304"/>
            <a:ext cx="341071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Years 0–10: invest inflows, run the return-efficient mix, build the liquidity buffer.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Years 11–15: no inflows – de-risk along a glidepath, pre-fund the year-15 payout.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Year 15+: pay benefits from the safe sleeve; monitor coverage.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48456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828800"/>
            <a:ext cx="36484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1" y="1956816"/>
            <a:ext cx="33192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Where you want to 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432304"/>
            <a:ext cx="3355848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Clear the 1.0% floor with a stable, investable, liability-aligned book.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Hold ≥ 1.1× the next 12 months of outflows in cash + sovereigns.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Quarterly ALM review; stress + 99% VaR limits.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Guarantee, Quantified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floor every asset decision must clear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PROMISE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943600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94360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61441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In words, and as a formula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650992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Every euro paid in – the €50,000 opening balance and each €5,000 contribution – compounds at 1.0% p.a. (Höchstrechnungszins) to year 15.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It keeps accruing through the 5-year bridge (years 10→15) after contributions stop.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5486400" cy="8229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2323F"/>
                </a:solidFill>
                <a:latin typeface="Calibri"/>
              </a:rPr>
              <a:t>FV₁₅  =  P₀·(1+g)¹⁵  +  Σ Cₜ·(1+g)¹⁵⁻ᵗ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Calibri"/>
              </a:rPr>
              <a:t>P₀ = €50,000   Cₜ = €5,000, t = 1…10   g = 1.0%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1828800"/>
            <a:ext cx="5376672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5664" y="1828800"/>
            <a:ext cx="5376672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1956816"/>
            <a:ext cx="5029200" cy="3200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The floor, three ways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432304"/>
            <a:ext cx="502920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6" y="245059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Per policyholder, yr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45059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€113,028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281635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Book at year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81635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0256" y="3163824"/>
            <a:ext cx="502920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1696" y="318211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PV today (50/50 split)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318211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≈ €6.4bn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1696" y="3547872"/>
            <a:ext cx="298094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333333"/>
                </a:solidFill>
                <a:latin typeface="Calibri"/>
              </a:rPr>
              <a:t>PV range across election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547872"/>
            <a:ext cx="1773936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€6.1 – 6.9bn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0256" y="4114800"/>
            <a:ext cx="502920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The €11.3bn is a year-15 figure. Discounted on the EUR swap curve and split 50/50 lump/pension, the benefit liability is worth ≈ €6.4bn today (duration ≈ 20y, DV01 ≈ €12.8m/bp, 11% of PV beyond 30y).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Lump Sum vs. Pension – Two Cash-Flow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year-15 election splits the liability into two very different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WHAT EACH CHOICE MEANS FOR 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Lump 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One payment at year 15, then the relationship ends.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Full guaranteed value in a single spike – a large, dated liquidity need.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Monthly pension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stream from year 15, guaranteed ≥ 10 years, then survivors only.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Smaller, spread outflows – but open-ended longevity risk.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3977639"/>
            <a:ext cx="11430000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3995927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6976" y="3995927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Lump sum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0375" y="3995927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Monthly pension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" y="4379976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4398264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Liquidity need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4398264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one large cash-out at year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5" y="4398264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spread over years, small monthly draws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4800600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Planning horizon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6976" y="4800600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fixed – ends at payment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0375" y="4800600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open-ended – to the last survivor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" y="5184648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5202936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Risk retained by 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36976" y="5202936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none after payment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0375" y="5202936"/>
            <a:ext cx="42062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longevity risk on every survivor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Mortality and Longevity – Sizing the 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Grounded in Germany's official life table; what it does not capture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DESTATIS STERBETAFEL 2022/24 – REMAINING LIFE EXPECTANCY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697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6416" y="1847088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2231136"/>
            <a:ext cx="11430000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2249424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Men (years)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30.2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18.0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14.2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6416" y="2249424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7.5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2651760"/>
            <a:ext cx="260604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Women (years)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3697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34.3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433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25.2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21.2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16.9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6416" y="2651760"/>
            <a:ext cx="1600200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8.9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" y="3200400"/>
            <a:ext cx="5532120" cy="26517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2336" y="32004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3284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Method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3803904"/>
            <a:ext cx="5239512" cy="19202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Destatis period table – a snapshot of today's mortality, not a cohort forecast.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Pension tail modelled age 65 → 99+ (a 50-year-old today can still be alive then).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3200400"/>
            <a:ext cx="5687568" cy="26517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32004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59" y="33284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Longevity risk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3" y="3803904"/>
            <a:ext cx="5394959" cy="19202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Blended remaining life at 65 ≈ 19.6 years for this 50/50 cohort.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A period table misses future mortality improvement – the cohort may live longer.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That gap sits with us on every pension electant; reinsurance is available if it grows.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Discounting the Guarantee Correctly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 flat rate misprices a 15-year liability – the term structure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EIOPA / EUR RISK-FREE TERM 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6766560" cy="3657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4406" y="184708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Spot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7371" y="184708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Discount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194560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21284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4406" y="221284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7371" y="221284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0.972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257860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4406" y="257860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2.95%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7371" y="257860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0.916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2926079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944368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4406" y="294436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2.99%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7371" y="2944368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0.862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331012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4406" y="331012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3.05%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7371" y="331012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0.808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3657599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367588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94406" y="367588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3.16%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7371" y="367588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0.732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404164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4406" y="404164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3.31%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7371" y="404164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0.613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" y="4389120"/>
            <a:ext cx="6766560" cy="365760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4407407"/>
            <a:ext cx="2163470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94406" y="440740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3.35%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7371" y="4407407"/>
            <a:ext cx="2095804" cy="36576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0.516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6640" y="1828800"/>
            <a:ext cx="4425696" cy="397763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1828800"/>
            <a:ext cx="442569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71231" y="1956816"/>
            <a:ext cx="409651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EIOPA, not a flat 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34656" y="2432304"/>
            <a:ext cx="4133087" cy="3246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EIOPA publishes a monthly market-consistent curve for Solvency II discounting; using it removes any temptation to pick a favourable rate.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Built from EUR swaps, extrapolated to a UFR ≈ 3.3%.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The curve runs ~2.8% at 1y to ~3.3% at 15y – not flat; a flat rate misprices a 15-year cash flow.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1" i="0">
                <a:solidFill>
                  <a:srgbClr val="1F4E5F"/>
                </a:solidFill>
                <a:latin typeface="Calibri"/>
              </a:rPr>
              <a:t>PV of the guarantee ≈ €6.4bn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(50/50 split; €6.9bn if 100% lump).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Sources: EIOPA_EUR_curve.xlsx; results/normalized_eur_swap_curve.csv (bootstrapped par-swap curve, 2 Sep 2026).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Base Case and Policyholder-Choice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How the year-15 liquidity need moves with the lump-sum election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LIABILITY SPLIT BY ELECTION</a:t>
            </a:r>
          </a:p>
        </p:txBody>
      </p:sp>
      <p:pic>
        <p:nvPicPr>
          <p:cNvPr id="12" name="Picture 11" descr="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828800"/>
            <a:ext cx="6858000" cy="28981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79" y="1828800"/>
            <a:ext cx="4334256" cy="40233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847088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3167" y="184708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Cash-out yr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93471" y="184708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PV today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2231136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2249424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3167" y="2249424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€0.0bn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3471" y="2249424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€5.35bn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651760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3167" y="2651760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€2.83bn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93471" y="2651760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€5.75bn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035808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19" y="3054096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50%  (base)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3167" y="3054096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€5.65bn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93471" y="3054096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€6.14bn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3456432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75%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3167" y="3456432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€8.48bn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93471" y="3456432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79" y="3840480"/>
            <a:ext cx="4334256" cy="402336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19" y="3858768"/>
            <a:ext cx="1336487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3167" y="385876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93471" y="3858768"/>
            <a:ext cx="1293144" cy="402336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€6.94bn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Base case: even 50/50 split (assignment gives the choice; we stress ±25pp). Source: mixed_liability_scenarios.xlsx.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Portfolio Architecture – Two Sleeves, One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Segregating the guaranteed floor from the surplus-return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532120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Liability-Matching Portfolio (LMP)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5239512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€5.0bn bond book, cash-flow + key-rate matched to the 1.0%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Small, by-design funding risk.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28800"/>
            <a:ext cx="5687568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82880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5681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Return-Seeking Portfolio (RSP)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432304"/>
            <a:ext cx="5394959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Contributions (€0.5bn/yr) invested in an aggressive, diversified index mix.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33333"/>
                </a:solidFill>
                <a:latin typeface="Calibri"/>
              </a:rPr>
              <a:t>Captures the upside above the floor; a bad year never touches the guarantee.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3977639"/>
            <a:ext cx="5532120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3977639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105655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581144"/>
            <a:ext cx="5239512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Standard insurance ALM – return risk can never endanger the floor.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Each sleeve judged on its own mandate; funded status transparent at any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977639"/>
            <a:ext cx="5687568" cy="1874519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977639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59" y="4105655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sets the split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4581144"/>
            <a:ext cx="5394959" cy="114299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Not a fixed %: the LMP is sized to the PV of the guaranteed liability.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Everything above the funded amount flows to the RSP; the split re-strikes yearly.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Liability-Matching Portfolio – Bonds, Precisely Matched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Cash-flow dedication, key-rate DV01 shaping, and a no-cash receiver-IRS overlay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HOW THE MATCH IS BUILT</a:t>
            </a:r>
          </a:p>
        </p:txBody>
      </p:sp>
      <p:pic>
        <p:nvPicPr>
          <p:cNvPr id="12" name="Picture 11" descr="k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858000" cy="291101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1783080"/>
            <a:ext cx="437997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783080"/>
            <a:ext cx="437997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1911095"/>
            <a:ext cx="405079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Four techniques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386584"/>
            <a:ext cx="4087368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Cash-flow dedication.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Stage 1: running cash balance ≥ 0 every year (1.5% reinvestment) – external top-up €0.00bn, covered to year 50.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Duration matching.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≈ 29y KRD-effective, matched to the ≈ 20y / €12.8m-per-bp liability.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Key-rate DV01.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Stage 2: match € per bp at each tenor, without giving back Stage-1 coverage or duration.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Receiver-IRS overlay.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Par swap, notional not exchanged – no cash. 15y €2.8bn + 30y €0.3bn closes the residual 15y gap.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5257800"/>
            <a:ext cx="6858000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5276088"/>
            <a:ext cx="1920240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11 bonds, ≈ €5.0bn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5276088"/>
            <a:ext cx="2263140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KRD-eff. duration ≈ 29y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1475" y="5276088"/>
            <a:ext cx="2263140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cash-flow top-up €0.00bn; surplus DV01 gap ≈ 0 after IRS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results_v2/portfolio_wide.csv (two-stage: Stage 1 cash-flow dedication, Stage 2 KRD shaping) + cashflow_match_v2.size_irs().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Return-Seeking Portfolio – Equities for the Surplus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Aggressive Diversified target weights across 14 investable indices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TARGET WEIGHTS</a:t>
            </a:r>
          </a:p>
        </p:txBody>
      </p:sp>
      <p:pic>
        <p:nvPicPr>
          <p:cNvPr id="12" name="Picture 11" descr="rsp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7040880" cy="318222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589520" y="1783080"/>
            <a:ext cx="424281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1783080"/>
            <a:ext cx="424281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911095"/>
            <a:ext cx="391363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2386584"/>
            <a:ext cx="3950207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≈ 92% equity across DAX, Nasdaq, Dow, MSCI World / Europe, Russell 2000, Asia-Pacific, plus rare-earth, health-care and Hong Kong satellites.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≈ 4% high yield, ≈ 2% gold, ≈ 1% euro treasuries for diversification.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6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60" b="0" i="0">
                <a:solidFill>
                  <a:srgbClr val="333333"/>
                </a:solidFill>
                <a:latin typeface="Calibri"/>
              </a:rPr>
              <a:t>Risk calibrated to surplus only – the guarantee is already secured by the LMP.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portfolio_optimization_final.xlsx, sheet 'Portfolio Weights', column Aggressive_Diversified.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Investment Rationale – Why These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Tying the two-sleeve architecture back to the quantified 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LMP VS RSP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5669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9776" y="1847088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Liability-Matching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775" y="1847088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Return-Seeking Portfolio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395728"/>
            <a:ext cx="11430000" cy="56692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414016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414016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match the 1.0% guarantee, minimal tracking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1775" y="2414016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capture the surplus – target ≈ 6% p.a. median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2980944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Instruments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2980944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EUR sovereign / SSA / covered bonds + ultra-long &amp; zero-coupon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5" y="2980944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broad developed + satellite equity indices, some HY / gold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3529584"/>
            <a:ext cx="11430000" cy="56692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3547872"/>
            <a:ext cx="2148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 i="0">
                <a:solidFill>
                  <a:srgbClr val="333333"/>
                </a:solidFill>
                <a:latin typeface="Calibri"/>
              </a:rPr>
              <a:t>Protects against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3547872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funding risk on the guarantee – the one liability we cannot get wrong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5" y="3547872"/>
            <a:ext cx="4434840" cy="56692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Calibri"/>
              </a:rPr>
              <a:t>missing the return that makes the mandate worth running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" y="4023360"/>
            <a:ext cx="11430000" cy="1737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60520"/>
            <a:ext cx="11155680" cy="15544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 single blended portfolio would force every decision to compromise between safety and return – under-funding the guarantee or under-delivering the target.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Every instrument screened for Solvency II capital, liquidity, diversification and implementation.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33333"/>
                </a:solidFill>
                <a:latin typeface="Calibri"/>
              </a:rPr>
              <a:t>A board can explain it in one line: the floor is matched, the upside is diversified.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Investable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One universe, two mandates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BY SLEEVE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3703320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Fixed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32304"/>
            <a:ext cx="3410712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4E5F"/>
                </a:solidFill>
                <a:latin typeface="Calibri"/>
              </a:rPr>
              <a:t>LMP: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EUR government &amp; SSA bonds (KfW, EU, Belgium, Austria, Netherlands, Germany), covered bonds, ultra-long and zero-coupon (STRIPS).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4E5F"/>
                </a:solidFill>
                <a:latin typeface="Calibri"/>
              </a:rPr>
              <a:t>RSP credit: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US corporate HY, Pan-European HY.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828800"/>
            <a:ext cx="3703320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1828800"/>
            <a:ext cx="37033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956816"/>
            <a:ext cx="33741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Equity indices (RSP)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3" y="2432304"/>
            <a:ext cx="3410712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DAX, Dow Jones, Nasdaq, MSCI World, MSCI Europe, Russell 2000, Bloomberg Asia-Pacific Aggregate.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Satellites: MVIS Global Rare Earth, MSCI World Health Care, iShares MSCI Hong Kong.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48456" cy="402336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828800"/>
            <a:ext cx="36484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1" y="1956816"/>
            <a:ext cx="33192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Diversifiers (RSP)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432304"/>
            <a:ext cx="3355848" cy="3291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Bloomberg Commodity – Gold.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Bloomberg Euro Treasury (liquid ballast).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portfolio_optimization_final.xlsx (14-index optimiser universe); Fixed Income Basket.xlsx + ZCB and ultra long coupon Bond.xlsx.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Portfolio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Does it work? 1-year 99% VaR, deterministic stress, 15-year Monte-Carlo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Risk Map – What All-Kanns Is Exposed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Four risks fall out of the strategy; each gets the same three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FOUR RISKS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8288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8288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751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1  Interest-rate / duration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Rate moves reprice both the LMP and the liability – the risk is the mismatch between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8288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8288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19751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2  Equity &amp; market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The RSP's core exposure – accepted deliberately, on surplus capital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38862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38862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0325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3  FX exposure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USD sleeves (US Treasuries, US equity, USD credit) create currency risk against a EUR guarantee.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3886200"/>
            <a:ext cx="5623560" cy="1828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08776" y="3886200"/>
            <a:ext cx="562356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4032504"/>
            <a:ext cx="5303520" cy="1554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4  Longevity &amp; election risk</a:t>
            </a:r>
          </a:p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 i="0">
                <a:solidFill>
                  <a:srgbClr val="333333"/>
                </a:solidFill>
                <a:latin typeface="Calibri"/>
              </a:rPr>
              <a:t>How long survivors live, and how many take the pension over the lump sum.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5989320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 i="1">
                <a:solidFill>
                  <a:srgbClr val="8A8A8A"/>
                </a:solidFill>
                <a:latin typeface="Calibri"/>
              </a:rPr>
              <a:t>For each: why it arises · how large (quantified) · accept, mitigate or transfer.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Risk Quantification and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For each risk: why it matters, how large it is, what we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QUANTIFIED (1-YEAR, CURRENT BOOK)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7863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2576" y="1847088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How large (quantified)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3175" y="1847088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615184"/>
            <a:ext cx="11430000" cy="78638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633472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Rate / 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633472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±100bp: LMP ≈ €1.05bn vs liability ≈ €1.22bn; surplus swing ≈ €0.16bn with the KRD + IRS match (≈ €0.53bn without the IRS)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5" y="2633472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– cash-flow + KRD + receiver IRS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419856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Equity /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2576" y="3419856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−30% equities ≈ −€1.41bn on the RSP – inside the €3.2bn economic surplus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3175" y="3419856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Accept – the deliberate risk budget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4187952"/>
            <a:ext cx="11430000" cy="78638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206240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2576" y="4206240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USD sleeves swapped to EUR; residual is the 1y rate-differential on the hedge roll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3175" y="4206240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– FX-swap the LMP; RSP partly unhedged as a diversifier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4992624"/>
            <a:ext cx="16916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30" b="1" i="0">
                <a:solidFill>
                  <a:srgbClr val="333333"/>
                </a:solidFill>
                <a:latin typeface="Calibri"/>
              </a:rPr>
              <a:t>Longevity / 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4992624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25%→75% lump swing moves the year-15 need €2.8bn→€8.5bn; +1yr life exp ≈ +€0.27bn liability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3175" y="4992624"/>
            <a:ext cx="4663440" cy="78638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Mitigate via buffer sizing; reinsurance available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results_var/stress_tests_full_irs.csv &amp; _unhedged.csv; results/policyholder_choice_scenarios.csv.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Does It Work?  One-Year 99% VaR and Surplus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mandated internal measure: 1-year 99% VaR on asset P&amp;L and on surplus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1-YEAR 99% VAR – HISTORICAL SIMULATION</a:t>
            </a:r>
          </a:p>
        </p:txBody>
      </p:sp>
      <p:pic>
        <p:nvPicPr>
          <p:cNvPr id="12" name="Picture 11" descr="var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949440" cy="294982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98079" y="1783080"/>
            <a:ext cx="4334256" cy="21488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783080"/>
            <a:ext cx="43342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1911095"/>
            <a:ext cx="40050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386584"/>
            <a:ext cx="4041648" cy="1417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468 overlapping 52-week windows of real factor history; rates as absolute changes, indices as log returns.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Non-normality kept: empirical tails + a Student-t / Heston Monte-Carlo cross-check.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4069080"/>
            <a:ext cx="4334256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4087368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Asset VaR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43333" y="4087368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€2.51bn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3554" y="4087368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25.1% of 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4471416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Surplus VaR (unhedged)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43333" y="4471416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€1.21bn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3554" y="4471416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17.8% of liab. PV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4837176"/>
            <a:ext cx="4334256" cy="384048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19" y="4855464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Surplus VaR (+ IRS)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3333" y="4855464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€0.85bn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3554" y="4855464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8.5% of 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5239512"/>
            <a:ext cx="2116653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33333"/>
                </a:solidFill>
                <a:latin typeface="Calibri"/>
              </a:rPr>
              <a:t>MC surplus VaR (t / Heston)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43333" y="5239512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€1.81bn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3554" y="5239512"/>
            <a:ext cx="903061" cy="384048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33333"/>
                </a:solidFill>
                <a:latin typeface="Calibri"/>
              </a:rPr>
              <a:t>fatter tails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Surplus P&amp;L = ΔAssets − ΔLiability.  Source: results_var/HS_REPORT_full_*.md, MC_REPORT_mc_full.md.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Stress Testing and 15-Year Monte-Carlo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Deterministic scenarios on the surplus, and the full distribution at year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DETERMINISTIC STRESS – SURPLUS P&amp;L</a:t>
            </a:r>
          </a:p>
        </p:txBody>
      </p:sp>
      <p:pic>
        <p:nvPicPr>
          <p:cNvPr id="12" name="Picture 11" descr="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00784"/>
            <a:ext cx="5852160" cy="2603391"/>
          </a:xfrm>
          <a:prstGeom prst="rect">
            <a:avLst/>
          </a:prstGeom>
        </p:spPr>
      </p:pic>
      <p:pic>
        <p:nvPicPr>
          <p:cNvPr id="13" name="Picture 12" descr="mc_year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700784"/>
            <a:ext cx="5394960" cy="234724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02336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MEDIAN ASSETS, YR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€20.7bn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15-year MC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4699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4699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61003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5TH PERCENTILE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1003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€14.3bn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1003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well above the floor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27064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7064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0.5TH PERCENTILE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€11.2bn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≈ the €11.3bn floor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9428" y="4983480"/>
            <a:ext cx="2692908" cy="11887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39428" y="4983480"/>
            <a:ext cx="2692908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5732" y="5102352"/>
            <a:ext cx="2418588" cy="2560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1" i="0">
                <a:solidFill>
                  <a:srgbClr val="3B8E9E"/>
                </a:solidFill>
                <a:latin typeface="Calibri"/>
              </a:rPr>
              <a:t>P(UNDERFUNDED)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5732" y="5367528"/>
            <a:ext cx="2418588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100" b="1" i="0">
                <a:solidFill>
                  <a:srgbClr val="12323F"/>
                </a:solidFill>
                <a:latin typeface="Calibri"/>
              </a:rPr>
              <a:t>&lt; 0.6%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5732" y="5879592"/>
            <a:ext cx="2418588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before the glidepath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" y="6291072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800" b="0" i="1">
                <a:solidFill>
                  <a:srgbClr val="8A8A8A"/>
                </a:solidFill>
                <a:latin typeface="Calibri"/>
              </a:rPr>
              <a:t>Sources: results_var/stress_tests_full_*.csv; monte_carlo_ALM_results.xlsx; 15Y median IRR ≈ 6.0%.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95728"/>
            <a:ext cx="1371600" cy="45720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3B8E9E"/>
                </a:solidFill>
                <a:latin typeface="Calibr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241280" cy="12801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 Light"/>
              </a:rPr>
              <a:t>What Happens With the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875520" cy="9144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 i="0">
                <a:solidFill>
                  <a:srgbClr val="AEC4CB"/>
                </a:solidFill>
                <a:latin typeface="Calibri"/>
              </a:rPr>
              <a:t>The cash-flow structure, the flows under every election scenario, and the 90/10 share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The Cash-Flow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Contributions in for 10 years; a year-15 spike, then a 35-year pension 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ASSET VS. GUARANTEED-LIABILITY CASH FLOWS</a:t>
            </a:r>
          </a:p>
        </p:txBody>
      </p:sp>
      <p:pic>
        <p:nvPicPr>
          <p:cNvPr id="12" name="Picture 11" descr="cf_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83080"/>
            <a:ext cx="6949440" cy="294982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02336" y="5029200"/>
            <a:ext cx="6949440" cy="347472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5047488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Years 1–10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1641" y="5047488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+ €0.5bn / yr contributions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28" y="5047488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Return portfolio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5394959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1641" y="5394959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− €5.65bn lump sum (50/50)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2428" y="5394959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safe sleeve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5724144"/>
            <a:ext cx="6949440" cy="347472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5742431"/>
            <a:ext cx="1530705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Years 16–50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1641" y="5742431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− ≈ €0.3bn / yr pension 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2428" y="5742431"/>
            <a:ext cx="2503627" cy="34747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→ coupons + reinvestment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79" y="1783080"/>
            <a:ext cx="4334256" cy="411480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1783080"/>
            <a:ext cx="433425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62671" y="1911095"/>
            <a:ext cx="400507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Reading the 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6096" y="2386584"/>
            <a:ext cx="4041648" cy="3383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Years 1–10.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€0.5bn/yr contributions fund the RSP; the LMP coupons accrue.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 15.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the lump-sum spike – €5.65bn at 50/50 (€2.3–9.0bn across the election).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Years 16–50.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≈ €0.3bn/yr pension tail, decaying with mortality; 11% of PV beyond year 30.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19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19" b="1" i="0">
                <a:solidFill>
                  <a:srgbClr val="1F4E5F"/>
                </a:solidFill>
                <a:latin typeface="Calibri"/>
              </a:rPr>
              <a:t>Coverage.  </a:t>
            </a:r>
            <a:r>
              <a:rPr sz="919" b="0" i="0">
                <a:solidFill>
                  <a:srgbClr val="333333"/>
                </a:solidFill>
                <a:latin typeface="Calibri"/>
              </a:rPr>
              <a:t>Stage-1 dedication keeps the running cash balance ≥ 0 every year to year 50 – no external top-up; ultra-long / zero-coupon bonds reach the 30y+ tail.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Flows Under Every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The year-15 need and the pension tail move with the election; the surplus absorbs the market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POLICYHOLDER-ELECTION SCENARIOS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1828800"/>
            <a:ext cx="11430000" cy="42062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847088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6976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Lump-sum at yr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675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Pensioners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Pension PV at yr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2076" y="1847088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Total PV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249424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67712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0% lump / 100% pension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€0.0bn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8675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100,000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0375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€8.72bn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2076" y="2267712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€5.35bn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2688336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25% / 75%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36976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€2.83bn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8675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75,000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5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52076" y="2688336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€5.75bn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" y="3090672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" y="3108960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50% / 50%  (base case)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36976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€5.65bn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8675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50,000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5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€4.36bn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2076" y="3108960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€6.14bn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3529584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75% / 25%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36976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€8.48bn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8675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0375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€2.18bn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52076" y="3529584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€6.54bn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" y="3931920"/>
            <a:ext cx="11430000" cy="420624"/>
          </a:xfrm>
          <a:prstGeom prst="rect">
            <a:avLst/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3950207"/>
            <a:ext cx="26060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100% / 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36976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€11.30bn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08675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0375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€0.00bn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52076" y="3950207"/>
            <a:ext cx="2034540" cy="420624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€6.94bn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" y="4480560"/>
            <a:ext cx="5532120" cy="14630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2336" y="4480560"/>
            <a:ext cx="553212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4608576"/>
            <a:ext cx="520293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Market path on top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" y="5084064"/>
            <a:ext cx="5239512" cy="7315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Base 15y median assets €20.7bn vs a €10.0bn liability → funded ratio ≈ 2.1×.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Even the 0.5th-percentile path (€11.2bn) covers the €11.3bn floor.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44768" y="4480560"/>
            <a:ext cx="5687568" cy="146304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4480560"/>
            <a:ext cx="5687568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59" y="4608576"/>
            <a:ext cx="5358383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So the upside is real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2783" y="5084064"/>
            <a:ext cx="5394959" cy="7315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Across every election and almost every market path the book finishes above the guarantee.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50" b="0" i="0">
                <a:solidFill>
                  <a:srgbClr val="333333"/>
                </a:solidFill>
                <a:latin typeface="Calibri"/>
              </a:rPr>
              <a:t>P(underfunded) ≈ 0.1% at the base election, still &lt; 0.6% even at a 100% lump election – before the de-risking glidepath.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mixed_liability_scenarios.xlsx (Scenario Summary); monte_carlo_ALM_results.xlsx (Scenario EUR bn).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Sharing the Upside – 90 / 10 on the Return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A requirement: 90% of the return book's yearly profit goes to policyholders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WHERE THE SURPLUS GOES</a:t>
            </a:r>
          </a:p>
        </p:txBody>
      </p:sp>
      <p:pic>
        <p:nvPicPr>
          <p:cNvPr id="12" name="Picture 11" descr="profi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737360"/>
            <a:ext cx="6858000" cy="291101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1737360"/>
            <a:ext cx="4379976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737360"/>
            <a:ext cx="437997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1865376"/>
            <a:ext cx="4050791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340864"/>
            <a:ext cx="4087368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1" i="0">
                <a:solidFill>
                  <a:srgbClr val="1F4E5F"/>
                </a:solidFill>
                <a:latin typeface="Calibri"/>
              </a:rPr>
              <a:t>90% to policyholders.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each year's investment profit on the RSP is 90% distributed, funded by selling an equal EUR amount from every sleeve.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1" i="0">
                <a:solidFill>
                  <a:srgbClr val="1F4E5F"/>
                </a:solidFill>
                <a:latin typeface="Calibri"/>
              </a:rPr>
              <a:t>10% retained, reinvested.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stays in the book and compounds; losses carry forward and net against future profit first.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1" i="0">
                <a:solidFill>
                  <a:srgbClr val="1F4E5F"/>
                </a:solidFill>
                <a:latin typeface="Calibri"/>
              </a:rPr>
              <a:t>Over the 10-year accumulation.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contributions €5.00bn → return-book MV €5.26bn; €2.31bn shared to policyholders; €0.26bn retained.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30" b="1" i="0">
                <a:solidFill>
                  <a:srgbClr val="1F4E5F"/>
                </a:solidFill>
                <a:latin typeface="Calibri"/>
              </a:rPr>
              <a:t>Guarantee untouched.  </a:t>
            </a:r>
            <a:r>
              <a:rPr sz="930" b="0" i="0">
                <a:solidFill>
                  <a:srgbClr val="333333"/>
                </a:solidFill>
                <a:latin typeface="Calibri"/>
              </a:rPr>
              <a:t>the 90% is a pass-through off the insurer's asset side – it never draws on the LMP.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Source: return_book.py / results_var/RETURN_BOOK_REPORT.md.  Naive fully-reinvested book (no share) would be €8.39bn.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"/>
            <a:ext cx="128016" cy="566928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59184" y="182880"/>
            <a:ext cx="310896" cy="310896"/>
          </a:xfrm>
          <a:prstGeom prst="rect">
            <a:avLst/>
          </a:prstGeom>
          <a:solidFill>
            <a:srgbClr val="E08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19456"/>
            <a:ext cx="10881360" cy="566928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 i="0">
                <a:solidFill>
                  <a:srgbClr val="12323F"/>
                </a:solidFill>
                <a:latin typeface="Calibri Light"/>
              </a:rPr>
              <a:t>Key Selling Points and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749808"/>
            <a:ext cx="1115568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 i="0">
                <a:solidFill>
                  <a:srgbClr val="3B8E9E"/>
                </a:solidFill>
                <a:latin typeface="Calibri"/>
              </a:rPr>
              <a:t>What we propose, and why All-Kanns should mandate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33856"/>
            <a:ext cx="11430000" cy="12801"/>
          </a:xfrm>
          <a:prstGeom prst="rect">
            <a:avLst/>
          </a:prstGeom>
          <a:solidFill>
            <a:srgbClr val="C7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164592"/>
            <a:ext cx="640080" cy="2743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6437376"/>
            <a:ext cx="113385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00" b="0" i="0">
                <a:solidFill>
                  <a:srgbClr val="B6C2C6"/>
                </a:solidFill>
                <a:latin typeface="Calibri"/>
              </a:rPr>
              <a:t>CLIENT SITUATION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OUR SELLING POINTS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STRATEGIC CHALLENGES &amp; MARKET OVERVIEW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PRODUCT STRATEGY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PORTFOLIO RESULTS</a:t>
            </a:r>
            <a:r>
              <a:rPr sz="800" b="0" i="0">
                <a:solidFill>
                  <a:srgbClr val="B6C2C6"/>
                </a:solidFill>
                <a:latin typeface="Calibri"/>
              </a:rPr>
              <a:t>   |   </a:t>
            </a:r>
            <a:r>
              <a:rPr sz="800" b="1" i="0">
                <a:solidFill>
                  <a:srgbClr val="1F4E5F"/>
                </a:solidFill>
                <a:latin typeface="Calibri"/>
              </a:rPr>
              <a:t>WHAT HAPPENS WITH THE UPSIDE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316736"/>
            <a:ext cx="11430000" cy="329184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0451"/>
            <a:ext cx="11155680" cy="30175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1783080"/>
            <a:ext cx="5715000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1783080"/>
            <a:ext cx="5715000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11095"/>
            <a:ext cx="5385816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What we 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386584"/>
            <a:ext cx="5422392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Split the book.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€5.0bn into a cash-flow + key-rate matched LMP; contributions into the Aggressive Diversified RSP; re-strike the split yearly.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Add a receiver-IRS overlay.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15y €2.8bn + 30y €0.3bn, par, notional not exchanged – no cash, only variation margin.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Extend the LMP.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ultra-long and zero-coupon (STRIPS) bonds to reach the 20y+ liability without breaching the 15% instrument cap.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Swap USD → EUR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on every sleeve; leave part of the RSP unhedged as a diversifier.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Glidepath years 11–15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de-risk into the year-15 payout; hold ≥ 1.1× the next 12m of outflows in cash + sovereigns.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68696" cy="4160520"/>
          </a:xfrm>
          <a:prstGeom prst="roundRect">
            <a:avLst>
              <a:gd name="adj" fmla="val 4500"/>
            </a:avLst>
          </a:prstGeom>
          <a:solidFill>
            <a:srgbClr val="ED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68696" cy="50292"/>
          </a:xfrm>
          <a:prstGeom prst="rect">
            <a:avLst/>
          </a:prstGeom>
          <a:solidFill>
            <a:srgbClr val="3B8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1911095"/>
            <a:ext cx="5239512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1F4E5F"/>
                </a:solidFill>
                <a:latin typeface="Calibri"/>
              </a:rPr>
              <a:t>Why it wins the mandate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5" y="2386584"/>
            <a:ext cx="5276088" cy="3429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Floor is safe.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€11.3bn guarantee covered even on the 0.5th-percentile 15-year path; P(underfunded) &lt; 0.6%.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Upside is real.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median 15-year IRR ≈ 6.0% – ≈ 500bps above the 1.0% guarantee; 90% shared with policyholders.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Risk is controlled.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1-year 99% surplus VaR €0.85bn after the overlay (−30%); every stress inside the €3.2bn surplus.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IAS-defensible.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duration + KRD matched, so LMP mark-to-market offsets the liability; low turnover.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40" b="0" i="0">
                <a:solidFill>
                  <a:srgbClr val="333333"/>
                </a:solidFill>
                <a:latin typeface="Calibri"/>
              </a:rPr>
              <a:t>•  </a:t>
            </a:r>
            <a:r>
              <a:rPr sz="940" b="1" i="0">
                <a:solidFill>
                  <a:srgbClr val="1F4E5F"/>
                </a:solidFill>
                <a:latin typeface="Calibri"/>
              </a:rPr>
              <a:t>Fully compliant.  </a:t>
            </a:r>
            <a:r>
              <a:rPr sz="940" b="0" i="0">
                <a:solidFill>
                  <a:srgbClr val="333333"/>
                </a:solidFill>
                <a:latin typeface="Calibri"/>
              </a:rPr>
              <a:t>Solvency II capital and BaFin AnlV limits built into construction and reporting.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" y="6053328"/>
            <a:ext cx="114300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1">
                <a:solidFill>
                  <a:srgbClr val="8A8A8A"/>
                </a:solidFill>
                <a:latin typeface="Calibri"/>
              </a:rPr>
              <a:t>One line for the board: the floor is matched, the upside is diversified and shared, and the residual risk is hedged for no cash.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