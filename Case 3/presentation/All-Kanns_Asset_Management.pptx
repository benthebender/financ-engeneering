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12880" y="228600"/>
            <a:ext cx="411480" cy="411480"/>
          </a:xfrm>
          <a:prstGeom prst="rect">
            <a:avLst/>
          </a:prstGeom>
          <a:solidFill>
            <a:srgbClr val="E08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17373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400" b="1" i="0">
                <a:solidFill>
                  <a:srgbClr val="12323F"/>
                </a:solidFill>
                <a:latin typeface="Calibri Light"/>
              </a:rPr>
              <a:t>Asset Management for the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400" b="1" i="0">
                <a:solidFill>
                  <a:srgbClr val="12323F"/>
                </a:solidFill>
                <a:latin typeface="Calibri Light"/>
              </a:rPr>
              <a:t>All-Kanns Life Insurance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058400" cy="9144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Financial Engineering  </a:t>
            </a:r>
            <a:r>
              <a:rPr sz="1600" b="0" i="0">
                <a:solidFill>
                  <a:srgbClr val="8A8A8A"/>
                </a:solidFill>
                <a:latin typeface="Calibri"/>
              </a:rPr>
              <a:t>|  Prof. Dr. Stefan Tilch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Group 3b  </a:t>
            </a:r>
            <a:r>
              <a:rPr sz="1300" b="0" i="0">
                <a:solidFill>
                  <a:srgbClr val="8A8A8A"/>
                </a:solidFill>
                <a:latin typeface="Calibri"/>
              </a:rPr>
              <a:t>|  1-year 99% VaR, EUR swap curve as of 2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10607040" cy="10972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Ben Lösche   ·   David Wolter   ·   Kira Clara Bøgeskov Pedersen   ·   Ishita Pandey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Manuel Blasco Blázquez   ·   Wiktor Murawski   ·   Zhuoran Wang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8016" cy="566928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59184" y="182880"/>
            <a:ext cx="310896" cy="310896"/>
          </a:xfrm>
          <a:prstGeom prst="rect">
            <a:avLst/>
          </a:prstGeom>
          <a:solidFill>
            <a:srgbClr val="E08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10881360" cy="56692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12323F"/>
                </a:solidFill>
                <a:latin typeface="Calibri Light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749808"/>
            <a:ext cx="1115568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0" i="0">
                <a:solidFill>
                  <a:srgbClr val="3B8E9E"/>
                </a:solidFill>
                <a:latin typeface="Calibri"/>
              </a:rPr>
              <a:t>The mandate, our approach and the outcome our model produces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" y="1133856"/>
            <a:ext cx="11430000" cy="12801"/>
          </a:xfrm>
          <a:prstGeom prst="rect">
            <a:avLst/>
          </a:prstGeom>
          <a:solidFill>
            <a:srgbClr val="C7D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164592"/>
            <a:ext cx="6400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6437376"/>
            <a:ext cx="1133856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800" b="1" i="0">
                <a:solidFill>
                  <a:srgbClr val="1F4E5F"/>
                </a:solidFill>
                <a:latin typeface="Calibri"/>
              </a:rPr>
              <a:t>CLIENT SITUATION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OUR SELLING POINTS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STRATEGIC CHALLENGES &amp; MARKET OVERVIEW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PRODUCT STRATEGY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PORTFOLIO RESULTS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WHAT HAPPENS WITH THE UPSIDE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" y="1316736"/>
            <a:ext cx="11430000" cy="329184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30451"/>
            <a:ext cx="11155680" cy="30175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THE MANDATE AT A GLANCE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" y="1828800"/>
            <a:ext cx="2692908" cy="173736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336" y="1828800"/>
            <a:ext cx="2692908" cy="45720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947672"/>
            <a:ext cx="2418588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1" i="0">
                <a:solidFill>
                  <a:srgbClr val="3B8E9E"/>
                </a:solidFill>
                <a:latin typeface="Calibri"/>
              </a:rPr>
              <a:t>THE 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212848"/>
            <a:ext cx="2418588" cy="4572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700" b="1" i="0">
                <a:solidFill>
                  <a:srgbClr val="12323F"/>
                </a:solidFill>
                <a:latin typeface="Calibri"/>
              </a:rPr>
              <a:t>€5.0bn → ~€10bn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24912"/>
            <a:ext cx="2418588" cy="804671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100,000-policyholder book, contributions €0.5bn/yr for 10y, 15-year horizon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14699" y="1828800"/>
            <a:ext cx="2692908" cy="173736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14699" y="1828800"/>
            <a:ext cx="2692908" cy="45720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61003" y="1947672"/>
            <a:ext cx="2418588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1" i="0">
                <a:solidFill>
                  <a:srgbClr val="3B8E9E"/>
                </a:solidFill>
                <a:latin typeface="Calibri"/>
              </a:rPr>
              <a:t>THE APPROACH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1003" y="2212848"/>
            <a:ext cx="2418588" cy="4572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700" b="1" i="0">
                <a:solidFill>
                  <a:srgbClr val="12323F"/>
                </a:solidFill>
                <a:latin typeface="Calibri"/>
              </a:rPr>
              <a:t>2 sleeves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61003" y="2724912"/>
            <a:ext cx="2418588" cy="804671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Liability-matching bond book + surplus-funded return portfolio, split re-struck yearly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27064" y="1828800"/>
            <a:ext cx="2692908" cy="173736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7064" y="1828800"/>
            <a:ext cx="2692908" cy="45720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1947672"/>
            <a:ext cx="2418588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1" i="0">
                <a:solidFill>
                  <a:srgbClr val="3B8E9E"/>
                </a:solidFill>
                <a:latin typeface="Calibri"/>
              </a:rPr>
              <a:t>THE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2212848"/>
            <a:ext cx="2418588" cy="4572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700" b="1" i="0">
                <a:solidFill>
                  <a:srgbClr val="12323F"/>
                </a:solidFill>
                <a:latin typeface="Calibri"/>
              </a:rPr>
              <a:t>~5.9% p.a.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2724912"/>
            <a:ext cx="2418588" cy="804671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Median 15-year IRR (money-weighted); median funded ratio 205% at year 15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39428" y="1828800"/>
            <a:ext cx="2692908" cy="173736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39428" y="1828800"/>
            <a:ext cx="2692908" cy="45720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5732" y="1947672"/>
            <a:ext cx="2418588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1" i="0">
                <a:solidFill>
                  <a:srgbClr val="3B8E9E"/>
                </a:solidFill>
                <a:latin typeface="Calibri"/>
              </a:rPr>
              <a:t>THE RISK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5732" y="2212848"/>
            <a:ext cx="2418588" cy="4572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700" b="1" i="0">
                <a:solidFill>
                  <a:srgbClr val="12323F"/>
                </a:solidFill>
                <a:latin typeface="Calibri"/>
              </a:rPr>
              <a:t>€0.85bn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5732" y="2724912"/>
            <a:ext cx="2418588" cy="804671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1-year 99% surplus VaR after the receiver-IRS overlay (€1.21bn before)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2336" y="3931920"/>
            <a:ext cx="11430000" cy="1051560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4059936"/>
            <a:ext cx="10972800" cy="8686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1">
                <a:solidFill>
                  <a:srgbClr val="FFFFFF"/>
                </a:solidFill>
                <a:latin typeface="Calibri"/>
              </a:rPr>
              <a:t>In short: </a:t>
            </a:r>
            <a:r>
              <a:rPr sz="1300" b="0" i="1">
                <a:solidFill>
                  <a:srgbClr val="FFFFFF"/>
                </a:solidFill>
                <a:latin typeface="Calibri"/>
              </a:rPr>
              <a:t>a cash-flow- and key-rate-matched bond book clears the €11.3bn guaranteed floor; the surplus funds an aggressive, diversified return portfolio, with a 90/10 policyholder profit share from year 15. A par receiver-IRS overlay (no cash outlay) closes the residual duration gap.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175504"/>
            <a:ext cx="11338560" cy="10058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1F4E5F"/>
                </a:solidFill>
                <a:latin typeface="Calibri"/>
              </a:rPr>
              <a:t>Funding waterfall  </a:t>
            </a:r>
            <a:r>
              <a:rPr sz="1050" b="0" i="0">
                <a:solidFill>
                  <a:srgbClr val="333333"/>
                </a:solidFill>
                <a:latin typeface="Calibri"/>
              </a:rPr>
              <a:t>t=0 → €5.0bn into the liability-matching bond book;  t=1..10 → €0.5bn/yr into the return portfolio.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1F4E5F"/>
                </a:solidFill>
                <a:latin typeface="Calibri"/>
              </a:rPr>
              <a:t>Every USD sleeve  </a:t>
            </a:r>
            <a:r>
              <a:rPr sz="1050" b="0" i="0">
                <a:solidFill>
                  <a:srgbClr val="333333"/>
                </a:solidFill>
                <a:latin typeface="Calibri"/>
              </a:rPr>
              <a:t>is swapped back to EUR;  accounting basis IAS;  regulatory frame Solvency II / BaFin AnlV.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395728"/>
            <a:ext cx="1371600" cy="45720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73152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3B8E9E"/>
                </a:solidFill>
                <a:latin typeface="Calibri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241280" cy="12801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 Light"/>
              </a:rPr>
              <a:t>Client Situation / Needs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9875520" cy="9144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00" b="0" i="0">
                <a:solidFill>
                  <a:srgbClr val="AEC4CB"/>
                </a:solidFill>
                <a:latin typeface="Calibri"/>
              </a:rPr>
              <a:t>The book, the guarantee, the payout election and the regulatory frame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8016" cy="566928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59184" y="182880"/>
            <a:ext cx="310896" cy="310896"/>
          </a:xfrm>
          <a:prstGeom prst="rect">
            <a:avLst/>
          </a:prstGeom>
          <a:solidFill>
            <a:srgbClr val="E08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10881360" cy="56692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12323F"/>
                </a:solidFill>
                <a:latin typeface="Calibri Light"/>
              </a:rPr>
              <a:t>Client Profile and Portfolio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749808"/>
            <a:ext cx="1115568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0" i="0">
                <a:solidFill>
                  <a:srgbClr val="3B8E9E"/>
                </a:solidFill>
                <a:latin typeface="Calibri"/>
              </a:rPr>
              <a:t>100,000 policyholders, one age cohort, a 10-year contribution horizon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" y="1133856"/>
            <a:ext cx="11430000" cy="12801"/>
          </a:xfrm>
          <a:prstGeom prst="rect">
            <a:avLst/>
          </a:prstGeom>
          <a:solidFill>
            <a:srgbClr val="C7D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164592"/>
            <a:ext cx="6400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6437376"/>
            <a:ext cx="1133856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800" b="1" i="0">
                <a:solidFill>
                  <a:srgbClr val="1F4E5F"/>
                </a:solidFill>
                <a:latin typeface="Calibri"/>
              </a:rPr>
              <a:t>CLIENT SITUATION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OUR SELLING POINTS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STRATEGIC CHALLENGES &amp; MARKET OVERVIEW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PRODUCT STRATEGY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PORTFOLIO RESULTS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WHAT HAPPENS WITH THE UPSIDE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" y="1316736"/>
            <a:ext cx="11430000" cy="329184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30451"/>
            <a:ext cx="11155680" cy="30175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SET-UP OF ALL-KANNS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" y="1828800"/>
            <a:ext cx="5532120" cy="3977639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336" y="1828800"/>
            <a:ext cx="5532120" cy="50292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956816"/>
            <a:ext cx="5202936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1F4E5F"/>
                </a:solidFill>
                <a:latin typeface="Calibri"/>
              </a:rPr>
              <a:t>Baseline &amp; liabilities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432304"/>
            <a:ext cx="5239512" cy="32461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F4E5F"/>
                </a:solidFill>
                <a:latin typeface="Calibri"/>
              </a:rPr>
              <a:t>Book value today  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€5.0bn  (100,000 × €50,000).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F4E5F"/>
                </a:solidFill>
                <a:latin typeface="Calibri"/>
              </a:rPr>
              <a:t>Contributions  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€5,000 per person per year, end of year, for 10 years  →  €0.5bn/yr.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F4E5F"/>
                </a:solidFill>
                <a:latin typeface="Calibri"/>
              </a:rPr>
              <a:t>One cohort  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all insured are 50 (50% male);  no deaths assumed in the first 15 years.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F4E5F"/>
                </a:solidFill>
                <a:latin typeface="Calibri"/>
              </a:rPr>
              <a:t>Guarantee  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1.0% p.a. Höchstrechnungszins on every euro paid in, to year 15.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F4E5F"/>
                </a:solidFill>
                <a:latin typeface="Calibri"/>
              </a:rPr>
              <a:t>Election at year 15  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lump sum or a monthly pension (≥10 years); base case an even 50/50 split.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F4E5F"/>
                </a:solidFill>
                <a:latin typeface="Calibri"/>
              </a:rPr>
              <a:t>Accounting / regulation  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IAS;  Solvency II SCR (99.5%);  BaFin AnlV quantitative limits.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1828800"/>
            <a:ext cx="5687568" cy="3977639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44768" y="1828800"/>
            <a:ext cx="5687568" cy="50292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956816"/>
            <a:ext cx="530352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1F4E5F"/>
                </a:solidFill>
                <a:latin typeface="Calibri"/>
              </a:rPr>
              <a:t>Cash flow to the insurer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45936" y="2395728"/>
            <a:ext cx="5285232" cy="475488"/>
          </a:xfrm>
          <a:prstGeom prst="rect">
            <a:avLst/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2414016"/>
            <a:ext cx="2082637" cy="47548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333333"/>
                </a:solidFill>
                <a:latin typeface="Calibri"/>
              </a:rPr>
              <a:t>0  (age 50)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7173" y="2414016"/>
            <a:ext cx="2928274" cy="47548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existing assets  €5.0bn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2889504"/>
            <a:ext cx="2082637" cy="47548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333333"/>
                </a:solidFill>
                <a:latin typeface="Calibri"/>
              </a:rPr>
              <a:t>1 – 10  (51–60)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57173" y="2889504"/>
            <a:ext cx="2928274" cy="47548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+ €0.5bn per year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45936" y="3346704"/>
            <a:ext cx="5285232" cy="475488"/>
          </a:xfrm>
          <a:prstGeom prst="rect">
            <a:avLst/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6" y="3364992"/>
            <a:ext cx="2082637" cy="47548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333333"/>
                </a:solidFill>
                <a:latin typeface="Calibri"/>
              </a:rPr>
              <a:t>11 – 14  (61–64)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57173" y="3364992"/>
            <a:ext cx="2928274" cy="47548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no contribution, no payment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3840479"/>
            <a:ext cx="2082637" cy="47548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333333"/>
                </a:solidFill>
                <a:latin typeface="Calibri"/>
              </a:rPr>
              <a:t>15  (65)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57173" y="3840479"/>
            <a:ext cx="2928274" cy="47548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guaranteed benefits begin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45936" y="4297679"/>
            <a:ext cx="5285232" cy="475488"/>
          </a:xfrm>
          <a:prstGeom prst="rect">
            <a:avLst/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37376" y="4315967"/>
            <a:ext cx="2082637" cy="47548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333333"/>
                </a:solidFill>
                <a:latin typeface="Calibri"/>
              </a:rPr>
              <a:t>16 – 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57173" y="4315967"/>
            <a:ext cx="2928274" cy="47548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pension tail for annuitants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" y="6053328"/>
            <a:ext cx="114300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1">
                <a:solidFill>
                  <a:srgbClr val="8A8A8A"/>
                </a:solidFill>
                <a:latin typeface="Calibri"/>
              </a:rPr>
              <a:t>Sources: assignment brief;  results/optimization_summary.txt  (guaranteed accumulated value €11.303bn at year 15).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8016" cy="566928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59184" y="182880"/>
            <a:ext cx="310896" cy="310896"/>
          </a:xfrm>
          <a:prstGeom prst="rect">
            <a:avLst/>
          </a:prstGeom>
          <a:solidFill>
            <a:srgbClr val="E08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10881360" cy="56692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12323F"/>
                </a:solidFill>
                <a:latin typeface="Calibri Light"/>
              </a:rPr>
              <a:t>Defined Payout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749808"/>
            <a:ext cx="1115568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0" i="0">
                <a:solidFill>
                  <a:srgbClr val="3B8E9E"/>
                </a:solidFill>
                <a:latin typeface="Calibri"/>
              </a:rPr>
              <a:t>Contributions run 10 years; the year-15 election sets the payout shape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" y="1133856"/>
            <a:ext cx="11430000" cy="12801"/>
          </a:xfrm>
          <a:prstGeom prst="rect">
            <a:avLst/>
          </a:prstGeom>
          <a:solidFill>
            <a:srgbClr val="C7D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164592"/>
            <a:ext cx="6400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6437376"/>
            <a:ext cx="1133856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800" b="1" i="0">
                <a:solidFill>
                  <a:srgbClr val="1F4E5F"/>
                </a:solidFill>
                <a:latin typeface="Calibri"/>
              </a:rPr>
              <a:t>CLIENT SITUATION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OUR SELLING POINTS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STRATEGIC CHALLENGES &amp; MARKET OVERVIEW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PRODUCT STRATEGY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PORTFOLIO RESULTS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WHAT HAPPENS WITH THE UPSIDE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" y="1316736"/>
            <a:ext cx="11430000" cy="329184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30451"/>
            <a:ext cx="11155680" cy="30175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PAYOUT OPTIONS AT YEAR 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" y="1828800"/>
            <a:ext cx="5532120" cy="182880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336" y="1828800"/>
            <a:ext cx="5532120" cy="50292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956816"/>
            <a:ext cx="5202936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1F4E5F"/>
                </a:solidFill>
                <a:latin typeface="Calibri"/>
              </a:rPr>
              <a:t>Lump sum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432304"/>
            <a:ext cx="5239512" cy="10972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33333"/>
                </a:solidFill>
                <a:latin typeface="Calibri"/>
              </a:rPr>
              <a:t>Accumulated guaranteed capital paid as a single amount at year 15.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33333"/>
                </a:solidFill>
                <a:latin typeface="Calibri"/>
              </a:rPr>
              <a:t>Relationship ends – no residual risk to us after payment.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1828800"/>
            <a:ext cx="5687568" cy="182880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44768" y="1828800"/>
            <a:ext cx="5687568" cy="50292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59" y="1956816"/>
            <a:ext cx="5358383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1F4E5F"/>
                </a:solidFill>
                <a:latin typeface="Calibri"/>
              </a:rPr>
              <a:t>Monthly pension (annuity)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3" y="2432304"/>
            <a:ext cx="5394959" cy="10972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33333"/>
                </a:solidFill>
                <a:latin typeface="Calibri"/>
              </a:rPr>
              <a:t>A stream for life, guaranteed for at least 10 years (to year 25).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33333"/>
                </a:solidFill>
                <a:latin typeface="Calibri"/>
              </a:rPr>
              <a:t>Beyond year 25 it continues only for survivors – longevity risk sits with us.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36" y="3931920"/>
            <a:ext cx="3663696" cy="173736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2336" y="3931920"/>
            <a:ext cx="3663696" cy="45720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050791"/>
            <a:ext cx="3389376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1" i="0">
                <a:solidFill>
                  <a:srgbClr val="3B8E9E"/>
                </a:solidFill>
                <a:latin typeface="Calibri"/>
              </a:rPr>
              <a:t>CHOICE AT YEAR 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315968"/>
            <a:ext cx="3389376" cy="4572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100" b="1" i="0">
                <a:solidFill>
                  <a:srgbClr val="12323F"/>
                </a:solidFill>
                <a:latin typeface="Calibri"/>
              </a:rPr>
              <a:t>50 / 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828031"/>
            <a:ext cx="3389376" cy="804671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Base-case split; stressed ±25pp (results/policyholder_choice_scenarios.csv)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85488" y="3931920"/>
            <a:ext cx="3663696" cy="173736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85488" y="3931920"/>
            <a:ext cx="3663696" cy="45720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1792" y="4050791"/>
            <a:ext cx="3389376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1" i="0">
                <a:solidFill>
                  <a:srgbClr val="3B8E9E"/>
                </a:solidFill>
                <a:latin typeface="Calibri"/>
              </a:rPr>
              <a:t>CONTRIBUTION INFLOW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1792" y="4315968"/>
            <a:ext cx="3389376" cy="4572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100" b="1" i="0">
                <a:solidFill>
                  <a:srgbClr val="12323F"/>
                </a:solidFill>
                <a:latin typeface="Calibri"/>
              </a:rPr>
              <a:t>€0.5bn/yr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1792" y="4828031"/>
            <a:ext cx="3389376" cy="804671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€5,000 × 100,000, years 1–10, end of year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68640" y="3931920"/>
            <a:ext cx="3663696" cy="173736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68640" y="3931920"/>
            <a:ext cx="3663696" cy="45720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14944" y="4050791"/>
            <a:ext cx="3389376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1" i="0">
                <a:solidFill>
                  <a:srgbClr val="3B8E9E"/>
                </a:solidFill>
                <a:latin typeface="Calibri"/>
              </a:rPr>
              <a:t>NO DEATHS YR 1–15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4944" y="4315968"/>
            <a:ext cx="3389376" cy="4572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100" b="1" i="0">
                <a:solidFill>
                  <a:srgbClr val="12323F"/>
                </a:solidFill>
                <a:latin typeface="Calibri"/>
              </a:rPr>
              <a:t>clean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4944" y="4828031"/>
            <a:ext cx="3389376" cy="804671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Mortality only enters the pension tail from year 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" y="6053328"/>
            <a:ext cx="114300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1">
                <a:solidFill>
                  <a:srgbClr val="8A8A8A"/>
                </a:solidFill>
                <a:latin typeface="Calibri"/>
              </a:rPr>
              <a:t>Pension tail modelled age 65→99 (Destatis Sterbetafel 2022/24), minimum 10 years guaranteed.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395728"/>
            <a:ext cx="1371600" cy="45720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73152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3B8E9E"/>
                </a:solidFill>
                <a:latin typeface="Calibri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241280" cy="12801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 Light"/>
              </a:rPr>
              <a:t>Our Expertise and Goals For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9875520" cy="9144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00" b="0" i="0">
                <a:solidFill>
                  <a:srgbClr val="AEC4CB"/>
                </a:solidFill>
                <a:latin typeface="Calibri"/>
              </a:rPr>
              <a:t>Why a liability-precision manager, not a generalist balanced fund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8016" cy="566928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59184" y="182880"/>
            <a:ext cx="310896" cy="310896"/>
          </a:xfrm>
          <a:prstGeom prst="rect">
            <a:avLst/>
          </a:prstGeom>
          <a:solidFill>
            <a:srgbClr val="E08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10881360" cy="56692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12323F"/>
                </a:solidFill>
                <a:latin typeface="Calibri Light"/>
              </a:rPr>
              <a:t>Why All-Kanns Should Choose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749808"/>
            <a:ext cx="1115568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0" i="0">
                <a:solidFill>
                  <a:srgbClr val="3B8E9E"/>
                </a:solidFill>
                <a:latin typeface="Calibri"/>
              </a:rPr>
              <a:t>Four reasons, matched to the mandate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" y="1133856"/>
            <a:ext cx="11430000" cy="12801"/>
          </a:xfrm>
          <a:prstGeom prst="rect">
            <a:avLst/>
          </a:prstGeom>
          <a:solidFill>
            <a:srgbClr val="C7D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164592"/>
            <a:ext cx="6400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6437376"/>
            <a:ext cx="1133856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800" b="0" i="0">
                <a:solidFill>
                  <a:srgbClr val="B6C2C6"/>
                </a:solidFill>
                <a:latin typeface="Calibri"/>
              </a:rPr>
              <a:t>CLIENT SITUATION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1" i="0">
                <a:solidFill>
                  <a:srgbClr val="1F4E5F"/>
                </a:solidFill>
                <a:latin typeface="Calibri"/>
              </a:rPr>
              <a:t>OUR SELLING POINTS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STRATEGIC CHALLENGES &amp; MARKET OVERVIEW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PRODUCT STRATEGY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PORTFOLIO RESULTS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WHAT HAPPENS WITH THE UPSIDE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" y="1316736"/>
            <a:ext cx="11430000" cy="329184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30451"/>
            <a:ext cx="11155680" cy="30175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OUR EDGE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" y="1828800"/>
            <a:ext cx="5532120" cy="196596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336" y="1828800"/>
            <a:ext cx="5532120" cy="50292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956816"/>
            <a:ext cx="5202936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1F4E5F"/>
                </a:solidFill>
                <a:latin typeface="Calibri"/>
              </a:rPr>
              <a:t>Liability-precision matching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432304"/>
            <a:ext cx="5239512" cy="1234439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33333"/>
                </a:solidFill>
                <a:latin typeface="Calibri"/>
              </a:rPr>
              <a:t>One cohort, one contribution schedule – a genuine cash-flow + key-rate match.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33333"/>
                </a:solidFill>
                <a:latin typeface="Calibri"/>
              </a:rPr>
              <a:t>Assets phased to the accumulation, bridge and payout stages of your liability.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1828800"/>
            <a:ext cx="5687568" cy="196596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44768" y="1828800"/>
            <a:ext cx="5687568" cy="50292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59" y="1956816"/>
            <a:ext cx="5358383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1F4E5F"/>
                </a:solidFill>
                <a:latin typeface="Calibri"/>
              </a:rPr>
              <a:t>IAS-aware by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3" y="2432304"/>
            <a:ext cx="5394959" cy="1234439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33333"/>
                </a:solidFill>
                <a:latin typeface="Calibri"/>
              </a:rPr>
              <a:t>Built around fair-value volatility, not return alone – reported earnings protected.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33333"/>
                </a:solidFill>
                <a:latin typeface="Calibri"/>
              </a:rPr>
              <a:t>Duration and key-rate DV01 calibrated to keep P&amp;L / OCI swings defensible.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36" y="3950208"/>
            <a:ext cx="5532120" cy="196596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2336" y="3950208"/>
            <a:ext cx="5532120" cy="50292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4078224"/>
            <a:ext cx="5202936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1F4E5F"/>
                </a:solidFill>
                <a:latin typeface="Calibri"/>
              </a:rPr>
              <a:t>Embedded-option expertise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4553712"/>
            <a:ext cx="5239512" cy="1234439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33333"/>
                </a:solidFill>
                <a:latin typeface="Calibri"/>
              </a:rPr>
              <a:t>We price the year-15 lump-sum-vs-pension election like a callable bond.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33333"/>
                </a:solidFill>
                <a:latin typeface="Calibri"/>
              </a:rPr>
              <a:t>Structural insight most generalist managers overlook.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44768" y="3950208"/>
            <a:ext cx="5687568" cy="196596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3950208"/>
            <a:ext cx="5687568" cy="50292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59" y="4078224"/>
            <a:ext cx="5358383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1F4E5F"/>
                </a:solidFill>
                <a:latin typeface="Calibri"/>
              </a:rPr>
              <a:t>Scale and built-in margin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3" y="4553712"/>
            <a:ext cx="5394959" cy="1234439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33333"/>
                </a:solidFill>
                <a:latin typeface="Calibri"/>
              </a:rPr>
              <a:t>€5.0bn today → c.€10bn by year 10 – institutional pricing on every trade.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33333"/>
                </a:solidFill>
                <a:latin typeface="Calibri"/>
              </a:rPr>
              <a:t>Engineered to clear the 1.0% guarantee with room to spare on the median path.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" y="6053328"/>
            <a:ext cx="114300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1">
                <a:solidFill>
                  <a:srgbClr val="8A8A8A"/>
                </a:solidFill>
                <a:latin typeface="Calibri"/>
              </a:rPr>
              <a:t>Objective: a partner who thinks like an ALM actuary and invests like an institutional asset manager.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395728"/>
            <a:ext cx="1371600" cy="45720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73152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3B8E9E"/>
                </a:solidFill>
                <a:latin typeface="Calibri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241280" cy="12801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 Light"/>
              </a:rPr>
              <a:t>Considerations and Market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9875520" cy="9144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00" b="0" i="0">
                <a:solidFill>
                  <a:srgbClr val="AEC4CB"/>
                </a:solidFill>
                <a:latin typeface="Calibri"/>
              </a:rPr>
              <a:t>Allocation management, the regulatory frame and the European backdrop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8016" cy="566928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59184" y="182880"/>
            <a:ext cx="310896" cy="310896"/>
          </a:xfrm>
          <a:prstGeom prst="rect">
            <a:avLst/>
          </a:prstGeom>
          <a:solidFill>
            <a:srgbClr val="E08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10881360" cy="56692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12323F"/>
                </a:solidFill>
                <a:latin typeface="Calibri Light"/>
              </a:rPr>
              <a:t>Considerations When Implementing the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749808"/>
            <a:ext cx="1115568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0" i="0">
                <a:solidFill>
                  <a:srgbClr val="3B8E9E"/>
                </a:solidFill>
                <a:latin typeface="Calibri"/>
              </a:rPr>
              <a:t>Balancing liquidity, long-term return and regulation across a 15-year horizon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" y="1133856"/>
            <a:ext cx="11430000" cy="12801"/>
          </a:xfrm>
          <a:prstGeom prst="rect">
            <a:avLst/>
          </a:prstGeom>
          <a:solidFill>
            <a:srgbClr val="C7D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164592"/>
            <a:ext cx="6400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6437376"/>
            <a:ext cx="1133856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800" b="0" i="0">
                <a:solidFill>
                  <a:srgbClr val="B6C2C6"/>
                </a:solidFill>
                <a:latin typeface="Calibri"/>
              </a:rPr>
              <a:t>CLIENT SITUATION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OUR SELLING POINTS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1" i="0">
                <a:solidFill>
                  <a:srgbClr val="1F4E5F"/>
                </a:solidFill>
                <a:latin typeface="Calibri"/>
              </a:rPr>
              <a:t>STRATEGIC CHALLENGES &amp; MARKET OVERVIEW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PRODUCT STRATEGY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PORTFOLIO RESULTS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WHAT HAPPENS WITH THE UPSIDE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" y="1316736"/>
            <a:ext cx="11430000" cy="329184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30451"/>
            <a:ext cx="11155680" cy="30175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KEY STRATEGIC CHALLENGES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" y="1828800"/>
            <a:ext cx="3703320" cy="3977639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336" y="1828800"/>
            <a:ext cx="3703320" cy="50292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956816"/>
            <a:ext cx="3374136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1F4E5F"/>
                </a:solidFill>
                <a:latin typeface="Calibri"/>
              </a:rPr>
              <a:t>Allocation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432304"/>
            <a:ext cx="3410712" cy="32461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Cash buffer ahead of the year-15 lump-sum spike – no forced asset sales.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Stable, liquid book in the years 11–15 bridge.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Weight limits across asset classes for diversification.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5968" y="1828800"/>
            <a:ext cx="7516368" cy="3977639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15968" y="1828800"/>
            <a:ext cx="7516368" cy="50292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1956816"/>
            <a:ext cx="713232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1F4E5F"/>
                </a:solidFill>
                <a:latin typeface="Calibri"/>
              </a:rPr>
              <a:t>What each challenge demands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395728"/>
            <a:ext cx="7223760" cy="32918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33333"/>
                </a:solidFill>
                <a:latin typeface="Calibri"/>
              </a:rPr>
              <a:t>Sufficient cash / T-bills ahead of lump-sum payouts to meet benefits without selling into weakness.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33333"/>
                </a:solidFill>
                <a:latin typeface="Calibri"/>
              </a:rPr>
              <a:t>A stable, highly liquid portfolio through the residual bridge period to safeguard capital.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33333"/>
                </a:solidFill>
                <a:latin typeface="Calibri"/>
              </a:rPr>
              <a:t>Operating inside the AnlV investable universe and internal policy limits.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33333"/>
                </a:solidFill>
                <a:latin typeface="Calibri"/>
              </a:rPr>
              <a:t>Single-debtor ≤ 5% and corporate-group ≤ 3% of guarantee assets – concentration control.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33333"/>
                </a:solidFill>
                <a:latin typeface="Calibri"/>
              </a:rPr>
              <a:t>Solvency II capital efficiency weighed against every return-seeking position.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8016" cy="566928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59184" y="182880"/>
            <a:ext cx="310896" cy="310896"/>
          </a:xfrm>
          <a:prstGeom prst="rect">
            <a:avLst/>
          </a:prstGeom>
          <a:solidFill>
            <a:srgbClr val="E08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10881360" cy="56692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12323F"/>
                </a:solidFill>
                <a:latin typeface="Calibri Light"/>
              </a:rPr>
              <a:t>Quantitative Capital Requirements – Solvency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749808"/>
            <a:ext cx="1115568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0" i="0">
                <a:solidFill>
                  <a:srgbClr val="3B8E9E"/>
                </a:solidFill>
                <a:latin typeface="Calibri"/>
              </a:rPr>
              <a:t>Directive 2009/138/EC – the frame our internal limits sit inside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" y="1133856"/>
            <a:ext cx="11430000" cy="12801"/>
          </a:xfrm>
          <a:prstGeom prst="rect">
            <a:avLst/>
          </a:prstGeom>
          <a:solidFill>
            <a:srgbClr val="C7D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164592"/>
            <a:ext cx="6400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6437376"/>
            <a:ext cx="1133856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800" b="0" i="0">
                <a:solidFill>
                  <a:srgbClr val="B6C2C6"/>
                </a:solidFill>
                <a:latin typeface="Calibri"/>
              </a:rPr>
              <a:t>CLIENT SITUATION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OUR SELLING POINTS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1" i="0">
                <a:solidFill>
                  <a:srgbClr val="1F4E5F"/>
                </a:solidFill>
                <a:latin typeface="Calibri"/>
              </a:rPr>
              <a:t>STRATEGIC CHALLENGES &amp; MARKET OVERVIEW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PRODUCT STRATEGY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PORTFOLIO RESULTS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WHAT HAPPENS WITH THE UPSIDE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" y="1316736"/>
            <a:ext cx="11430000" cy="329184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30451"/>
            <a:ext cx="11155680" cy="30175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ASSESSMENT PARAMETERS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" y="1828800"/>
            <a:ext cx="1920240" cy="1234440"/>
          </a:xfrm>
          <a:prstGeom prst="roundRect">
            <a:avLst>
              <a:gd name="adj" fmla="val 4500"/>
            </a:avLst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1920240"/>
            <a:ext cx="1737360" cy="109728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SCR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05456" y="1828800"/>
            <a:ext cx="9326880" cy="123444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88336" y="1920240"/>
            <a:ext cx="9052560" cy="109728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Capital to absorb unexpected loss over one year at 99.5% confidence (1-in-200); standard formula or internal model; own funds must cover it at all times.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" y="3246120"/>
            <a:ext cx="1920240" cy="1234440"/>
          </a:xfrm>
          <a:prstGeom prst="roundRect">
            <a:avLst>
              <a:gd name="adj" fmla="val 4500"/>
            </a:avLst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337560"/>
            <a:ext cx="1737360" cy="109728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MCR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05456" y="3246120"/>
            <a:ext cx="9326880" cy="123444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88336" y="3337560"/>
            <a:ext cx="9052560" cy="109728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Hard floor with an absolute minimum; always between 25% and 45% of the SCR.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36" y="4663440"/>
            <a:ext cx="1920240" cy="1234440"/>
          </a:xfrm>
          <a:prstGeom prst="roundRect">
            <a:avLst>
              <a:gd name="adj" fmla="val 4500"/>
            </a:avLst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4754879"/>
            <a:ext cx="1737360" cy="109728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Valuation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05456" y="4663440"/>
            <a:ext cx="9326880" cy="123444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88336" y="4754879"/>
            <a:ext cx="9052560" cy="109728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Assets and liabilities at market-consistent fair value; technical provisions = best-estimate liabilities + risk margin.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" y="6053328"/>
            <a:ext cx="114300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1">
                <a:solidFill>
                  <a:srgbClr val="8A8A8A"/>
                </a:solidFill>
                <a:latin typeface="Calibri"/>
              </a:rPr>
              <a:t>Our internal steering measure is a 1-year 99% VaR (below); the 99.5% SCR remains the binding regulatory test.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8016" cy="566928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59184" y="182880"/>
            <a:ext cx="310896" cy="310896"/>
          </a:xfrm>
          <a:prstGeom prst="rect">
            <a:avLst/>
          </a:prstGeom>
          <a:solidFill>
            <a:srgbClr val="E08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10881360" cy="56692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12323F"/>
                </a:solidFill>
                <a:latin typeface="Calibri Light"/>
              </a:rPr>
              <a:t>IAS Accounting Impact on the Balance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749808"/>
            <a:ext cx="1115568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0" i="0">
                <a:solidFill>
                  <a:srgbClr val="3B8E9E"/>
                </a:solidFill>
                <a:latin typeface="Calibri"/>
              </a:rPr>
              <a:t>Accounting treatment steers the book toward stable, long-duration, transparent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" y="1133856"/>
            <a:ext cx="11430000" cy="12801"/>
          </a:xfrm>
          <a:prstGeom prst="rect">
            <a:avLst/>
          </a:prstGeom>
          <a:solidFill>
            <a:srgbClr val="C7D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164592"/>
            <a:ext cx="6400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6437376"/>
            <a:ext cx="1133856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800" b="0" i="0">
                <a:solidFill>
                  <a:srgbClr val="B6C2C6"/>
                </a:solidFill>
                <a:latin typeface="Calibri"/>
              </a:rPr>
              <a:t>CLIENT SITUATION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OUR SELLING POINTS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1" i="0">
                <a:solidFill>
                  <a:srgbClr val="1F4E5F"/>
                </a:solidFill>
                <a:latin typeface="Calibri"/>
              </a:rPr>
              <a:t>STRATEGIC CHALLENGES &amp; MARKET OVERVIEW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PRODUCT STRATEGY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PORTFOLIO RESULTS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WHAT HAPPENS WITH THE UPSIDE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" y="1316736"/>
            <a:ext cx="11430000" cy="329184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30451"/>
            <a:ext cx="11155680" cy="30175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IAS STANDARD → PORTFOLIO IMPLICATION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" y="1755648"/>
            <a:ext cx="2743200" cy="91440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810512"/>
            <a:ext cx="2560320" cy="8229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1F4E5F"/>
                </a:solidFill>
                <a:latin typeface="Calibri"/>
              </a:rPr>
              <a:t>Investment valuation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755648"/>
            <a:ext cx="4846320" cy="91440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1810512"/>
            <a:ext cx="4617720" cy="8229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30" b="0" i="0">
                <a:solidFill>
                  <a:srgbClr val="333333"/>
                </a:solidFill>
                <a:latin typeface="Calibri"/>
              </a:rPr>
              <a:t>HTM / AFS / FVTPL rules change how market moves hit P&amp;L vs OCI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84464" y="1755648"/>
            <a:ext cx="3547872" cy="914400"/>
          </a:xfrm>
          <a:prstGeom prst="roundRect">
            <a:avLst>
              <a:gd name="adj" fmla="val 4500"/>
            </a:avLst>
          </a:prstGeom>
          <a:solidFill>
            <a:srgbClr val="E7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810512"/>
            <a:ext cx="3310128" cy="8229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30" b="1" i="0">
                <a:solidFill>
                  <a:srgbClr val="1F4E5F"/>
                </a:solidFill>
                <a:latin typeface="Calibri"/>
              </a:rPr>
              <a:t>Favours stable long-term bonds over volatile short-term holdings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" y="2816352"/>
            <a:ext cx="2743200" cy="91440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2871216"/>
            <a:ext cx="2560320" cy="8229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1F4E5F"/>
                </a:solidFill>
                <a:latin typeface="Calibri"/>
              </a:rPr>
              <a:t>Liability measurement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2816352"/>
            <a:ext cx="4846320" cy="91440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71216"/>
            <a:ext cx="4617720" cy="8229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30" b="0" i="0">
                <a:solidFill>
                  <a:srgbClr val="333333"/>
                </a:solidFill>
                <a:latin typeface="Calibri"/>
              </a:rPr>
              <a:t>Future obligations discounted (guarantee accrues at 1.0%; market value on the EUR curve)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84464" y="2816352"/>
            <a:ext cx="3547872" cy="914400"/>
          </a:xfrm>
          <a:prstGeom prst="roundRect">
            <a:avLst>
              <a:gd name="adj" fmla="val 4500"/>
            </a:avLst>
          </a:prstGeom>
          <a:solidFill>
            <a:srgbClr val="E7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2871216"/>
            <a:ext cx="3310128" cy="8229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30" b="1" i="0">
                <a:solidFill>
                  <a:srgbClr val="1F4E5F"/>
                </a:solidFill>
                <a:latin typeface="Calibri"/>
              </a:rPr>
              <a:t>Match asset duration and key-rate profile to the liability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2336" y="3877056"/>
            <a:ext cx="2743200" cy="91440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3931920"/>
            <a:ext cx="2560320" cy="8229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1F4E5F"/>
                </a:solidFill>
                <a:latin typeface="Calibri"/>
              </a:rPr>
              <a:t>Revenue recognition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91840" y="3877056"/>
            <a:ext cx="4846320" cy="91440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931920"/>
            <a:ext cx="4617720" cy="8229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30" b="0" i="0">
                <a:solidFill>
                  <a:srgbClr val="333333"/>
                </a:solidFill>
                <a:latin typeface="Calibri"/>
              </a:rPr>
              <a:t>Income recognised when earned, not on mark-to-market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84464" y="3877056"/>
            <a:ext cx="3547872" cy="914400"/>
          </a:xfrm>
          <a:prstGeom prst="roundRect">
            <a:avLst>
              <a:gd name="adj" fmla="val 4500"/>
            </a:avLst>
          </a:prstGeom>
          <a:solidFill>
            <a:srgbClr val="E7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3931920"/>
            <a:ext cx="3310128" cy="8229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30" b="1" i="0">
                <a:solidFill>
                  <a:srgbClr val="1F4E5F"/>
                </a:solidFill>
                <a:latin typeface="Calibri"/>
              </a:rPr>
              <a:t>Predictable, steady running yield aligned to payouts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2336" y="4937760"/>
            <a:ext cx="2743200" cy="91440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4992624"/>
            <a:ext cx="2560320" cy="8229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1F4E5F"/>
                </a:solidFill>
                <a:latin typeface="Calibri"/>
              </a:rPr>
              <a:t>Reporting &amp; transparency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91840" y="4937760"/>
            <a:ext cx="4846320" cy="91440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4992624"/>
            <a:ext cx="4617720" cy="8229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30" b="0" i="0">
                <a:solidFill>
                  <a:srgbClr val="333333"/>
                </a:solidFill>
                <a:latin typeface="Calibri"/>
              </a:rPr>
              <a:t>Low-volatility results and disclosure of key assumptions required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84464" y="4937760"/>
            <a:ext cx="3547872" cy="914400"/>
          </a:xfrm>
          <a:prstGeom prst="roundRect">
            <a:avLst>
              <a:gd name="adj" fmla="val 4500"/>
            </a:avLst>
          </a:prstGeom>
          <a:solidFill>
            <a:srgbClr val="E7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4992624"/>
            <a:ext cx="3310128" cy="8229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30" b="1" i="0">
                <a:solidFill>
                  <a:srgbClr val="1F4E5F"/>
                </a:solidFill>
                <a:latin typeface="Calibri"/>
              </a:rPr>
              <a:t>Transparent, low-turnover portfolio; documented stress + VaR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2336" y="6126480"/>
            <a:ext cx="114300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800" b="0" i="1">
                <a:solidFill>
                  <a:srgbClr val="8A8A8A"/>
                </a:solidFill>
                <a:latin typeface="Calibri"/>
              </a:rPr>
              <a:t>Not accounting advice.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8016" cy="566928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59184" y="182880"/>
            <a:ext cx="310896" cy="310896"/>
          </a:xfrm>
          <a:prstGeom prst="rect">
            <a:avLst/>
          </a:prstGeom>
          <a:solidFill>
            <a:srgbClr val="E08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10881360" cy="56692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12323F"/>
                </a:solidFill>
                <a:latin typeface="Calibri Light"/>
              </a:rPr>
              <a:t>Eligible Asset Classes – BaFin AnlV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749808"/>
            <a:ext cx="1115568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0" i="0">
                <a:solidFill>
                  <a:srgbClr val="3B8E9E"/>
                </a:solidFill>
                <a:latin typeface="Calibri"/>
              </a:rPr>
              <a:t>The investable universe for guarantee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" y="1133856"/>
            <a:ext cx="11430000" cy="12801"/>
          </a:xfrm>
          <a:prstGeom prst="rect">
            <a:avLst/>
          </a:prstGeom>
          <a:solidFill>
            <a:srgbClr val="C7D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164592"/>
            <a:ext cx="6400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6437376"/>
            <a:ext cx="1133856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800" b="0" i="0">
                <a:solidFill>
                  <a:srgbClr val="B6C2C6"/>
                </a:solidFill>
                <a:latin typeface="Calibri"/>
              </a:rPr>
              <a:t>CLIENT SITUATION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OUR SELLING POINTS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1" i="0">
                <a:solidFill>
                  <a:srgbClr val="1F4E5F"/>
                </a:solidFill>
                <a:latin typeface="Calibri"/>
              </a:rPr>
              <a:t>STRATEGIC CHALLENGES &amp; MARKET OVERVIEW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PRODUCT STRATEGY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PORTFOLIO RESULTS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WHAT HAPPENS WITH THE UPSIDE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" y="1316736"/>
            <a:ext cx="11430000" cy="329184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30451"/>
            <a:ext cx="11155680" cy="30175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ELIGIBLE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" y="1828800"/>
            <a:ext cx="3657600" cy="1225296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336" y="1828800"/>
            <a:ext cx="3657600" cy="45720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956816"/>
            <a:ext cx="3383280" cy="10058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1F4E5F"/>
                </a:solidFill>
                <a:latin typeface="Calibri"/>
              </a:rPr>
              <a:t>Government &amp; public-sector bonds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core matching asset for long-dated liabilities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1104" y="1828800"/>
            <a:ext cx="3657600" cy="1225296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61104" y="1828800"/>
            <a:ext cx="3657600" cy="45720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7408" y="1956816"/>
            <a:ext cx="3383280" cy="10058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1F4E5F"/>
                </a:solidFill>
                <a:latin typeface="Calibri"/>
              </a:rPr>
              <a:t>Covered bonds &amp; bank debt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secured, limited credit 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1" y="1828800"/>
            <a:ext cx="3657600" cy="1225296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19871" y="1828800"/>
            <a:ext cx="3657600" cy="45720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5" y="1956816"/>
            <a:ext cx="3383280" cy="10058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1F4E5F"/>
                </a:solidFill>
                <a:latin typeface="Calibri"/>
              </a:rPr>
              <a:t>Corporate loans &amp; bonds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spread pick-up over sovereigns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336" y="3200400"/>
            <a:ext cx="3657600" cy="1225296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2336" y="3200400"/>
            <a:ext cx="3657600" cy="45720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328416"/>
            <a:ext cx="3383280" cy="10058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1F4E5F"/>
                </a:solidFill>
                <a:latin typeface="Calibri"/>
              </a:rPr>
              <a:t>Equities &amp; participations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long-term return engine, capped by AnlV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61104" y="3200400"/>
            <a:ext cx="3657600" cy="1225296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3200400"/>
            <a:ext cx="3657600" cy="45720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07408" y="3328416"/>
            <a:ext cx="3383280" cy="10058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1F4E5F"/>
                </a:solidFill>
                <a:latin typeface="Calibri"/>
              </a:rPr>
              <a:t>Structured credit (ABS / CLN)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permitted within tight limits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19871" y="3200400"/>
            <a:ext cx="3657600" cy="1225296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19871" y="3200400"/>
            <a:ext cx="3657600" cy="45720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66175" y="3328416"/>
            <a:ext cx="3383280" cy="10058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1F4E5F"/>
                </a:solidFill>
                <a:latin typeface="Calibri"/>
              </a:rPr>
              <a:t>Real estate &amp; REITs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inflation-linked, illiquid diversifier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2336" y="4572000"/>
            <a:ext cx="3657600" cy="1225296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2336" y="4572000"/>
            <a:ext cx="3657600" cy="45720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700016"/>
            <a:ext cx="3383280" cy="10058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1F4E5F"/>
                </a:solidFill>
                <a:latin typeface="Calibri"/>
              </a:rPr>
              <a:t>Investment funds (UCITS / AIF)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efficient diversified access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61104" y="4572000"/>
            <a:ext cx="3657600" cy="1225296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61104" y="4572000"/>
            <a:ext cx="3657600" cy="45720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07408" y="4700016"/>
            <a:ext cx="3383280" cy="10058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1F4E5F"/>
                </a:solidFill>
                <a:latin typeface="Calibri"/>
              </a:rPr>
              <a:t>Deposits &amp; cash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liquidity buffer for benefit payments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19871" y="4572000"/>
            <a:ext cx="3657600" cy="1225296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19871" y="4572000"/>
            <a:ext cx="3657600" cy="45720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66175" y="4700016"/>
            <a:ext cx="3383280" cy="10058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1F4E5F"/>
                </a:solidFill>
                <a:latin typeface="Calibri"/>
              </a:rPr>
              <a:t>Opening-clause assets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only with explicit BaFin approval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2336" y="6053328"/>
            <a:ext cx="114300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1">
                <a:solidFill>
                  <a:srgbClr val="8A8A8A"/>
                </a:solidFill>
                <a:latin typeface="Calibri"/>
              </a:rPr>
              <a:t>Source: BaFin Anlageverordnung (AnlV), 14.11.2018.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8016" cy="566928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59184" y="182880"/>
            <a:ext cx="310896" cy="310896"/>
          </a:xfrm>
          <a:prstGeom prst="rect">
            <a:avLst/>
          </a:prstGeom>
          <a:solidFill>
            <a:srgbClr val="E08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10881360" cy="56692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12323F"/>
                </a:solidFill>
                <a:latin typeface="Calibri Light"/>
              </a:rPr>
              <a:t>Prohibited Assets – BaFin AnlV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749808"/>
            <a:ext cx="1115568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0" i="0">
                <a:solidFill>
                  <a:srgbClr val="3B8E9E"/>
                </a:solidFill>
                <a:latin typeface="Calibri"/>
              </a:rPr>
              <a:t>Excluded from the guarantee-asset universe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" y="1133856"/>
            <a:ext cx="11430000" cy="12801"/>
          </a:xfrm>
          <a:prstGeom prst="rect">
            <a:avLst/>
          </a:prstGeom>
          <a:solidFill>
            <a:srgbClr val="C7D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164592"/>
            <a:ext cx="6400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6437376"/>
            <a:ext cx="1133856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800" b="0" i="0">
                <a:solidFill>
                  <a:srgbClr val="B6C2C6"/>
                </a:solidFill>
                <a:latin typeface="Calibri"/>
              </a:rPr>
              <a:t>CLIENT SITUATION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OUR SELLING POINTS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1" i="0">
                <a:solidFill>
                  <a:srgbClr val="1F4E5F"/>
                </a:solidFill>
                <a:latin typeface="Calibri"/>
              </a:rPr>
              <a:t>STRATEGIC CHALLENGES &amp; MARKET OVERVIEW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PRODUCT STRATEGY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PORTFOLIO RESULTS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WHAT HAPPENS WITH THE UPSIDE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" y="1316736"/>
            <a:ext cx="11430000" cy="329184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30451"/>
            <a:ext cx="11155680" cy="30175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PROHIBITED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" y="1828800"/>
            <a:ext cx="11430000" cy="914400"/>
          </a:xfrm>
          <a:prstGeom prst="roundRect">
            <a:avLst>
              <a:gd name="adj" fmla="val 4500"/>
            </a:avLst>
          </a:prstGeom>
          <a:solidFill>
            <a:srgbClr val="F6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336" y="1828800"/>
            <a:ext cx="82296" cy="914400"/>
          </a:xfrm>
          <a:prstGeom prst="rect">
            <a:avLst/>
          </a:prstGeom>
          <a:solidFill>
            <a:srgbClr val="C8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901952"/>
            <a:ext cx="10972800" cy="8229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C85A2B"/>
                </a:solidFill>
                <a:latin typeface="Calibri"/>
              </a:rPr>
              <a:t>Consumer / working-capital lending  —  </a:t>
            </a:r>
            <a:r>
              <a:rPr sz="1050" b="0" i="0">
                <a:solidFill>
                  <a:srgbClr val="333333"/>
                </a:solidFill>
                <a:latin typeface="Calibri"/>
              </a:rPr>
              <a:t>consumer or working-capital loans, movable goods and claims on them, intangibles (patents, goodwill)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336" y="2880360"/>
            <a:ext cx="11430000" cy="914400"/>
          </a:xfrm>
          <a:prstGeom prst="roundRect">
            <a:avLst>
              <a:gd name="adj" fmla="val 4500"/>
            </a:avLst>
          </a:prstGeom>
          <a:solidFill>
            <a:srgbClr val="F6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2336" y="2880360"/>
            <a:ext cx="82296" cy="914400"/>
          </a:xfrm>
          <a:prstGeom prst="rect">
            <a:avLst/>
          </a:prstGeom>
          <a:solidFill>
            <a:srgbClr val="C8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953512"/>
            <a:ext cx="10972800" cy="8229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C85A2B"/>
                </a:solidFill>
                <a:latin typeface="Calibri"/>
              </a:rPr>
              <a:t>Group companies of the insurer  —  </a:t>
            </a:r>
            <a:r>
              <a:rPr sz="1050" b="0" i="0">
                <a:solidFill>
                  <a:srgbClr val="333333"/>
                </a:solidFill>
                <a:latin typeface="Calibri"/>
              </a:rPr>
              <a:t>§18 AktG entities, unless a purely passive stake with no operational influence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" y="3931920"/>
            <a:ext cx="11430000" cy="914400"/>
          </a:xfrm>
          <a:prstGeom prst="roundRect">
            <a:avLst>
              <a:gd name="adj" fmla="val 4500"/>
            </a:avLst>
          </a:prstGeom>
          <a:solidFill>
            <a:srgbClr val="F6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2336" y="3931920"/>
            <a:ext cx="82296" cy="914400"/>
          </a:xfrm>
          <a:prstGeom prst="rect">
            <a:avLst/>
          </a:prstGeom>
          <a:solidFill>
            <a:srgbClr val="C8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005072"/>
            <a:ext cx="10972800" cy="8229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C85A2B"/>
                </a:solidFill>
                <a:latin typeface="Calibri"/>
              </a:rPr>
              <a:t>Outsourced service companies  —  </a:t>
            </a:r>
            <a:r>
              <a:rPr sz="1050" b="0" i="0">
                <a:solidFill>
                  <a:srgbClr val="333333"/>
                </a:solidFill>
                <a:latin typeface="Calibri"/>
              </a:rPr>
              <a:t>firms performing the insurer's core insurance activities on its behalf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336" y="4983479"/>
            <a:ext cx="11430000" cy="914400"/>
          </a:xfrm>
          <a:prstGeom prst="roundRect">
            <a:avLst>
              <a:gd name="adj" fmla="val 4500"/>
            </a:avLst>
          </a:prstGeom>
          <a:solidFill>
            <a:srgbClr val="F6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2336" y="4983479"/>
            <a:ext cx="82296" cy="914400"/>
          </a:xfrm>
          <a:prstGeom prst="rect">
            <a:avLst/>
          </a:prstGeom>
          <a:solidFill>
            <a:srgbClr val="C8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056631"/>
            <a:ext cx="10972800" cy="8229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C85A2B"/>
                </a:solidFill>
                <a:latin typeface="Calibri"/>
              </a:rPr>
              <a:t>Crypto and digital assets  —  </a:t>
            </a:r>
            <a:r>
              <a:rPr sz="1050" b="0" i="0">
                <a:solidFill>
                  <a:srgbClr val="333333"/>
                </a:solidFill>
                <a:latin typeface="Calibri"/>
              </a:rPr>
              <a:t>excluded from the guarantee-asset universe under AnlV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8016" cy="566928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59184" y="182880"/>
            <a:ext cx="310896" cy="310896"/>
          </a:xfrm>
          <a:prstGeom prst="rect">
            <a:avLst/>
          </a:prstGeom>
          <a:solidFill>
            <a:srgbClr val="E08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10881360" cy="56692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12323F"/>
                </a:solidFill>
                <a:latin typeface="Calibri Light"/>
              </a:rPr>
              <a:t>Quantitative Limitations Constrain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749808"/>
            <a:ext cx="1115568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0" i="0">
                <a:solidFill>
                  <a:srgbClr val="3B8E9E"/>
                </a:solidFill>
                <a:latin typeface="Calibri"/>
              </a:rPr>
              <a:t>BaFin caps exposure by asset class to control concentration and valuation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" y="1133856"/>
            <a:ext cx="11430000" cy="12801"/>
          </a:xfrm>
          <a:prstGeom prst="rect">
            <a:avLst/>
          </a:prstGeom>
          <a:solidFill>
            <a:srgbClr val="C7D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164592"/>
            <a:ext cx="6400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6437376"/>
            <a:ext cx="1133856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800" b="0" i="0">
                <a:solidFill>
                  <a:srgbClr val="B6C2C6"/>
                </a:solidFill>
                <a:latin typeface="Calibri"/>
              </a:rPr>
              <a:t>CLIENT SITUATION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OUR SELLING POINTS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1" i="0">
                <a:solidFill>
                  <a:srgbClr val="1F4E5F"/>
                </a:solidFill>
                <a:latin typeface="Calibri"/>
              </a:rPr>
              <a:t>STRATEGIC CHALLENGES &amp; MARKET OVERVIEW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PRODUCT STRATEGY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PORTFOLIO RESULTS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WHAT HAPPENS WITH THE UPSIDE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" y="1316736"/>
            <a:ext cx="11430000" cy="329184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30451"/>
            <a:ext cx="11155680" cy="30175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MAXIMUM EXPOSURE (% OF GUARANTEE ASSETS)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" y="1874519"/>
            <a:ext cx="393192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Equities, PE &amp; subordinated debt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1929384"/>
            <a:ext cx="5120640" cy="31089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28632" y="1874519"/>
            <a:ext cx="82296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1" i="0">
                <a:solidFill>
                  <a:srgbClr val="333333"/>
                </a:solidFill>
                <a:latin typeface="Calibri"/>
              </a:rPr>
              <a:t>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" y="2359152"/>
            <a:ext cx="393192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Sovereigns &amp; public bodies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2414016"/>
            <a:ext cx="3840479" cy="31089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1" y="2359152"/>
            <a:ext cx="82296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1" i="0">
                <a:solidFill>
                  <a:srgbClr val="333333"/>
                </a:solidFill>
                <a:latin typeface="Calibri"/>
              </a:rPr>
              <a:t>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" y="2843784"/>
            <a:ext cx="393192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Real estate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2898648"/>
            <a:ext cx="3200400" cy="31089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8392" y="2843784"/>
            <a:ext cx="82296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1" i="0">
                <a:solidFill>
                  <a:srgbClr val="333333"/>
                </a:solidFill>
                <a:latin typeface="Calibri"/>
              </a:rPr>
              <a:t>25%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" y="3328415"/>
            <a:ext cx="393192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Covered bonds / public-sector banks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3383279"/>
            <a:ext cx="1920239" cy="31089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1" y="3328415"/>
            <a:ext cx="82296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1" i="0">
                <a:solidFill>
                  <a:srgbClr val="333333"/>
                </a:solidFill>
                <a:latin typeface="Calibri"/>
              </a:rPr>
              <a:t>15%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" y="3813048"/>
            <a:ext cx="393192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Credit-linked, hedge &amp; commodity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3867911"/>
            <a:ext cx="960119" cy="31089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68112" y="3813048"/>
            <a:ext cx="82296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1" i="0">
                <a:solidFill>
                  <a:srgbClr val="333333"/>
                </a:solidFill>
                <a:latin typeface="Calibri"/>
              </a:rPr>
              <a:t>7.5%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" y="4297680"/>
            <a:ext cx="393192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Corporate loans (secured)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34840" y="4352544"/>
            <a:ext cx="640080" cy="31089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48072" y="4297680"/>
            <a:ext cx="82296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1" i="0">
                <a:solidFill>
                  <a:srgbClr val="333333"/>
                </a:solidFill>
                <a:latin typeface="Calibri"/>
              </a:rPr>
              <a:t>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" y="4782312"/>
            <a:ext cx="393192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Infrastructure (own quota, Feb 2025)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34840" y="4837176"/>
            <a:ext cx="640080" cy="31089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48072" y="4782312"/>
            <a:ext cx="82296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1" i="0">
                <a:solidFill>
                  <a:srgbClr val="333333"/>
                </a:solidFill>
                <a:latin typeface="Calibri"/>
              </a:rPr>
              <a:t>5%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66960" y="1828800"/>
            <a:ext cx="1865376" cy="370332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20" y="1956816"/>
            <a:ext cx="1645920" cy="34747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1" i="0">
                <a:solidFill>
                  <a:srgbClr val="3B8E9E"/>
                </a:solidFill>
                <a:latin typeface="Calibri"/>
              </a:rPr>
              <a:t>Also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single debtor ≤ 5%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corporate group ≤ 3%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single holding ≤ 1%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unlisted ≤ 15%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" y="6053328"/>
            <a:ext cx="114300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1">
                <a:solidFill>
                  <a:srgbClr val="8A8A8A"/>
                </a:solidFill>
                <a:latin typeface="Calibri"/>
              </a:rPr>
              <a:t>Source: BaFin AnlV, 14.11.2018; amendment effective Feb 2025.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8016" cy="566928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59184" y="182880"/>
            <a:ext cx="310896" cy="310896"/>
          </a:xfrm>
          <a:prstGeom prst="rect">
            <a:avLst/>
          </a:prstGeom>
          <a:solidFill>
            <a:srgbClr val="E08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10881360" cy="56692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12323F"/>
                </a:solidFill>
                <a:latin typeface="Calibri Light"/>
              </a:rPr>
              <a:t>European Insurers Have Shifted Back to Fixed Income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749808"/>
            <a:ext cx="1115568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0" i="0">
                <a:solidFill>
                  <a:srgbClr val="3B8E9E"/>
                </a:solidFill>
                <a:latin typeface="Calibri"/>
              </a:rPr>
              <a:t>ECB data: rate normalisation restored the appeal of long-duration bonds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" y="1133856"/>
            <a:ext cx="11430000" cy="12801"/>
          </a:xfrm>
          <a:prstGeom prst="rect">
            <a:avLst/>
          </a:prstGeom>
          <a:solidFill>
            <a:srgbClr val="C7D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164592"/>
            <a:ext cx="6400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6437376"/>
            <a:ext cx="1133856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800" b="0" i="0">
                <a:solidFill>
                  <a:srgbClr val="B6C2C6"/>
                </a:solidFill>
                <a:latin typeface="Calibri"/>
              </a:rPr>
              <a:t>CLIENT SITUATION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OUR SELLING POINTS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1" i="0">
                <a:solidFill>
                  <a:srgbClr val="1F4E5F"/>
                </a:solidFill>
                <a:latin typeface="Calibri"/>
              </a:rPr>
              <a:t>STRATEGIC CHALLENGES &amp; MARKET OVERVIEW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PRODUCT STRATEGY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PORTFOLIO RESULTS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WHAT HAPPENS WITH THE UPSIDE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" y="1316736"/>
            <a:ext cx="11430000" cy="329184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30451"/>
            <a:ext cx="11155680" cy="30175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WHAT THE BACKDROP TELLS 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" y="1828800"/>
            <a:ext cx="5577840" cy="393192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336" y="1828800"/>
            <a:ext cx="5577840" cy="50292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956816"/>
            <a:ext cx="5248655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1F4E5F"/>
                </a:solidFill>
                <a:latin typeface="Calibri"/>
              </a:rPr>
              <a:t>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432304"/>
            <a:ext cx="5285231" cy="32004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1F4E5F"/>
                </a:solidFill>
                <a:latin typeface="Calibri"/>
              </a:rPr>
              <a:t>Fixed income is the core.  </a:t>
            </a:r>
            <a:r>
              <a:rPr sz="1050" b="0" i="0">
                <a:solidFill>
                  <a:srgbClr val="333333"/>
                </a:solidFill>
                <a:latin typeface="Calibri"/>
              </a:rPr>
              <a:t>Debt securities remain the dominant euro-area insurer asset class.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1F4E5F"/>
                </a:solidFill>
                <a:latin typeface="Calibri"/>
              </a:rPr>
              <a:t>Funds / equity rose post-2020.  </a:t>
            </a:r>
            <a:r>
              <a:rPr sz="1050" b="0" i="0">
                <a:solidFill>
                  <a:srgbClr val="333333"/>
                </a:solidFill>
                <a:latin typeface="Calibri"/>
              </a:rPr>
              <a:t>The low-rate years pushed insurers up the risk curve.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1F4E5F"/>
                </a:solidFill>
                <a:latin typeface="Calibri"/>
              </a:rPr>
              <a:t>Now: back to debt.  </a:t>
            </a:r>
            <a:r>
              <a:rPr sz="1050" b="0" i="0">
                <a:solidFill>
                  <a:srgbClr val="333333"/>
                </a:solidFill>
                <a:latin typeface="Calibri"/>
              </a:rPr>
              <a:t>ECB hikes lifted long-bond yields to ~3.3–3.6% on the EUR curve – a bond-anchored strategy is well timed.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1828800"/>
            <a:ext cx="5687568" cy="393192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44768" y="1828800"/>
            <a:ext cx="5687568" cy="50292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59" y="1956816"/>
            <a:ext cx="5358383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1F4E5F"/>
                </a:solidFill>
                <a:latin typeface="Calibri"/>
              </a:rPr>
              <a:t>What we take from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3" y="2432304"/>
            <a:ext cx="5394959" cy="32004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33333"/>
                </a:solidFill>
                <a:latin typeface="Calibri"/>
              </a:rPr>
              <a:t>The €5.0bn liability-matching sleeve earns a ~4.0% running yield at today's spreads – comfortably above the 1.0% guarantee.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33333"/>
                </a:solidFill>
                <a:latin typeface="Calibri"/>
              </a:rPr>
              <a:t>Duration is available: the 15–30y part of the EUR curve is the natural home for this liability.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33333"/>
                </a:solidFill>
                <a:latin typeface="Calibri"/>
              </a:rPr>
              <a:t>The return sleeve is funded only by surplus, so the bond anchor is never at risk.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" y="6053328"/>
            <a:ext cx="114300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1">
                <a:solidFill>
                  <a:srgbClr val="8A8A8A"/>
                </a:solidFill>
                <a:latin typeface="Calibri"/>
              </a:rPr>
              <a:t>Source: ECB insurance-corporation statistics, 2025; EUR swap curve as of 2 Sep 2026 (results/normalized_eur_swap_curve.csv).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8016" cy="566928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59184" y="182880"/>
            <a:ext cx="310896" cy="310896"/>
          </a:xfrm>
          <a:prstGeom prst="rect">
            <a:avLst/>
          </a:prstGeom>
          <a:solidFill>
            <a:srgbClr val="E08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10881360" cy="56692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12323F"/>
                </a:solidFill>
                <a:latin typeface="Calibri Light"/>
              </a:rPr>
              <a:t>Partnering to Enhance Performance Within the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749808"/>
            <a:ext cx="1115568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0" i="0">
                <a:solidFill>
                  <a:srgbClr val="3B8E9E"/>
                </a:solidFill>
                <a:latin typeface="Calibri"/>
              </a:rPr>
              <a:t>Each client challenge matched to a concrete element of our support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" y="1133856"/>
            <a:ext cx="11430000" cy="12801"/>
          </a:xfrm>
          <a:prstGeom prst="rect">
            <a:avLst/>
          </a:prstGeom>
          <a:solidFill>
            <a:srgbClr val="C7D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164592"/>
            <a:ext cx="6400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6437376"/>
            <a:ext cx="1133856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800" b="0" i="0">
                <a:solidFill>
                  <a:srgbClr val="B6C2C6"/>
                </a:solidFill>
                <a:latin typeface="Calibri"/>
              </a:rPr>
              <a:t>CLIENT SITUATION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OUR SELLING POINTS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1" i="0">
                <a:solidFill>
                  <a:srgbClr val="1F4E5F"/>
                </a:solidFill>
                <a:latin typeface="Calibri"/>
              </a:rPr>
              <a:t>STRATEGIC CHALLENGES &amp; MARKET OVERVIEW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PRODUCT STRATEGY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PORTFOLIO RESULTS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WHAT HAPPENS WITH THE UPSIDE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" y="1316736"/>
            <a:ext cx="11430000" cy="329184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30451"/>
            <a:ext cx="11155680" cy="30175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YOUR CHALLENGE → OUR SUPPORT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" y="1874519"/>
            <a:ext cx="5532120" cy="1170432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965960"/>
            <a:ext cx="5303520" cy="100584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1F4E5F"/>
                </a:solidFill>
                <a:latin typeface="Calibri"/>
              </a:rPr>
              <a:t>Navigating the rate environment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1874519"/>
            <a:ext cx="5687568" cy="1170432"/>
          </a:xfrm>
          <a:prstGeom prst="roundRect">
            <a:avLst>
              <a:gd name="adj" fmla="val 4500"/>
            </a:avLst>
          </a:prstGeom>
          <a:solidFill>
            <a:srgbClr val="E7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965960"/>
            <a:ext cx="5440680" cy="100584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30" b="0" i="0">
                <a:solidFill>
                  <a:srgbClr val="333333"/>
                </a:solidFill>
                <a:latin typeface="Calibri"/>
              </a:rPr>
              <a:t>Optimised long-term allocation on real market data, structured to exceed 1.0% with stable income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" y="3246120"/>
            <a:ext cx="5532120" cy="1170432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337560"/>
            <a:ext cx="5303520" cy="100584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1F4E5F"/>
                </a:solidFill>
                <a:latin typeface="Calibri"/>
              </a:rPr>
              <a:t>Balancing solvency with performance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3246120"/>
            <a:ext cx="5687568" cy="1170432"/>
          </a:xfrm>
          <a:prstGeom prst="roundRect">
            <a:avLst>
              <a:gd name="adj" fmla="val 4500"/>
            </a:avLst>
          </a:prstGeom>
          <a:solidFill>
            <a:srgbClr val="E7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337560"/>
            <a:ext cx="5440680" cy="100584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30" b="0" i="0">
                <a:solidFill>
                  <a:srgbClr val="333333"/>
                </a:solidFill>
                <a:latin typeface="Calibri"/>
              </a:rPr>
              <a:t>Solvency II capital and BaFin limits built directly into portfolio construction and risk reporting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36" y="4617720"/>
            <a:ext cx="5532120" cy="1170432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709159"/>
            <a:ext cx="5303520" cy="100584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1F4E5F"/>
                </a:solidFill>
                <a:latin typeface="Calibri"/>
              </a:rPr>
              <a:t>Strengthening investment governance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4617720"/>
            <a:ext cx="5687568" cy="1170432"/>
          </a:xfrm>
          <a:prstGeom prst="roundRect">
            <a:avLst>
              <a:gd name="adj" fmla="val 4500"/>
            </a:avLst>
          </a:prstGeom>
          <a:solidFill>
            <a:srgbClr val="E7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709159"/>
            <a:ext cx="5440680" cy="100584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30" b="0" i="0">
                <a:solidFill>
                  <a:srgbClr val="333333"/>
                </a:solidFill>
                <a:latin typeface="Calibri"/>
              </a:rPr>
              <a:t>Transparent, data-driven process: quarterly ALM review, documented stress + 99% VaR limits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395728"/>
            <a:ext cx="1371600" cy="45720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73152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3B8E9E"/>
                </a:solidFill>
                <a:latin typeface="Calibri"/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241280" cy="12801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 Light"/>
              </a:rPr>
              <a:t>Product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9875520" cy="9144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00" b="0" i="0">
                <a:solidFill>
                  <a:srgbClr val="AEC4CB"/>
                </a:solidFill>
                <a:latin typeface="Calibri"/>
              </a:rPr>
              <a:t>Two sleeves: a matched bond floor, a surplus-funded return engine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8016" cy="566928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59184" y="182880"/>
            <a:ext cx="310896" cy="310896"/>
          </a:xfrm>
          <a:prstGeom prst="rect">
            <a:avLst/>
          </a:prstGeom>
          <a:solidFill>
            <a:srgbClr val="E08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10881360" cy="56692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12323F"/>
                </a:solidFill>
                <a:latin typeface="Calibri Light"/>
              </a:rPr>
              <a:t>Securing Long-Term Returns Above the 1.0% Guarantee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749808"/>
            <a:ext cx="1115568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0" i="0">
                <a:solidFill>
                  <a:srgbClr val="3B8E9E"/>
                </a:solidFill>
                <a:latin typeface="Calibri"/>
              </a:rPr>
              <a:t>A two-sleeve strategy; consistent-pipeline MC median 15-year IRR ≈ 5.9%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" y="1133856"/>
            <a:ext cx="11430000" cy="12801"/>
          </a:xfrm>
          <a:prstGeom prst="rect">
            <a:avLst/>
          </a:prstGeom>
          <a:solidFill>
            <a:srgbClr val="C7D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164592"/>
            <a:ext cx="6400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6437376"/>
            <a:ext cx="1133856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800" b="0" i="0">
                <a:solidFill>
                  <a:srgbClr val="B6C2C6"/>
                </a:solidFill>
                <a:latin typeface="Calibri"/>
              </a:rPr>
              <a:t>CLIENT SITUATION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OUR SELLING POINTS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STRATEGIC CHALLENGES &amp; MARKET OVERVIEW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1" i="0">
                <a:solidFill>
                  <a:srgbClr val="1F4E5F"/>
                </a:solidFill>
                <a:latin typeface="Calibri"/>
              </a:rPr>
              <a:t>PRODUCT STRATEGY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PORTFOLIO RESULTS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WHAT HAPPENS WITH THE UPSIDE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" y="1316736"/>
            <a:ext cx="11430000" cy="329184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30451"/>
            <a:ext cx="11155680" cy="30175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FROM HERE TO THERE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" y="1828800"/>
            <a:ext cx="3703320" cy="3977639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336" y="1828800"/>
            <a:ext cx="3703320" cy="50292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956816"/>
            <a:ext cx="3374136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1F4E5F"/>
                </a:solidFill>
                <a:latin typeface="Calibri"/>
              </a:rPr>
              <a:t>Where you 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432304"/>
            <a:ext cx="3410712" cy="32461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100,000 insured aged 50, 50/50 male/female.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AUM €5.0bn;  contributions €0.5bn/yr for 10y.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Guarantee 1.0% p.a.;  year-15 election lump vs pension.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5968" y="1828800"/>
            <a:ext cx="3703320" cy="3977639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15968" y="1828800"/>
            <a:ext cx="3703320" cy="50292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59" y="1956816"/>
            <a:ext cx="3374136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1F4E5F"/>
                </a:solidFill>
                <a:latin typeface="Calibri"/>
              </a:rPr>
              <a:t>How we get there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3" y="2432304"/>
            <a:ext cx="3410712" cy="32461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Years 0–10: invest inflows, run the return-efficient mix, build the liquidity buffer.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Years 11–15: no inflows – de-risk along a glidepath, pre-fund the year-15 payout.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Year 15+: pay benefits from the safe sleeve; monitor coverage.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1828800"/>
            <a:ext cx="3648456" cy="3977639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79" y="1828800"/>
            <a:ext cx="3648456" cy="50292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8471" y="1956816"/>
            <a:ext cx="3319272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1F4E5F"/>
                </a:solidFill>
                <a:latin typeface="Calibri"/>
              </a:rPr>
              <a:t>Where you want to be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2432304"/>
            <a:ext cx="3355848" cy="32461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Clear the 1.0% floor with a stable, investable, liability-aligned book.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Hold ≥ 1.1× the next 12 months of outflows in cash + sovereigns.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Quarterly ALM review; stress + 99% VaR limits.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8016" cy="566928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59184" y="182880"/>
            <a:ext cx="310896" cy="310896"/>
          </a:xfrm>
          <a:prstGeom prst="rect">
            <a:avLst/>
          </a:prstGeom>
          <a:solidFill>
            <a:srgbClr val="E08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10881360" cy="56692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12323F"/>
                </a:solidFill>
                <a:latin typeface="Calibri Light"/>
              </a:rPr>
              <a:t>The Guarantee, Quantified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749808"/>
            <a:ext cx="1115568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0" i="0">
                <a:solidFill>
                  <a:srgbClr val="3B8E9E"/>
                </a:solidFill>
                <a:latin typeface="Calibri"/>
              </a:rPr>
              <a:t>The floor every asset decision must clear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" y="1133856"/>
            <a:ext cx="11430000" cy="12801"/>
          </a:xfrm>
          <a:prstGeom prst="rect">
            <a:avLst/>
          </a:prstGeom>
          <a:solidFill>
            <a:srgbClr val="C7D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164592"/>
            <a:ext cx="6400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6437376"/>
            <a:ext cx="1133856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800" b="0" i="0">
                <a:solidFill>
                  <a:srgbClr val="B6C2C6"/>
                </a:solidFill>
                <a:latin typeface="Calibri"/>
              </a:rPr>
              <a:t>CLIENT SITUATION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OUR SELLING POINTS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STRATEGIC CHALLENGES &amp; MARKET OVERVIEW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1" i="0">
                <a:solidFill>
                  <a:srgbClr val="1F4E5F"/>
                </a:solidFill>
                <a:latin typeface="Calibri"/>
              </a:rPr>
              <a:t>PRODUCT STRATEGY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PORTFOLIO RESULTS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WHAT HAPPENS WITH THE UPSIDE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" y="1316736"/>
            <a:ext cx="11430000" cy="329184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30451"/>
            <a:ext cx="11155680" cy="30175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THE PROMISE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" y="1828800"/>
            <a:ext cx="5943600" cy="3977639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336" y="1828800"/>
            <a:ext cx="5943600" cy="50292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956816"/>
            <a:ext cx="5614416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1F4E5F"/>
                </a:solidFill>
                <a:latin typeface="Calibri"/>
              </a:rPr>
              <a:t>In words, and as a formula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432304"/>
            <a:ext cx="5650992" cy="32461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33333"/>
                </a:solidFill>
                <a:latin typeface="Calibri"/>
              </a:rPr>
              <a:t>Every euro paid in – the €50,000 opening balance and each €5,000 contribution – compounds at 1.0% p.a. (Höchstrechnungszins) to year 15.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33333"/>
                </a:solidFill>
                <a:latin typeface="Calibri"/>
              </a:rPr>
              <a:t>It keeps accruing through the 5-year bridge (years 10→15) after contributions stop.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60520"/>
            <a:ext cx="5486400" cy="8229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12323F"/>
                </a:solidFill>
                <a:latin typeface="Calibri"/>
              </a:rPr>
              <a:t>FV₁₅  =  P₀·(1+g)¹⁵  +  Σ Cₜ·(1+g)¹⁵⁻ᵗ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P₀ = €50,000   Cₜ = €5,000, t = 1…10   g = 1.0%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55664" y="1828800"/>
            <a:ext cx="5376672" cy="3977639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55664" y="1828800"/>
            <a:ext cx="5376672" cy="50292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0256" y="1956816"/>
            <a:ext cx="502920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1F4E5F"/>
                </a:solidFill>
                <a:latin typeface="Calibri"/>
              </a:rPr>
              <a:t>The floor, three ways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0256" y="2432304"/>
            <a:ext cx="5029200" cy="365760"/>
          </a:xfrm>
          <a:prstGeom prst="rect">
            <a:avLst/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11696" y="2450592"/>
            <a:ext cx="2980944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1" i="0">
                <a:solidFill>
                  <a:srgbClr val="333333"/>
                </a:solidFill>
                <a:latin typeface="Calibri"/>
              </a:rPr>
              <a:t>Per policyholder, yr 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2450592"/>
            <a:ext cx="1773936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€113,028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11696" y="2816352"/>
            <a:ext cx="2980944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1" i="0">
                <a:solidFill>
                  <a:srgbClr val="333333"/>
                </a:solidFill>
                <a:latin typeface="Calibri"/>
              </a:rPr>
              <a:t>Book at year 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2816352"/>
            <a:ext cx="1773936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€11.30bn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20256" y="3163824"/>
            <a:ext cx="5029200" cy="365760"/>
          </a:xfrm>
          <a:prstGeom prst="rect">
            <a:avLst/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11696" y="3182112"/>
            <a:ext cx="2980944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1" i="0">
                <a:solidFill>
                  <a:srgbClr val="333333"/>
                </a:solidFill>
                <a:latin typeface="Calibri"/>
              </a:rPr>
              <a:t>PV today (50/50 split)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3182112"/>
            <a:ext cx="1773936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≈ €6.4bn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11696" y="3547872"/>
            <a:ext cx="2980944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1" i="0">
                <a:solidFill>
                  <a:srgbClr val="333333"/>
                </a:solidFill>
                <a:latin typeface="Calibri"/>
              </a:rPr>
              <a:t>PV range across election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3547872"/>
            <a:ext cx="1773936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€6.1 – 6.9bn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0256" y="4114800"/>
            <a:ext cx="5029200" cy="1554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The €11.3bn is a year-15 figure. Discounted on the EUR swap curve and split 50/50 lump/pension, the benefit liability is worth ≈ €6.4bn today (duration ≈ 20y, DV01 ≈ €12.8m/bp, 11% of PV beyond 30y).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8016" cy="566928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59184" y="182880"/>
            <a:ext cx="310896" cy="310896"/>
          </a:xfrm>
          <a:prstGeom prst="rect">
            <a:avLst/>
          </a:prstGeom>
          <a:solidFill>
            <a:srgbClr val="E08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10881360" cy="56692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12323F"/>
                </a:solidFill>
                <a:latin typeface="Calibri Light"/>
              </a:rPr>
              <a:t>Lump Sum vs. Pension – Two Cash-Flow Shapes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749808"/>
            <a:ext cx="1115568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0" i="0">
                <a:solidFill>
                  <a:srgbClr val="3B8E9E"/>
                </a:solidFill>
                <a:latin typeface="Calibri"/>
              </a:rPr>
              <a:t>The year-15 election splits the liability into two very different profiles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" y="1133856"/>
            <a:ext cx="11430000" cy="12801"/>
          </a:xfrm>
          <a:prstGeom prst="rect">
            <a:avLst/>
          </a:prstGeom>
          <a:solidFill>
            <a:srgbClr val="C7D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164592"/>
            <a:ext cx="6400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6437376"/>
            <a:ext cx="1133856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800" b="0" i="0">
                <a:solidFill>
                  <a:srgbClr val="B6C2C6"/>
                </a:solidFill>
                <a:latin typeface="Calibri"/>
              </a:rPr>
              <a:t>CLIENT SITUATION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OUR SELLING POINTS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STRATEGIC CHALLENGES &amp; MARKET OVERVIEW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1" i="0">
                <a:solidFill>
                  <a:srgbClr val="1F4E5F"/>
                </a:solidFill>
                <a:latin typeface="Calibri"/>
              </a:rPr>
              <a:t>PRODUCT STRATEGY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PORTFOLIO RESULTS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WHAT HAPPENS WITH THE UPSIDE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" y="1316736"/>
            <a:ext cx="11430000" cy="329184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30451"/>
            <a:ext cx="11155680" cy="30175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WHAT EACH CHOICE MEANS FOR 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" y="1828800"/>
            <a:ext cx="5532120" cy="182880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336" y="1828800"/>
            <a:ext cx="5532120" cy="50292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956816"/>
            <a:ext cx="5202936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1F4E5F"/>
                </a:solidFill>
                <a:latin typeface="Calibri"/>
              </a:rPr>
              <a:t>Lump sum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432304"/>
            <a:ext cx="5239512" cy="10972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33333"/>
                </a:solidFill>
                <a:latin typeface="Calibri"/>
              </a:rPr>
              <a:t>One payment at year 15, then the relationship ends.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33333"/>
                </a:solidFill>
                <a:latin typeface="Calibri"/>
              </a:rPr>
              <a:t>Full guaranteed value in a single spike – a large, dated liquidity need.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1828800"/>
            <a:ext cx="5687568" cy="182880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44768" y="1828800"/>
            <a:ext cx="5687568" cy="50292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59" y="1956816"/>
            <a:ext cx="5358383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1F4E5F"/>
                </a:solidFill>
                <a:latin typeface="Calibri"/>
              </a:rPr>
              <a:t>Monthly pension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3" y="2432304"/>
            <a:ext cx="5394959" cy="10972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33333"/>
                </a:solidFill>
                <a:latin typeface="Calibri"/>
              </a:rPr>
              <a:t>A stream from year 15, guaranteed ≥ 10 years, then survivors only.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33333"/>
                </a:solidFill>
                <a:latin typeface="Calibri"/>
              </a:rPr>
              <a:t>Smaller, spread outflows – but open-ended longevity risk.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336" y="3977639"/>
            <a:ext cx="11430000" cy="40233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" y="3995927"/>
            <a:ext cx="2606040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36976" y="3995927"/>
            <a:ext cx="4206240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Lump sum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0375" y="3995927"/>
            <a:ext cx="4206240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Monthly pension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336" y="4379976"/>
            <a:ext cx="11430000" cy="402336"/>
          </a:xfrm>
          <a:prstGeom prst="rect">
            <a:avLst/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" y="4398264"/>
            <a:ext cx="2606040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333333"/>
                </a:solidFill>
                <a:latin typeface="Calibri"/>
              </a:rPr>
              <a:t>Liquidity need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36976" y="4398264"/>
            <a:ext cx="4206240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one large cash-out at year 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0375" y="4398264"/>
            <a:ext cx="4206240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spread over years, small monthly draws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" y="4800600"/>
            <a:ext cx="2606040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333333"/>
                </a:solidFill>
                <a:latin typeface="Calibri"/>
              </a:rPr>
              <a:t>Planning horizon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36976" y="4800600"/>
            <a:ext cx="4206240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fixed – ends at payment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0375" y="4800600"/>
            <a:ext cx="4206240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open-ended – to the last survivor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2336" y="5184648"/>
            <a:ext cx="11430000" cy="402336"/>
          </a:xfrm>
          <a:prstGeom prst="rect">
            <a:avLst/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3776" y="5202936"/>
            <a:ext cx="2606040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333333"/>
                </a:solidFill>
                <a:latin typeface="Calibri"/>
              </a:rPr>
              <a:t>Risk retained by 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36976" y="5202936"/>
            <a:ext cx="4206240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none after payment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0375" y="5202936"/>
            <a:ext cx="4206240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longevity risk on every survivor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8016" cy="566928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59184" y="182880"/>
            <a:ext cx="310896" cy="310896"/>
          </a:xfrm>
          <a:prstGeom prst="rect">
            <a:avLst/>
          </a:prstGeom>
          <a:solidFill>
            <a:srgbClr val="E08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10881360" cy="56692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12323F"/>
                </a:solidFill>
                <a:latin typeface="Calibri Light"/>
              </a:rPr>
              <a:t>Mortality and Longevity – Sizing the 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749808"/>
            <a:ext cx="1115568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0" i="0">
                <a:solidFill>
                  <a:srgbClr val="3B8E9E"/>
                </a:solidFill>
                <a:latin typeface="Calibri"/>
              </a:rPr>
              <a:t>Grounded in Germany's official life table; what it does not capture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" y="1133856"/>
            <a:ext cx="11430000" cy="12801"/>
          </a:xfrm>
          <a:prstGeom prst="rect">
            <a:avLst/>
          </a:prstGeom>
          <a:solidFill>
            <a:srgbClr val="C7D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164592"/>
            <a:ext cx="6400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6437376"/>
            <a:ext cx="1133856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800" b="0" i="0">
                <a:solidFill>
                  <a:srgbClr val="B6C2C6"/>
                </a:solidFill>
                <a:latin typeface="Calibri"/>
              </a:rPr>
              <a:t>CLIENT SITUATION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OUR SELLING POINTS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STRATEGIC CHALLENGES &amp; MARKET OVERVIEW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1" i="0">
                <a:solidFill>
                  <a:srgbClr val="1F4E5F"/>
                </a:solidFill>
                <a:latin typeface="Calibri"/>
              </a:rPr>
              <a:t>PRODUCT STRATEGY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PORTFOLIO RESULTS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WHAT HAPPENS WITH THE UPSIDE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" y="1316736"/>
            <a:ext cx="11430000" cy="329184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30451"/>
            <a:ext cx="11155680" cy="30175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DESTATIS STERBETAFEL 2022/24 – REMAINING LIFE EXPECTANCY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" y="1828800"/>
            <a:ext cx="11430000" cy="40233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1847088"/>
            <a:ext cx="2606040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6976" y="1847088"/>
            <a:ext cx="1600200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74336" y="1847088"/>
            <a:ext cx="1600200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1696" y="1847088"/>
            <a:ext cx="1600200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1847088"/>
            <a:ext cx="1600200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70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6416" y="1847088"/>
            <a:ext cx="1600200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80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" y="2231136"/>
            <a:ext cx="11430000" cy="402336"/>
          </a:xfrm>
          <a:prstGeom prst="rect">
            <a:avLst/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" y="2249424"/>
            <a:ext cx="2606040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333333"/>
                </a:solidFill>
                <a:latin typeface="Calibri"/>
              </a:rPr>
              <a:t>Men (years)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36976" y="2249424"/>
            <a:ext cx="1600200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30.2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74336" y="2249424"/>
            <a:ext cx="1600200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21.6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11696" y="2249424"/>
            <a:ext cx="1600200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18.0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6" y="2249424"/>
            <a:ext cx="1600200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14.2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86416" y="2249424"/>
            <a:ext cx="1600200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7.5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" y="2651760"/>
            <a:ext cx="2606040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333333"/>
                </a:solidFill>
                <a:latin typeface="Calibri"/>
              </a:rPr>
              <a:t>Women (years)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36976" y="2651760"/>
            <a:ext cx="1600200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34.3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74336" y="2651760"/>
            <a:ext cx="1600200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25.2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11696" y="2651760"/>
            <a:ext cx="1600200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21.2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49056" y="2651760"/>
            <a:ext cx="1600200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16.9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86416" y="2651760"/>
            <a:ext cx="1600200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8.9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2336" y="3200400"/>
            <a:ext cx="5532120" cy="265176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02336" y="3200400"/>
            <a:ext cx="5532120" cy="50292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328416"/>
            <a:ext cx="5202936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1F4E5F"/>
                </a:solidFill>
                <a:latin typeface="Calibri"/>
              </a:rPr>
              <a:t>Method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" y="3803904"/>
            <a:ext cx="5239512" cy="1920239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33333"/>
                </a:solidFill>
                <a:latin typeface="Calibri"/>
              </a:rPr>
              <a:t>Destatis period table – a snapshot of today's mortality, not a cohort forecast.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33333"/>
                </a:solidFill>
                <a:latin typeface="Calibri"/>
              </a:rPr>
              <a:t>Pension tail modelled age 65 → 99+ (a 50-year-old today can still be alive then).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44768" y="3200400"/>
            <a:ext cx="5687568" cy="265176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44768" y="3200400"/>
            <a:ext cx="5687568" cy="50292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59" y="3328416"/>
            <a:ext cx="5358383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1F4E5F"/>
                </a:solidFill>
                <a:latin typeface="Calibri"/>
              </a:rPr>
              <a:t>Longevity risk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72783" y="3803904"/>
            <a:ext cx="5394959" cy="1920239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33333"/>
                </a:solidFill>
                <a:latin typeface="Calibri"/>
              </a:rPr>
              <a:t>Blended remaining life at 65 ≈ 19.6 years for this 50/50 cohort.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33333"/>
                </a:solidFill>
                <a:latin typeface="Calibri"/>
              </a:rPr>
              <a:t>A period table misses future mortality improvement – the cohort may live longer.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33333"/>
                </a:solidFill>
                <a:latin typeface="Calibri"/>
              </a:rPr>
              <a:t>That gap sits with us on every pension electant; reinsurance is available if it grows.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8016" cy="566928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59184" y="182880"/>
            <a:ext cx="310896" cy="310896"/>
          </a:xfrm>
          <a:prstGeom prst="rect">
            <a:avLst/>
          </a:prstGeom>
          <a:solidFill>
            <a:srgbClr val="E08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10881360" cy="56692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12323F"/>
                </a:solidFill>
                <a:latin typeface="Calibri Light"/>
              </a:rPr>
              <a:t>Discounting the Guarantee Correctly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749808"/>
            <a:ext cx="1115568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0" i="0">
                <a:solidFill>
                  <a:srgbClr val="3B8E9E"/>
                </a:solidFill>
                <a:latin typeface="Calibri"/>
              </a:rPr>
              <a:t>A flat rate misprices a 15-year liability – the term structure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" y="1133856"/>
            <a:ext cx="11430000" cy="12801"/>
          </a:xfrm>
          <a:prstGeom prst="rect">
            <a:avLst/>
          </a:prstGeom>
          <a:solidFill>
            <a:srgbClr val="C7D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164592"/>
            <a:ext cx="6400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6437376"/>
            <a:ext cx="1133856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800" b="0" i="0">
                <a:solidFill>
                  <a:srgbClr val="B6C2C6"/>
                </a:solidFill>
                <a:latin typeface="Calibri"/>
              </a:rPr>
              <a:t>CLIENT SITUATION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OUR SELLING POINTS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STRATEGIC CHALLENGES &amp; MARKET OVERVIEW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1" i="0">
                <a:solidFill>
                  <a:srgbClr val="1F4E5F"/>
                </a:solidFill>
                <a:latin typeface="Calibri"/>
              </a:rPr>
              <a:t>PRODUCT STRATEGY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PORTFOLIO RESULTS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WHAT HAPPENS WITH THE UPSIDE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" y="1316736"/>
            <a:ext cx="11430000" cy="329184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30451"/>
            <a:ext cx="11155680" cy="30175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EIOPA / EUR RISK-FREE TERM STRUCTURE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" y="1828800"/>
            <a:ext cx="6766560" cy="365760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1847088"/>
            <a:ext cx="216347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4406" y="1847088"/>
            <a:ext cx="2095804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Spot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7371" y="1847088"/>
            <a:ext cx="2095804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Discount factor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" y="2194560"/>
            <a:ext cx="6766560" cy="365760"/>
          </a:xfrm>
          <a:prstGeom prst="rect">
            <a:avLst/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" y="2212848"/>
            <a:ext cx="216347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94406" y="2212848"/>
            <a:ext cx="2095804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2.83%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7371" y="2212848"/>
            <a:ext cx="2095804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0.972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" y="2578608"/>
            <a:ext cx="216347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333333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94406" y="2578608"/>
            <a:ext cx="2095804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2.95%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7371" y="2578608"/>
            <a:ext cx="2095804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0.916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" y="2926079"/>
            <a:ext cx="6766560" cy="365760"/>
          </a:xfrm>
          <a:prstGeom prst="rect">
            <a:avLst/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" y="2944368"/>
            <a:ext cx="216347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94406" y="2944368"/>
            <a:ext cx="2095804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2.99%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7371" y="2944368"/>
            <a:ext cx="2095804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0.862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" y="3310127"/>
            <a:ext cx="216347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333333"/>
                </a:solidFill>
                <a:latin typeface="Calibr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94406" y="3310127"/>
            <a:ext cx="2095804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3.05%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7371" y="3310127"/>
            <a:ext cx="2095804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0.808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" y="3657599"/>
            <a:ext cx="6766560" cy="365760"/>
          </a:xfrm>
          <a:prstGeom prst="rect">
            <a:avLst/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" y="3675887"/>
            <a:ext cx="216347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333333"/>
                </a:solidFill>
                <a:latin typeface="Calibri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94406" y="3675887"/>
            <a:ext cx="2095804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3.16%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7371" y="3675887"/>
            <a:ext cx="2095804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0.732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" y="4041647"/>
            <a:ext cx="216347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333333"/>
                </a:solidFill>
                <a:latin typeface="Calibri"/>
              </a:rPr>
              <a:t>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94406" y="4041647"/>
            <a:ext cx="2095804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3.31%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7371" y="4041647"/>
            <a:ext cx="2095804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0.613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2336" y="4389120"/>
            <a:ext cx="6766560" cy="365760"/>
          </a:xfrm>
          <a:prstGeom prst="rect">
            <a:avLst/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" y="4407407"/>
            <a:ext cx="2163470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333333"/>
                </a:solidFill>
                <a:latin typeface="Calibri"/>
              </a:rPr>
              <a:t>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94406" y="4407407"/>
            <a:ext cx="2095804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3.35%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7371" y="4407407"/>
            <a:ext cx="2095804" cy="3657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0.516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06640" y="1828800"/>
            <a:ext cx="4425696" cy="3977639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406640" y="1828800"/>
            <a:ext cx="4425696" cy="50292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71231" y="1956816"/>
            <a:ext cx="4096511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1F4E5F"/>
                </a:solidFill>
                <a:latin typeface="Calibri"/>
              </a:rPr>
              <a:t>Why EIOPA, not a flat 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34656" y="2432304"/>
            <a:ext cx="4133087" cy="32461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6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960" b="0" i="0">
                <a:solidFill>
                  <a:srgbClr val="333333"/>
                </a:solidFill>
                <a:latin typeface="Calibri"/>
              </a:rPr>
              <a:t>EIOPA publishes a monthly market-consistent curve for Solvency II discounting; using it removes any temptation to pick a favourable rate.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6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960" b="0" i="0">
                <a:solidFill>
                  <a:srgbClr val="333333"/>
                </a:solidFill>
                <a:latin typeface="Calibri"/>
              </a:rPr>
              <a:t>Built from EUR swaps, extrapolated to a UFR ≈ 3.3%.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6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960" b="0" i="0">
                <a:solidFill>
                  <a:srgbClr val="333333"/>
                </a:solidFill>
                <a:latin typeface="Calibri"/>
              </a:rPr>
              <a:t>The curve runs ~2.8% at 1y to ~3.3% at 15y – not flat; a flat rate misprices a 15-year cash flow.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6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960" b="1" i="0">
                <a:solidFill>
                  <a:srgbClr val="1F4E5F"/>
                </a:solidFill>
                <a:latin typeface="Calibri"/>
              </a:rPr>
              <a:t>PV of the guarantee ≈ €6.4bn  </a:t>
            </a:r>
            <a:r>
              <a:rPr sz="960" b="0" i="0">
                <a:solidFill>
                  <a:srgbClr val="333333"/>
                </a:solidFill>
                <a:latin typeface="Calibri"/>
              </a:rPr>
              <a:t>(50/50 split; €6.9bn if 100% lump).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2336" y="6053328"/>
            <a:ext cx="114300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1">
                <a:solidFill>
                  <a:srgbClr val="8A8A8A"/>
                </a:solidFill>
                <a:latin typeface="Calibri"/>
              </a:rPr>
              <a:t>Sources: EIOPA_EUR_curve.xlsx; results/normalized_eur_swap_curve.csv (bootstrapped par-swap curve, 2 Sep 2026).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8016" cy="566928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59184" y="182880"/>
            <a:ext cx="310896" cy="310896"/>
          </a:xfrm>
          <a:prstGeom prst="rect">
            <a:avLst/>
          </a:prstGeom>
          <a:solidFill>
            <a:srgbClr val="E08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10881360" cy="56692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12323F"/>
                </a:solidFill>
                <a:latin typeface="Calibri Light"/>
              </a:rPr>
              <a:t>Base Case and Policyholder-Choice Sensitivity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749808"/>
            <a:ext cx="1115568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0" i="0">
                <a:solidFill>
                  <a:srgbClr val="3B8E9E"/>
                </a:solidFill>
                <a:latin typeface="Calibri"/>
              </a:rPr>
              <a:t>How the year-15 liquidity need moves with the lump-sum election 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" y="1133856"/>
            <a:ext cx="11430000" cy="12801"/>
          </a:xfrm>
          <a:prstGeom prst="rect">
            <a:avLst/>
          </a:prstGeom>
          <a:solidFill>
            <a:srgbClr val="C7D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164592"/>
            <a:ext cx="6400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6437376"/>
            <a:ext cx="1133856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800" b="0" i="0">
                <a:solidFill>
                  <a:srgbClr val="B6C2C6"/>
                </a:solidFill>
                <a:latin typeface="Calibri"/>
              </a:rPr>
              <a:t>CLIENT SITUATION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OUR SELLING POINTS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STRATEGIC CHALLENGES &amp; MARKET OVERVIEW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1" i="0">
                <a:solidFill>
                  <a:srgbClr val="1F4E5F"/>
                </a:solidFill>
                <a:latin typeface="Calibri"/>
              </a:rPr>
              <a:t>PRODUCT STRATEGY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PORTFOLIO RESULTS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WHAT HAPPENS WITH THE UPSIDE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" y="1316736"/>
            <a:ext cx="11430000" cy="329184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30451"/>
            <a:ext cx="11155680" cy="30175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LIABILITY SPLIT BY ELECTION</a:t>
            </a:r>
          </a:p>
        </p:txBody>
      </p:sp>
      <p:pic>
        <p:nvPicPr>
          <p:cNvPr id="12" name="Picture 11" descr="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1828800"/>
            <a:ext cx="6858000" cy="289816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498079" y="1828800"/>
            <a:ext cx="4334256" cy="40233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19" y="1847088"/>
            <a:ext cx="1336487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Lump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63167" y="1847088"/>
            <a:ext cx="1293144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Cash-out yr 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93471" y="1847088"/>
            <a:ext cx="1293144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PV today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2231136"/>
            <a:ext cx="4334256" cy="402336"/>
          </a:xfrm>
          <a:prstGeom prst="rect">
            <a:avLst/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19" y="2249424"/>
            <a:ext cx="1336487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333333"/>
                </a:solidFill>
                <a:latin typeface="Calibri"/>
              </a:rPr>
              <a:t>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63167" y="2249424"/>
            <a:ext cx="1293144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€0.0bn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93471" y="2249424"/>
            <a:ext cx="1293144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€5.35bn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19" y="2651760"/>
            <a:ext cx="1336487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333333"/>
                </a:solidFill>
                <a:latin typeface="Calibri"/>
              </a:rPr>
              <a:t>25%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63167" y="2651760"/>
            <a:ext cx="1293144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€2.83bn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93471" y="2651760"/>
            <a:ext cx="1293144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€5.75bn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79" y="3035808"/>
            <a:ext cx="4334256" cy="402336"/>
          </a:xfrm>
          <a:prstGeom prst="rect">
            <a:avLst/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19" y="3054096"/>
            <a:ext cx="1336487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333333"/>
                </a:solidFill>
                <a:latin typeface="Calibri"/>
              </a:rPr>
              <a:t>50%  (base)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63167" y="3054096"/>
            <a:ext cx="1293144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€5.65bn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93471" y="3054096"/>
            <a:ext cx="1293144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€6.14bn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19" y="3456432"/>
            <a:ext cx="1336487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333333"/>
                </a:solidFill>
                <a:latin typeface="Calibri"/>
              </a:rPr>
              <a:t>75%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63167" y="3456432"/>
            <a:ext cx="1293144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€8.48bn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93471" y="3456432"/>
            <a:ext cx="1293144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€6.54bn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79" y="3840480"/>
            <a:ext cx="4334256" cy="402336"/>
          </a:xfrm>
          <a:prstGeom prst="rect">
            <a:avLst/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19" y="3858768"/>
            <a:ext cx="1336487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333333"/>
                </a:solidFill>
                <a:latin typeface="Calibri"/>
              </a:rPr>
              <a:t>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63167" y="3858768"/>
            <a:ext cx="1293144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€11.30bn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93471" y="3858768"/>
            <a:ext cx="1293144" cy="402336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€6.94bn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" y="6053328"/>
            <a:ext cx="114300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1">
                <a:solidFill>
                  <a:srgbClr val="8A8A8A"/>
                </a:solidFill>
                <a:latin typeface="Calibri"/>
              </a:rPr>
              <a:t>Base case: even 50/50 split (assignment gives the choice; we stress ±25pp). Source: mixed_liability_scenarios.xlsx.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8016" cy="566928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59184" y="182880"/>
            <a:ext cx="310896" cy="310896"/>
          </a:xfrm>
          <a:prstGeom prst="rect">
            <a:avLst/>
          </a:prstGeom>
          <a:solidFill>
            <a:srgbClr val="E08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10881360" cy="56692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12323F"/>
                </a:solidFill>
                <a:latin typeface="Calibri Light"/>
              </a:rPr>
              <a:t>Portfolio Architecture – Two Sleeves, One Mandate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749808"/>
            <a:ext cx="1115568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0" i="0">
                <a:solidFill>
                  <a:srgbClr val="3B8E9E"/>
                </a:solidFill>
                <a:latin typeface="Calibri"/>
              </a:rPr>
              <a:t>Segregating the guaranteed floor from the surplus-return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" y="1133856"/>
            <a:ext cx="11430000" cy="12801"/>
          </a:xfrm>
          <a:prstGeom prst="rect">
            <a:avLst/>
          </a:prstGeom>
          <a:solidFill>
            <a:srgbClr val="C7D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164592"/>
            <a:ext cx="6400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6437376"/>
            <a:ext cx="1133856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800" b="0" i="0">
                <a:solidFill>
                  <a:srgbClr val="B6C2C6"/>
                </a:solidFill>
                <a:latin typeface="Calibri"/>
              </a:rPr>
              <a:t>CLIENT SITUATION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OUR SELLING POINTS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STRATEGIC CHALLENGES &amp; MARKET OVERVIEW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1" i="0">
                <a:solidFill>
                  <a:srgbClr val="1F4E5F"/>
                </a:solidFill>
                <a:latin typeface="Calibri"/>
              </a:rPr>
              <a:t>PRODUCT STRATEGY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PORTFOLIO RESULTS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WHAT HAPPENS WITH THE UPSIDE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" y="1316736"/>
            <a:ext cx="11430000" cy="329184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30451"/>
            <a:ext cx="11155680" cy="30175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" y="1828800"/>
            <a:ext cx="5532120" cy="1874519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336" y="1828800"/>
            <a:ext cx="5532120" cy="50292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956816"/>
            <a:ext cx="5202936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1F4E5F"/>
                </a:solidFill>
                <a:latin typeface="Calibri"/>
              </a:rPr>
              <a:t>Liability-Matching Portfolio (LMP)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432304"/>
            <a:ext cx="5239512" cy="1142999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33333"/>
                </a:solidFill>
                <a:latin typeface="Calibri"/>
              </a:rPr>
              <a:t>€5.0bn bond book, cash-flow + key-rate matched to the 1.0% guarantee.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33333"/>
                </a:solidFill>
                <a:latin typeface="Calibri"/>
              </a:rPr>
              <a:t>Small, by-design funding risk.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1828800"/>
            <a:ext cx="5687568" cy="1874519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44768" y="1828800"/>
            <a:ext cx="5687568" cy="50292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59" y="1956816"/>
            <a:ext cx="5358383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1F4E5F"/>
                </a:solidFill>
                <a:latin typeface="Calibri"/>
              </a:rPr>
              <a:t>Return-Seeking Portfolio (RSP)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3" y="2432304"/>
            <a:ext cx="5394959" cy="1142999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33333"/>
                </a:solidFill>
                <a:latin typeface="Calibri"/>
              </a:rPr>
              <a:t>Contributions (€0.5bn/yr) invested in an aggressive, diversified index mix.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33333"/>
                </a:solidFill>
                <a:latin typeface="Calibri"/>
              </a:rPr>
              <a:t>Captures the upside above the floor; a bad year never touches the guarantee.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36" y="3977639"/>
            <a:ext cx="5532120" cy="1874519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2336" y="3977639"/>
            <a:ext cx="5532120" cy="50292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4105655"/>
            <a:ext cx="5202936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1F4E5F"/>
                </a:solidFill>
                <a:latin typeface="Calibri"/>
              </a:rPr>
              <a:t>Why split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4581144"/>
            <a:ext cx="5239512" cy="1142999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Standard insurance ALM – return risk can never endanger the floor.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Each sleeve judged on its own mandate; funded status transparent at any time.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44768" y="3977639"/>
            <a:ext cx="5687568" cy="1874519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3977639"/>
            <a:ext cx="5687568" cy="50292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59" y="4105655"/>
            <a:ext cx="5358383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1F4E5F"/>
                </a:solidFill>
                <a:latin typeface="Calibri"/>
              </a:rPr>
              <a:t>What sets the split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3" y="4581144"/>
            <a:ext cx="5394959" cy="1142999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Not a fixed %: the LMP is sized to the PV of the guaranteed liability.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Everything above the funded amount flows to the RSP; the split re-strikes yearly.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8016" cy="566928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59184" y="182880"/>
            <a:ext cx="310896" cy="310896"/>
          </a:xfrm>
          <a:prstGeom prst="rect">
            <a:avLst/>
          </a:prstGeom>
          <a:solidFill>
            <a:srgbClr val="E08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10881360" cy="56692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12323F"/>
                </a:solidFill>
                <a:latin typeface="Calibri Light"/>
              </a:rPr>
              <a:t>Liability-Matching Portfolio – Bonds, Precisely Matched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749808"/>
            <a:ext cx="1115568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0" i="0">
                <a:solidFill>
                  <a:srgbClr val="3B8E9E"/>
                </a:solidFill>
                <a:latin typeface="Calibri"/>
              </a:rPr>
              <a:t>Cash-flow dedication, key-rate DV01 shaping, and a no-cash receiver-IRS overlay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" y="1133856"/>
            <a:ext cx="11430000" cy="12801"/>
          </a:xfrm>
          <a:prstGeom prst="rect">
            <a:avLst/>
          </a:prstGeom>
          <a:solidFill>
            <a:srgbClr val="C7D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164592"/>
            <a:ext cx="6400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6437376"/>
            <a:ext cx="1133856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800" b="0" i="0">
                <a:solidFill>
                  <a:srgbClr val="B6C2C6"/>
                </a:solidFill>
                <a:latin typeface="Calibri"/>
              </a:rPr>
              <a:t>CLIENT SITUATION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OUR SELLING POINTS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STRATEGIC CHALLENGES &amp; MARKET OVERVIEW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1" i="0">
                <a:solidFill>
                  <a:srgbClr val="1F4E5F"/>
                </a:solidFill>
                <a:latin typeface="Calibri"/>
              </a:rPr>
              <a:t>PRODUCT STRATEGY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PORTFOLIO RESULTS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WHAT HAPPENS WITH THE UPSIDE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" y="1316736"/>
            <a:ext cx="11430000" cy="329184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30451"/>
            <a:ext cx="11155680" cy="30175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HOW THE MATCH IS BUILT</a:t>
            </a:r>
          </a:p>
        </p:txBody>
      </p:sp>
      <p:pic>
        <p:nvPicPr>
          <p:cNvPr id="12" name="Picture 11" descr="k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1783080"/>
            <a:ext cx="6858000" cy="291101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452360" y="1783080"/>
            <a:ext cx="4379976" cy="411480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783080"/>
            <a:ext cx="4379976" cy="50292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16952" y="1911095"/>
            <a:ext cx="4050791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1F4E5F"/>
                </a:solidFill>
                <a:latin typeface="Calibri"/>
              </a:rPr>
              <a:t>Four techniques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0376" y="2386584"/>
            <a:ext cx="4087368" cy="33832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4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940" b="1" i="0">
                <a:solidFill>
                  <a:srgbClr val="1F4E5F"/>
                </a:solidFill>
                <a:latin typeface="Calibri"/>
              </a:rPr>
              <a:t>Cash-flow dedication.  </a:t>
            </a:r>
            <a:r>
              <a:rPr sz="940" b="0" i="0">
                <a:solidFill>
                  <a:srgbClr val="333333"/>
                </a:solidFill>
                <a:latin typeface="Calibri"/>
              </a:rPr>
              <a:t>Stage 1: running cash balance ≥ 0 every year (1.5% reinvestment) – external top-up €0.00bn, covered to year 50.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4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940" b="1" i="0">
                <a:solidFill>
                  <a:srgbClr val="1F4E5F"/>
                </a:solidFill>
                <a:latin typeface="Calibri"/>
              </a:rPr>
              <a:t>Duration matching.  </a:t>
            </a:r>
            <a:r>
              <a:rPr sz="940" b="0" i="0">
                <a:solidFill>
                  <a:srgbClr val="333333"/>
                </a:solidFill>
                <a:latin typeface="Calibri"/>
              </a:rPr>
              <a:t>≈ 29y KRD-effective, matched to the ≈ 20y / €12.8m-per-bp liability.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4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940" b="1" i="0">
                <a:solidFill>
                  <a:srgbClr val="1F4E5F"/>
                </a:solidFill>
                <a:latin typeface="Calibri"/>
              </a:rPr>
              <a:t>Key-rate DV01.  </a:t>
            </a:r>
            <a:r>
              <a:rPr sz="940" b="0" i="0">
                <a:solidFill>
                  <a:srgbClr val="333333"/>
                </a:solidFill>
                <a:latin typeface="Calibri"/>
              </a:rPr>
              <a:t>Stage 2: match € per bp at each tenor, without giving back Stage-1 coverage or duration.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4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940" b="1" i="0">
                <a:solidFill>
                  <a:srgbClr val="1F4E5F"/>
                </a:solidFill>
                <a:latin typeface="Calibri"/>
              </a:rPr>
              <a:t>Receiver-IRS overlay.  </a:t>
            </a:r>
            <a:r>
              <a:rPr sz="940" b="0" i="0">
                <a:solidFill>
                  <a:srgbClr val="333333"/>
                </a:solidFill>
                <a:latin typeface="Calibri"/>
              </a:rPr>
              <a:t>Par swap, notional not exchanged – no cash. 15y €2.8bn + 30y €0.3bn closes the residual 15y gap.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" y="5257800"/>
            <a:ext cx="6858000" cy="384048"/>
          </a:xfrm>
          <a:prstGeom prst="rect">
            <a:avLst/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" y="5276088"/>
            <a:ext cx="1920240" cy="38404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333333"/>
                </a:solidFill>
                <a:latin typeface="Calibri"/>
              </a:rPr>
              <a:t>11 bonds, ≈ €5.0bn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51176" y="5276088"/>
            <a:ext cx="2263140" cy="38404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KRD-eff. duration ≈ 29y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1475" y="5276088"/>
            <a:ext cx="2263140" cy="38404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cash-flow top-up €0.00bn; surplus DV01 gap ≈ 0 after IRS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" y="6053328"/>
            <a:ext cx="114300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1">
                <a:solidFill>
                  <a:srgbClr val="8A8A8A"/>
                </a:solidFill>
                <a:latin typeface="Calibri"/>
              </a:rPr>
              <a:t>Source: results_v2/portfolio_wide.csv (two-stage: Stage 1 cash-flow dedication, Stage 2 KRD shaping) + cashflow_match_v2.size_irs().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8016" cy="566928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59184" y="182880"/>
            <a:ext cx="310896" cy="310896"/>
          </a:xfrm>
          <a:prstGeom prst="rect">
            <a:avLst/>
          </a:prstGeom>
          <a:solidFill>
            <a:srgbClr val="E08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10881360" cy="56692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12323F"/>
                </a:solidFill>
                <a:latin typeface="Calibri Light"/>
              </a:rPr>
              <a:t>Return-Seeking Portfolio – Equities for the Surplus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749808"/>
            <a:ext cx="1115568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0" i="0">
                <a:solidFill>
                  <a:srgbClr val="3B8E9E"/>
                </a:solidFill>
                <a:latin typeface="Calibri"/>
              </a:rPr>
              <a:t>Aggressive Diversified target weights across 14 investable indices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" y="1133856"/>
            <a:ext cx="11430000" cy="12801"/>
          </a:xfrm>
          <a:prstGeom prst="rect">
            <a:avLst/>
          </a:prstGeom>
          <a:solidFill>
            <a:srgbClr val="C7D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164592"/>
            <a:ext cx="6400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6437376"/>
            <a:ext cx="1133856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800" b="0" i="0">
                <a:solidFill>
                  <a:srgbClr val="B6C2C6"/>
                </a:solidFill>
                <a:latin typeface="Calibri"/>
              </a:rPr>
              <a:t>CLIENT SITUATION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OUR SELLING POINTS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STRATEGIC CHALLENGES &amp; MARKET OVERVIEW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1" i="0">
                <a:solidFill>
                  <a:srgbClr val="1F4E5F"/>
                </a:solidFill>
                <a:latin typeface="Calibri"/>
              </a:rPr>
              <a:t>PRODUCT STRATEGY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PORTFOLIO RESULTS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WHAT HAPPENS WITH THE UPSIDE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" y="1316736"/>
            <a:ext cx="11430000" cy="329184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30451"/>
            <a:ext cx="11155680" cy="30175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TARGET WEIGHTS</a:t>
            </a:r>
          </a:p>
        </p:txBody>
      </p:sp>
      <p:pic>
        <p:nvPicPr>
          <p:cNvPr id="12" name="Picture 11" descr="rsp_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1783080"/>
            <a:ext cx="7040880" cy="3182223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589520" y="1783080"/>
            <a:ext cx="4242816" cy="411480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0" y="1783080"/>
            <a:ext cx="4242816" cy="50292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911095"/>
            <a:ext cx="3913631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1F4E5F"/>
                </a:solidFill>
                <a:latin typeface="Calibri"/>
              </a:rPr>
              <a:t>Rationale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7536" y="2386584"/>
            <a:ext cx="3950207" cy="33832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6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960" b="0" i="0">
                <a:solidFill>
                  <a:srgbClr val="333333"/>
                </a:solidFill>
                <a:latin typeface="Calibri"/>
              </a:rPr>
              <a:t>≈ 92% equity across DAX, Nasdaq, Dow, MSCI World / Europe, Russell 2000, Asia-Pacific, plus rare-earth, health-care and Hong Kong satellites.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6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960" b="0" i="0">
                <a:solidFill>
                  <a:srgbClr val="333333"/>
                </a:solidFill>
                <a:latin typeface="Calibri"/>
              </a:rPr>
              <a:t>≈ 4% high yield, ≈ 2% gold, ≈ 1% euro treasuries for diversification.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6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960" b="0" i="0">
                <a:solidFill>
                  <a:srgbClr val="333333"/>
                </a:solidFill>
                <a:latin typeface="Calibri"/>
              </a:rPr>
              <a:t>Risk calibrated to surplus only – the guarantee is already secured by the LMP.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" y="6053328"/>
            <a:ext cx="114300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1">
                <a:solidFill>
                  <a:srgbClr val="8A8A8A"/>
                </a:solidFill>
                <a:latin typeface="Calibri"/>
              </a:rPr>
              <a:t>Source: portfolio_optimization_final.xlsx, sheet 'Portfolio Weights', column Aggressive_Diversified.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8016" cy="566928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59184" y="182880"/>
            <a:ext cx="310896" cy="310896"/>
          </a:xfrm>
          <a:prstGeom prst="rect">
            <a:avLst/>
          </a:prstGeom>
          <a:solidFill>
            <a:srgbClr val="E08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10881360" cy="56692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12323F"/>
                </a:solidFill>
                <a:latin typeface="Calibri Light"/>
              </a:rPr>
              <a:t>Investment Rationale – Why These 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749808"/>
            <a:ext cx="1115568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0" i="0">
                <a:solidFill>
                  <a:srgbClr val="3B8E9E"/>
                </a:solidFill>
                <a:latin typeface="Calibri"/>
              </a:rPr>
              <a:t>Tying the two-sleeve architecture back to the quantified liability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" y="1133856"/>
            <a:ext cx="11430000" cy="12801"/>
          </a:xfrm>
          <a:prstGeom prst="rect">
            <a:avLst/>
          </a:prstGeom>
          <a:solidFill>
            <a:srgbClr val="C7D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164592"/>
            <a:ext cx="6400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6437376"/>
            <a:ext cx="1133856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800" b="0" i="0">
                <a:solidFill>
                  <a:srgbClr val="B6C2C6"/>
                </a:solidFill>
                <a:latin typeface="Calibri"/>
              </a:rPr>
              <a:t>CLIENT SITUATION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OUR SELLING POINTS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STRATEGIC CHALLENGES &amp; MARKET OVERVIEW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1" i="0">
                <a:solidFill>
                  <a:srgbClr val="1F4E5F"/>
                </a:solidFill>
                <a:latin typeface="Calibri"/>
              </a:rPr>
              <a:t>PRODUCT STRATEGY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PORTFOLIO RESULTS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WHAT HAPPENS WITH THE UPSIDE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" y="1316736"/>
            <a:ext cx="11430000" cy="329184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30451"/>
            <a:ext cx="11155680" cy="30175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LMP VS RSP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" y="1828800"/>
            <a:ext cx="11430000" cy="566928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1847088"/>
            <a:ext cx="2148840" cy="56692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9776" y="1847088"/>
            <a:ext cx="4434840" cy="56692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Liability-Matching Portfolio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51775" y="1847088"/>
            <a:ext cx="4434840" cy="56692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Return-Seeking Portfolio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" y="2395728"/>
            <a:ext cx="11430000" cy="566928"/>
          </a:xfrm>
          <a:prstGeom prst="rect">
            <a:avLst/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" y="2414016"/>
            <a:ext cx="2148840" cy="56692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333333"/>
                </a:solidFill>
                <a:latin typeface="Calibri"/>
              </a:rPr>
              <a:t>Job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9776" y="2414016"/>
            <a:ext cx="4434840" cy="56692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match the 1.0% guarantee, minimal tracking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51775" y="2414016"/>
            <a:ext cx="4434840" cy="56692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capture the surplus – target ≈ 6% p.a. median IRR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" y="2980944"/>
            <a:ext cx="2148840" cy="56692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333333"/>
                </a:solidFill>
                <a:latin typeface="Calibri"/>
              </a:rPr>
              <a:t>Instruments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9776" y="2980944"/>
            <a:ext cx="4434840" cy="56692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EUR sovereign / SSA / covered bonds + ultra-long &amp; zero-coupon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51775" y="2980944"/>
            <a:ext cx="4434840" cy="56692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broad developed + satellite equity indices, some HY / gold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" y="3529584"/>
            <a:ext cx="11430000" cy="566928"/>
          </a:xfrm>
          <a:prstGeom prst="rect">
            <a:avLst/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" y="3547872"/>
            <a:ext cx="2148840" cy="56692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333333"/>
                </a:solidFill>
                <a:latin typeface="Calibri"/>
              </a:rPr>
              <a:t>Protects against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79776" y="3547872"/>
            <a:ext cx="4434840" cy="56692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funding risk on the guarantee – the one liability we cannot get wrong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51775" y="3547872"/>
            <a:ext cx="4434840" cy="56692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missing the return that makes the mandate worth running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2336" y="4023360"/>
            <a:ext cx="11430000" cy="173736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160520"/>
            <a:ext cx="11155680" cy="1554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A single blended portfolio would force every decision to compromise between safety and return – under-funding the guarantee or under-delivering the target.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Every instrument screened for Solvency II capital, liquidity, diversification and implementation.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A board can explain it in one line: the floor is matched, the upside is diversified.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8016" cy="566928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59184" y="182880"/>
            <a:ext cx="310896" cy="310896"/>
          </a:xfrm>
          <a:prstGeom prst="rect">
            <a:avLst/>
          </a:prstGeom>
          <a:solidFill>
            <a:srgbClr val="E08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10881360" cy="56692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12323F"/>
                </a:solidFill>
                <a:latin typeface="Calibri Light"/>
              </a:rPr>
              <a:t>The Investable Universe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749808"/>
            <a:ext cx="1115568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0" i="0">
                <a:solidFill>
                  <a:srgbClr val="3B8E9E"/>
                </a:solidFill>
                <a:latin typeface="Calibri"/>
              </a:rPr>
              <a:t>One universe, two mandates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" y="1133856"/>
            <a:ext cx="11430000" cy="12801"/>
          </a:xfrm>
          <a:prstGeom prst="rect">
            <a:avLst/>
          </a:prstGeom>
          <a:solidFill>
            <a:srgbClr val="C7D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164592"/>
            <a:ext cx="6400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6437376"/>
            <a:ext cx="1133856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800" b="0" i="0">
                <a:solidFill>
                  <a:srgbClr val="B6C2C6"/>
                </a:solidFill>
                <a:latin typeface="Calibri"/>
              </a:rPr>
              <a:t>CLIENT SITUATION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OUR SELLING POINTS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STRATEGIC CHALLENGES &amp; MARKET OVERVIEW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1" i="0">
                <a:solidFill>
                  <a:srgbClr val="1F4E5F"/>
                </a:solidFill>
                <a:latin typeface="Calibri"/>
              </a:rPr>
              <a:t>PRODUCT STRATEGY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PORTFOLIO RESULTS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WHAT HAPPENS WITH THE UPSIDE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" y="1316736"/>
            <a:ext cx="11430000" cy="329184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30451"/>
            <a:ext cx="11155680" cy="30175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BY SLEEVE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" y="1828800"/>
            <a:ext cx="3703320" cy="402336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336" y="1828800"/>
            <a:ext cx="3703320" cy="50292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956816"/>
            <a:ext cx="3374136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1F4E5F"/>
                </a:solidFill>
                <a:latin typeface="Calibri"/>
              </a:rPr>
              <a:t>Fixed income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432304"/>
            <a:ext cx="3410712" cy="32918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950" b="1" i="0">
                <a:solidFill>
                  <a:srgbClr val="1F4E5F"/>
                </a:solidFill>
                <a:latin typeface="Calibri"/>
              </a:rPr>
              <a:t>LMP:  </a:t>
            </a:r>
            <a:r>
              <a:rPr sz="950" b="0" i="0">
                <a:solidFill>
                  <a:srgbClr val="333333"/>
                </a:solidFill>
                <a:latin typeface="Calibri"/>
              </a:rPr>
              <a:t>EUR government &amp; SSA bonds (KfW, EU, Belgium, Austria, Netherlands, Germany), covered bonds, ultra-long and zero-coupon (STRIPS).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950" b="1" i="0">
                <a:solidFill>
                  <a:srgbClr val="1F4E5F"/>
                </a:solidFill>
                <a:latin typeface="Calibri"/>
              </a:rPr>
              <a:t>RSP credit:  </a:t>
            </a:r>
            <a:r>
              <a:rPr sz="950" b="0" i="0">
                <a:solidFill>
                  <a:srgbClr val="333333"/>
                </a:solidFill>
                <a:latin typeface="Calibri"/>
              </a:rPr>
              <a:t>US corporate HY, Pan-European HY.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5968" y="1828800"/>
            <a:ext cx="3703320" cy="402336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15968" y="1828800"/>
            <a:ext cx="3703320" cy="50292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59" y="1956816"/>
            <a:ext cx="3374136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1F4E5F"/>
                </a:solidFill>
                <a:latin typeface="Calibri"/>
              </a:rPr>
              <a:t>Equity indices (RSP)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3" y="2432304"/>
            <a:ext cx="3410712" cy="32918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3333"/>
                </a:solidFill>
                <a:latin typeface="Calibri"/>
              </a:rPr>
              <a:t>DAX, Dow Jones, Nasdaq, MSCI World, MSCI Europe, Russell 2000, Bloomberg Asia-Pacific Aggregate.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3333"/>
                </a:solidFill>
                <a:latin typeface="Calibri"/>
              </a:rPr>
              <a:t>Satellites: MVIS Global Rare Earth, MSCI World Health Care, iShares MSCI Hong Kong.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1828800"/>
            <a:ext cx="3648456" cy="402336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79" y="1828800"/>
            <a:ext cx="3648456" cy="50292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8471" y="1956816"/>
            <a:ext cx="3319272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1F4E5F"/>
                </a:solidFill>
                <a:latin typeface="Calibri"/>
              </a:rPr>
              <a:t>Diversifiers (RSP)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2432304"/>
            <a:ext cx="3355848" cy="32918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3333"/>
                </a:solidFill>
                <a:latin typeface="Calibri"/>
              </a:rPr>
              <a:t>Bloomberg Commodity – Gold.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3333"/>
                </a:solidFill>
                <a:latin typeface="Calibri"/>
              </a:rPr>
              <a:t>Bloomberg Euro Treasury (liquid ballast).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" y="6053328"/>
            <a:ext cx="114300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1">
                <a:solidFill>
                  <a:srgbClr val="8A8A8A"/>
                </a:solidFill>
                <a:latin typeface="Calibri"/>
              </a:rPr>
              <a:t>Source: portfolio_optimization_final.xlsx (14-index optimiser universe); Fixed Income Basket.xlsx + ZCB and ultra long coupon Bond.xlsx.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395728"/>
            <a:ext cx="1371600" cy="45720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73152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3B8E9E"/>
                </a:solidFill>
                <a:latin typeface="Calibri"/>
              </a:rP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241280" cy="12801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 Light"/>
              </a:rPr>
              <a:t>Portfolio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9875520" cy="9144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00" b="0" i="0">
                <a:solidFill>
                  <a:srgbClr val="AEC4CB"/>
                </a:solidFill>
                <a:latin typeface="Calibri"/>
              </a:rPr>
              <a:t>Does it work? 1-year 99% VaR, deterministic stress, 15-year Monte-Carlo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8016" cy="566928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59184" y="182880"/>
            <a:ext cx="310896" cy="310896"/>
          </a:xfrm>
          <a:prstGeom prst="rect">
            <a:avLst/>
          </a:prstGeom>
          <a:solidFill>
            <a:srgbClr val="E08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10881360" cy="56692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12323F"/>
                </a:solidFill>
                <a:latin typeface="Calibri Light"/>
              </a:rPr>
              <a:t>Risk Map – What All-Kanns Is Exposed 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749808"/>
            <a:ext cx="1115568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0" i="0">
                <a:solidFill>
                  <a:srgbClr val="3B8E9E"/>
                </a:solidFill>
                <a:latin typeface="Calibri"/>
              </a:rPr>
              <a:t>Four risks fall out of the strategy; each gets the same three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" y="1133856"/>
            <a:ext cx="11430000" cy="12801"/>
          </a:xfrm>
          <a:prstGeom prst="rect">
            <a:avLst/>
          </a:prstGeom>
          <a:solidFill>
            <a:srgbClr val="C7D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164592"/>
            <a:ext cx="6400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6437376"/>
            <a:ext cx="1133856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800" b="0" i="0">
                <a:solidFill>
                  <a:srgbClr val="B6C2C6"/>
                </a:solidFill>
                <a:latin typeface="Calibri"/>
              </a:rPr>
              <a:t>CLIENT SITUATION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OUR SELLING POINTS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STRATEGIC CHALLENGES &amp; MARKET OVERVIEW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PRODUCT STRATEGY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1" i="0">
                <a:solidFill>
                  <a:srgbClr val="1F4E5F"/>
                </a:solidFill>
                <a:latin typeface="Calibri"/>
              </a:rPr>
              <a:t>PORTFOLIO RESULTS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WHAT HAPPENS WITH THE UPSIDE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" y="1316736"/>
            <a:ext cx="11430000" cy="329184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30451"/>
            <a:ext cx="11155680" cy="30175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FOUR RISKS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" y="1828800"/>
            <a:ext cx="5623560" cy="182880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336" y="1828800"/>
            <a:ext cx="5623560" cy="45720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975104"/>
            <a:ext cx="5303520" cy="1554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1F4E5F"/>
                </a:solidFill>
                <a:latin typeface="Calibri"/>
              </a:rPr>
              <a:t>1  Interest-rate / duration risk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Rate moves reprice both the LMP and the liability – the risk is the mismatch between them.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828800"/>
            <a:ext cx="5623560" cy="182880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08776" y="1828800"/>
            <a:ext cx="5623560" cy="45720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1975104"/>
            <a:ext cx="5303520" cy="1554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1F4E5F"/>
                </a:solidFill>
                <a:latin typeface="Calibri"/>
              </a:rPr>
              <a:t>2  Equity &amp; market risk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The RSP's core exposure – accepted deliberately, on surplus capital only.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" y="3886200"/>
            <a:ext cx="5623560" cy="182880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2336" y="3886200"/>
            <a:ext cx="5623560" cy="45720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032504"/>
            <a:ext cx="5303520" cy="1554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1F4E5F"/>
                </a:solidFill>
                <a:latin typeface="Calibri"/>
              </a:rPr>
              <a:t>3  FX exposure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USD sleeves (US Treasuries, US equity, USD credit) create currency risk against a EUR guarantee.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3886200"/>
            <a:ext cx="5623560" cy="182880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08776" y="3886200"/>
            <a:ext cx="5623560" cy="45720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4032504"/>
            <a:ext cx="5303520" cy="1554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1F4E5F"/>
                </a:solidFill>
                <a:latin typeface="Calibri"/>
              </a:rPr>
              <a:t>4  Longevity &amp; election risk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How long survivors live, and how many take the pension over the lump sum.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" y="5989320"/>
            <a:ext cx="114300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0" i="1">
                <a:solidFill>
                  <a:srgbClr val="8A8A8A"/>
                </a:solidFill>
                <a:latin typeface="Calibri"/>
              </a:rPr>
              <a:t>For each: why it arises · how large (quantified) · accept, mitigate or transfer.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8016" cy="566928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59184" y="182880"/>
            <a:ext cx="310896" cy="310896"/>
          </a:xfrm>
          <a:prstGeom prst="rect">
            <a:avLst/>
          </a:prstGeom>
          <a:solidFill>
            <a:srgbClr val="E08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10881360" cy="56692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12323F"/>
                </a:solidFill>
                <a:latin typeface="Calibri Light"/>
              </a:rPr>
              <a:t>Risk Quantification and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749808"/>
            <a:ext cx="1115568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0" i="0">
                <a:solidFill>
                  <a:srgbClr val="3B8E9E"/>
                </a:solidFill>
                <a:latin typeface="Calibri"/>
              </a:rPr>
              <a:t>For each risk: why it matters, how large it is, what we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" y="1133856"/>
            <a:ext cx="11430000" cy="12801"/>
          </a:xfrm>
          <a:prstGeom prst="rect">
            <a:avLst/>
          </a:prstGeom>
          <a:solidFill>
            <a:srgbClr val="C7D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164592"/>
            <a:ext cx="6400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6437376"/>
            <a:ext cx="1133856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800" b="0" i="0">
                <a:solidFill>
                  <a:srgbClr val="B6C2C6"/>
                </a:solidFill>
                <a:latin typeface="Calibri"/>
              </a:rPr>
              <a:t>CLIENT SITUATION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OUR SELLING POINTS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STRATEGIC CHALLENGES &amp; MARKET OVERVIEW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PRODUCT STRATEGY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1" i="0">
                <a:solidFill>
                  <a:srgbClr val="1F4E5F"/>
                </a:solidFill>
                <a:latin typeface="Calibri"/>
              </a:rPr>
              <a:t>PORTFOLIO RESULTS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WHAT HAPPENS WITH THE UPSIDE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" y="1316736"/>
            <a:ext cx="11430000" cy="329184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30451"/>
            <a:ext cx="11155680" cy="30175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QUANTIFIED (1-YEAR, CURRENT BOOK)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" y="1828800"/>
            <a:ext cx="11430000" cy="786384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1847088"/>
            <a:ext cx="1691640" cy="786384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30" b="1" i="0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2576" y="1847088"/>
            <a:ext cx="4663440" cy="786384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30" b="1" i="0">
                <a:solidFill>
                  <a:srgbClr val="FFFFFF"/>
                </a:solidFill>
                <a:latin typeface="Calibri"/>
              </a:rPr>
              <a:t>How large (quantified)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23175" y="1847088"/>
            <a:ext cx="4663440" cy="786384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30" b="1" i="0">
                <a:solidFill>
                  <a:srgbClr val="FFFFFF"/>
                </a:solidFill>
                <a:latin typeface="Calibri"/>
              </a:rPr>
              <a:t>Response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" y="2615184"/>
            <a:ext cx="11430000" cy="786384"/>
          </a:xfrm>
          <a:prstGeom prst="rect">
            <a:avLst/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" y="2633472"/>
            <a:ext cx="1691640" cy="786384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30" b="1" i="0">
                <a:solidFill>
                  <a:srgbClr val="333333"/>
                </a:solidFill>
                <a:latin typeface="Calibri"/>
              </a:rPr>
              <a:t>Rate / duration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633472"/>
            <a:ext cx="4663440" cy="786384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30" b="0" i="0">
                <a:solidFill>
                  <a:srgbClr val="333333"/>
                </a:solidFill>
                <a:latin typeface="Calibri"/>
              </a:rPr>
              <a:t>±100bp: LMP ≈ €1.05bn vs liability ≈ €1.22bn; surplus swing ≈ €0.16bn with the KRD + IRS match (≈ €0.53bn without the IRS)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23175" y="2633472"/>
            <a:ext cx="4663440" cy="786384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30" b="0" i="0">
                <a:solidFill>
                  <a:srgbClr val="333333"/>
                </a:solidFill>
                <a:latin typeface="Calibri"/>
              </a:rPr>
              <a:t>Mitigate – cash-flow + KRD + receiver IRS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" y="3419856"/>
            <a:ext cx="1691640" cy="786384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30" b="1" i="0">
                <a:solidFill>
                  <a:srgbClr val="333333"/>
                </a:solidFill>
                <a:latin typeface="Calibri"/>
              </a:rPr>
              <a:t>Equity / market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2576" y="3419856"/>
            <a:ext cx="4663440" cy="786384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30" b="0" i="0">
                <a:solidFill>
                  <a:srgbClr val="333333"/>
                </a:solidFill>
                <a:latin typeface="Calibri"/>
              </a:rPr>
              <a:t>−30% equities ≈ −€1.41bn on the RSP – inside the €3.2bn economic surplus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23175" y="3419856"/>
            <a:ext cx="4663440" cy="786384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30" b="0" i="0">
                <a:solidFill>
                  <a:srgbClr val="333333"/>
                </a:solidFill>
                <a:latin typeface="Calibri"/>
              </a:rPr>
              <a:t>Accept – the deliberate risk budget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" y="4187952"/>
            <a:ext cx="11430000" cy="786384"/>
          </a:xfrm>
          <a:prstGeom prst="rect">
            <a:avLst/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" y="4206240"/>
            <a:ext cx="1691640" cy="786384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30" b="1" i="0">
                <a:solidFill>
                  <a:srgbClr val="333333"/>
                </a:solidFill>
                <a:latin typeface="Calibri"/>
              </a:rPr>
              <a:t>FX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2576" y="4206240"/>
            <a:ext cx="4663440" cy="786384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30" b="0" i="0">
                <a:solidFill>
                  <a:srgbClr val="333333"/>
                </a:solidFill>
                <a:latin typeface="Calibri"/>
              </a:rPr>
              <a:t>USD sleeves swapped to EUR; residual is the 1y rate-differential on the hedge roll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23175" y="4206240"/>
            <a:ext cx="4663440" cy="786384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30" b="0" i="0">
                <a:solidFill>
                  <a:srgbClr val="333333"/>
                </a:solidFill>
                <a:latin typeface="Calibri"/>
              </a:rPr>
              <a:t>Mitigate – FX-swap the LMP; RSP partly unhedged as a diversifier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" y="4992624"/>
            <a:ext cx="1691640" cy="786384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30" b="1" i="0">
                <a:solidFill>
                  <a:srgbClr val="333333"/>
                </a:solidFill>
                <a:latin typeface="Calibri"/>
              </a:rPr>
              <a:t>Longevity / election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22576" y="4992624"/>
            <a:ext cx="4663440" cy="786384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30" b="0" i="0">
                <a:solidFill>
                  <a:srgbClr val="333333"/>
                </a:solidFill>
                <a:latin typeface="Calibri"/>
              </a:rPr>
              <a:t>25%→75% lump swing moves the year-15 need €2.8bn→€8.5bn; +1yr life exp ≈ +€0.27bn liability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23175" y="4992624"/>
            <a:ext cx="4663440" cy="786384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30" b="0" i="0">
                <a:solidFill>
                  <a:srgbClr val="333333"/>
                </a:solidFill>
                <a:latin typeface="Calibri"/>
              </a:rPr>
              <a:t>Mitigate via buffer sizing; reinsurance available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" y="6053328"/>
            <a:ext cx="114300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1">
                <a:solidFill>
                  <a:srgbClr val="8A8A8A"/>
                </a:solidFill>
                <a:latin typeface="Calibri"/>
              </a:rPr>
              <a:t>Source: results_var/stress_tests_full_irs.csv &amp; _unhedged.csv; results/policyholder_choice_scenarios.csv.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8016" cy="566928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59184" y="182880"/>
            <a:ext cx="310896" cy="310896"/>
          </a:xfrm>
          <a:prstGeom prst="rect">
            <a:avLst/>
          </a:prstGeom>
          <a:solidFill>
            <a:srgbClr val="E08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10881360" cy="56692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12323F"/>
                </a:solidFill>
                <a:latin typeface="Calibri Light"/>
              </a:rPr>
              <a:t>Does It Work?  One-Year 99% VaR and Surplus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749808"/>
            <a:ext cx="1115568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0" i="0">
                <a:solidFill>
                  <a:srgbClr val="3B8E9E"/>
                </a:solidFill>
                <a:latin typeface="Calibri"/>
              </a:rPr>
              <a:t>The mandated internal measure: 1-year 99% VaR on asset P&amp;L and on surplus P&amp;L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" y="1133856"/>
            <a:ext cx="11430000" cy="12801"/>
          </a:xfrm>
          <a:prstGeom prst="rect">
            <a:avLst/>
          </a:prstGeom>
          <a:solidFill>
            <a:srgbClr val="C7D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164592"/>
            <a:ext cx="6400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6437376"/>
            <a:ext cx="1133856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800" b="0" i="0">
                <a:solidFill>
                  <a:srgbClr val="B6C2C6"/>
                </a:solidFill>
                <a:latin typeface="Calibri"/>
              </a:rPr>
              <a:t>CLIENT SITUATION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OUR SELLING POINTS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STRATEGIC CHALLENGES &amp; MARKET OVERVIEW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PRODUCT STRATEGY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1" i="0">
                <a:solidFill>
                  <a:srgbClr val="1F4E5F"/>
                </a:solidFill>
                <a:latin typeface="Calibri"/>
              </a:rPr>
              <a:t>PORTFOLIO RESULTS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WHAT HAPPENS WITH THE UPSIDE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" y="1316736"/>
            <a:ext cx="11430000" cy="329184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30451"/>
            <a:ext cx="11155680" cy="30175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1-YEAR 99% VAR – HISTORICAL SIMULATION</a:t>
            </a:r>
          </a:p>
        </p:txBody>
      </p:sp>
      <p:pic>
        <p:nvPicPr>
          <p:cNvPr id="12" name="Picture 11" descr="var_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1783080"/>
            <a:ext cx="6949440" cy="294982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498079" y="1783080"/>
            <a:ext cx="4334256" cy="214884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79" y="1783080"/>
            <a:ext cx="4334256" cy="50292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1911095"/>
            <a:ext cx="4005072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1F4E5F"/>
                </a:solidFill>
                <a:latin typeface="Calibri"/>
              </a:rPr>
              <a:t>Method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6096" y="2386584"/>
            <a:ext cx="4041648" cy="1417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3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930" b="0" i="0">
                <a:solidFill>
                  <a:srgbClr val="333333"/>
                </a:solidFill>
                <a:latin typeface="Calibri"/>
              </a:rPr>
              <a:t>468 overlapping 52-week windows of real factor history; rates as absolute changes, indices as log returns.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3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930" b="0" i="0">
                <a:solidFill>
                  <a:srgbClr val="333333"/>
                </a:solidFill>
                <a:latin typeface="Calibri"/>
              </a:rPr>
              <a:t>Non-normality kept: empirical tails + a Student-t / Heston Monte-Carlo cross-check.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4069080"/>
            <a:ext cx="4334256" cy="384048"/>
          </a:xfrm>
          <a:prstGeom prst="rect">
            <a:avLst/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19" y="4087368"/>
            <a:ext cx="2116653" cy="38404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1" i="0">
                <a:solidFill>
                  <a:srgbClr val="333333"/>
                </a:solidFill>
                <a:latin typeface="Calibri"/>
              </a:rPr>
              <a:t>Asset VaR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43333" y="4087368"/>
            <a:ext cx="903061" cy="38404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33333"/>
                </a:solidFill>
                <a:latin typeface="Calibri"/>
              </a:rPr>
              <a:t>€2.51bn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3554" y="4087368"/>
            <a:ext cx="903061" cy="38404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33333"/>
                </a:solidFill>
                <a:latin typeface="Calibri"/>
              </a:rPr>
              <a:t>25.1% of assets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19" y="4471416"/>
            <a:ext cx="2116653" cy="38404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1" i="0">
                <a:solidFill>
                  <a:srgbClr val="333333"/>
                </a:solidFill>
                <a:latin typeface="Calibri"/>
              </a:rPr>
              <a:t>Surplus VaR (unhedged)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43333" y="4471416"/>
            <a:ext cx="903061" cy="38404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33333"/>
                </a:solidFill>
                <a:latin typeface="Calibri"/>
              </a:rPr>
              <a:t>€1.21bn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3554" y="4471416"/>
            <a:ext cx="903061" cy="38404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33333"/>
                </a:solidFill>
                <a:latin typeface="Calibri"/>
              </a:rPr>
              <a:t>17.8% of liab. PV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79" y="4837176"/>
            <a:ext cx="4334256" cy="384048"/>
          </a:xfrm>
          <a:prstGeom prst="rect">
            <a:avLst/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19" y="4855464"/>
            <a:ext cx="2116653" cy="38404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1" i="0">
                <a:solidFill>
                  <a:srgbClr val="333333"/>
                </a:solidFill>
                <a:latin typeface="Calibri"/>
              </a:rPr>
              <a:t>Surplus VaR (+ IRS)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43333" y="4855464"/>
            <a:ext cx="903061" cy="38404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33333"/>
                </a:solidFill>
                <a:latin typeface="Calibri"/>
              </a:rPr>
              <a:t>€0.85bn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3554" y="4855464"/>
            <a:ext cx="903061" cy="38404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33333"/>
                </a:solidFill>
                <a:latin typeface="Calibri"/>
              </a:rPr>
              <a:t>8.5% of assets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19" y="5239512"/>
            <a:ext cx="2116653" cy="38404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1" i="0">
                <a:solidFill>
                  <a:srgbClr val="333333"/>
                </a:solidFill>
                <a:latin typeface="Calibri"/>
              </a:rPr>
              <a:t>MC surplus VaR (t / Heston)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43333" y="5239512"/>
            <a:ext cx="903061" cy="38404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33333"/>
                </a:solidFill>
                <a:latin typeface="Calibri"/>
              </a:rPr>
              <a:t>€1.81bn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3554" y="5239512"/>
            <a:ext cx="903061" cy="38404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33333"/>
                </a:solidFill>
                <a:latin typeface="Calibri"/>
              </a:rPr>
              <a:t>fatter tails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" y="6053328"/>
            <a:ext cx="114300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1">
                <a:solidFill>
                  <a:srgbClr val="8A8A8A"/>
                </a:solidFill>
                <a:latin typeface="Calibri"/>
              </a:rPr>
              <a:t>Surplus P&amp;L = ΔAssets − ΔLiability.  Source: results_var/HS_REPORT_full_*.md, MC_REPORT_mc_full.md.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8016" cy="566928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59184" y="182880"/>
            <a:ext cx="310896" cy="310896"/>
          </a:xfrm>
          <a:prstGeom prst="rect">
            <a:avLst/>
          </a:prstGeom>
          <a:solidFill>
            <a:srgbClr val="E08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10881360" cy="56692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12323F"/>
                </a:solidFill>
                <a:latin typeface="Calibri Light"/>
              </a:rPr>
              <a:t>Stress Testing and 15-Year Monte-Carlo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749808"/>
            <a:ext cx="1115568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0" i="0">
                <a:solidFill>
                  <a:srgbClr val="3B8E9E"/>
                </a:solidFill>
                <a:latin typeface="Calibri"/>
              </a:rPr>
              <a:t>Deterministic scenarios on the surplus, and the full distribution at year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" y="1133856"/>
            <a:ext cx="11430000" cy="12801"/>
          </a:xfrm>
          <a:prstGeom prst="rect">
            <a:avLst/>
          </a:prstGeom>
          <a:solidFill>
            <a:srgbClr val="C7D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164592"/>
            <a:ext cx="6400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6437376"/>
            <a:ext cx="1133856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800" b="0" i="0">
                <a:solidFill>
                  <a:srgbClr val="B6C2C6"/>
                </a:solidFill>
                <a:latin typeface="Calibri"/>
              </a:rPr>
              <a:t>CLIENT SITUATION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OUR SELLING POINTS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STRATEGIC CHALLENGES &amp; MARKET OVERVIEW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PRODUCT STRATEGY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1" i="0">
                <a:solidFill>
                  <a:srgbClr val="1F4E5F"/>
                </a:solidFill>
                <a:latin typeface="Calibri"/>
              </a:rPr>
              <a:t>PORTFOLIO RESULTS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WHAT HAPPENS WITH THE UPSIDE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" y="1316736"/>
            <a:ext cx="11430000" cy="329184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30451"/>
            <a:ext cx="11155680" cy="30175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DETERMINISTIC STRESS + 15-YEAR MONTE-CARLO (CONSISTENT PIPELINE)</a:t>
            </a:r>
          </a:p>
        </p:txBody>
      </p:sp>
      <p:pic>
        <p:nvPicPr>
          <p:cNvPr id="12" name="Picture 11" descr="st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1700784"/>
            <a:ext cx="5852160" cy="2603391"/>
          </a:xfrm>
          <a:prstGeom prst="rect">
            <a:avLst/>
          </a:prstGeom>
        </p:spPr>
      </p:pic>
      <p:pic>
        <p:nvPicPr>
          <p:cNvPr id="13" name="Picture 12" descr="lc_01_asset_ev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64208"/>
            <a:ext cx="5440680" cy="277128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02336" y="4983480"/>
            <a:ext cx="2692908" cy="118872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2336" y="4983480"/>
            <a:ext cx="2692908" cy="45720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102352"/>
            <a:ext cx="2418588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1" i="0">
                <a:solidFill>
                  <a:srgbClr val="3B8E9E"/>
                </a:solidFill>
                <a:latin typeface="Calibri"/>
              </a:rPr>
              <a:t>MEDIAN ASSETS, YR 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67528"/>
            <a:ext cx="2418588" cy="4572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100" b="1" i="0">
                <a:solidFill>
                  <a:srgbClr val="12323F"/>
                </a:solidFill>
                <a:latin typeface="Calibri"/>
              </a:rPr>
              <a:t>€20.5bn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879592"/>
            <a:ext cx="2418588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median funded ratio 205%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14699" y="4983480"/>
            <a:ext cx="2692908" cy="118872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14699" y="4983480"/>
            <a:ext cx="2692908" cy="45720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61003" y="5102352"/>
            <a:ext cx="2418588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1" i="0">
                <a:solidFill>
                  <a:srgbClr val="3B8E9E"/>
                </a:solidFill>
                <a:latin typeface="Calibri"/>
              </a:rPr>
              <a:t>5TH PERCENTILE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61003" y="5367528"/>
            <a:ext cx="2418588" cy="4572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100" b="1" i="0">
                <a:solidFill>
                  <a:srgbClr val="12323F"/>
                </a:solidFill>
                <a:latin typeface="Calibri"/>
              </a:rPr>
              <a:t>€11.3bn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61003" y="5879592"/>
            <a:ext cx="2418588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still above the €10.0bn liability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27064" y="4983480"/>
            <a:ext cx="2692908" cy="118872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27064" y="4983480"/>
            <a:ext cx="2692908" cy="45720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5102352"/>
            <a:ext cx="2418588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1" i="0">
                <a:solidFill>
                  <a:srgbClr val="3B8E9E"/>
                </a:solidFill>
                <a:latin typeface="Calibri"/>
              </a:rPr>
              <a:t>0.5TH PERCENTILE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5367528"/>
            <a:ext cx="2418588" cy="4572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100" b="1" i="0">
                <a:solidFill>
                  <a:srgbClr val="12323F"/>
                </a:solidFill>
                <a:latin typeface="Calibri"/>
              </a:rPr>
              <a:t>€7.1bn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5879592"/>
            <a:ext cx="2418588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the genuine tail – below the floor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39428" y="4983480"/>
            <a:ext cx="2692908" cy="118872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39428" y="4983480"/>
            <a:ext cx="2692908" cy="45720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85732" y="5102352"/>
            <a:ext cx="2418588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1" i="0">
                <a:solidFill>
                  <a:srgbClr val="3B8E9E"/>
                </a:solidFill>
                <a:latin typeface="Calibri"/>
              </a:rPr>
              <a:t>P(UNDERFUNDED), 50/50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5732" y="5367528"/>
            <a:ext cx="2418588" cy="4572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100" b="1" i="0">
                <a:solidFill>
                  <a:srgbClr val="12323F"/>
                </a:solidFill>
                <a:latin typeface="Calibri"/>
              </a:rPr>
              <a:t>≈ 2.5%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5732" y="5879592"/>
            <a:ext cx="2418588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15y horizon, before the glidepath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" y="6291072"/>
            <a:ext cx="114300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800" b="0" i="1">
                <a:solidFill>
                  <a:srgbClr val="8A8A8A"/>
                </a:solidFill>
                <a:latin typeface="Calibri"/>
              </a:rPr>
              <a:t>Sources: results_var/stress_tests_full_*.csv; mc_lifecycle.py (50k paths, annual Student-t df 5, the actual funding waterfall). 15Y median IRR ≈ 5.9%.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8016" cy="566928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59184" y="182880"/>
            <a:ext cx="310896" cy="310896"/>
          </a:xfrm>
          <a:prstGeom prst="rect">
            <a:avLst/>
          </a:prstGeom>
          <a:solidFill>
            <a:srgbClr val="E08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10881360" cy="56692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12323F"/>
                </a:solidFill>
                <a:latin typeface="Calibri Light"/>
              </a:rPr>
              <a:t>15-Year Monte-Carlo – Does It Reach the Destination?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749808"/>
            <a:ext cx="1115568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0" i="0">
                <a:solidFill>
                  <a:srgbClr val="3B8E9E"/>
                </a:solidFill>
                <a:latin typeface="Calibri"/>
              </a:rPr>
              <a:t>Consistent pipeline: the real funding waterfall, Student-t returns, 50,000 paths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" y="1133856"/>
            <a:ext cx="11430000" cy="12801"/>
          </a:xfrm>
          <a:prstGeom prst="rect">
            <a:avLst/>
          </a:prstGeom>
          <a:solidFill>
            <a:srgbClr val="C7D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164592"/>
            <a:ext cx="6400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6437376"/>
            <a:ext cx="1133856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800" b="0" i="0">
                <a:solidFill>
                  <a:srgbClr val="B6C2C6"/>
                </a:solidFill>
                <a:latin typeface="Calibri"/>
              </a:rPr>
              <a:t>CLIENT SITUATION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OUR SELLING POINTS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STRATEGIC CHALLENGES &amp; MARKET OVERVIEW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PRODUCT STRATEGY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1" i="0">
                <a:solidFill>
                  <a:srgbClr val="1F4E5F"/>
                </a:solidFill>
                <a:latin typeface="Calibri"/>
              </a:rPr>
              <a:t>PORTFOLIO RESULTS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WHAT HAPPENS WITH THE UPSIDE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" y="1316736"/>
            <a:ext cx="11430000" cy="329184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30451"/>
            <a:ext cx="11155680" cy="30175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YEAR-15 OUTCOME DISTRIBUTIONS</a:t>
            </a:r>
          </a:p>
        </p:txBody>
      </p:sp>
      <p:pic>
        <p:nvPicPr>
          <p:cNvPr id="12" name="Picture 11" descr="lc_05_funding_ratio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1737360"/>
            <a:ext cx="5669280" cy="2647080"/>
          </a:xfrm>
          <a:prstGeom prst="rect">
            <a:avLst/>
          </a:prstGeom>
        </p:spPr>
      </p:pic>
      <p:pic>
        <p:nvPicPr>
          <p:cNvPr id="13" name="Picture 12" descr="lc_03_15year_IRR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37360"/>
            <a:ext cx="5669280" cy="26470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02336" y="5029200"/>
            <a:ext cx="2692908" cy="114300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2336" y="5029200"/>
            <a:ext cx="2692908" cy="45720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148072"/>
            <a:ext cx="2418588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1" i="0">
                <a:solidFill>
                  <a:srgbClr val="3B8E9E"/>
                </a:solidFill>
                <a:latin typeface="Calibri"/>
              </a:rPr>
              <a:t>MEDIAN FUNDED RATIO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413248"/>
            <a:ext cx="2418588" cy="4572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100" b="1" i="0">
                <a:solidFill>
                  <a:srgbClr val="12323F"/>
                </a:solidFill>
                <a:latin typeface="Calibri"/>
              </a:rPr>
              <a:t>205%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925312"/>
            <a:ext cx="2418588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assets / 50-50 year-15 liability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14699" y="5029200"/>
            <a:ext cx="2692908" cy="114300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14699" y="5029200"/>
            <a:ext cx="2692908" cy="45720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61003" y="5148072"/>
            <a:ext cx="2418588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1" i="0">
                <a:solidFill>
                  <a:srgbClr val="3B8E9E"/>
                </a:solidFill>
                <a:latin typeface="Calibri"/>
              </a:rPr>
              <a:t>MEDIAN 15Y IRR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61003" y="5413248"/>
            <a:ext cx="2418588" cy="4572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100" b="1" i="0">
                <a:solidFill>
                  <a:srgbClr val="12323F"/>
                </a:solidFill>
                <a:latin typeface="Calibri"/>
              </a:rPr>
              <a:t>5.9%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61003" y="5925312"/>
            <a:ext cx="2418588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5th pct 1.0%, 0.5th pct −2.8%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27064" y="5029200"/>
            <a:ext cx="2692908" cy="114300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27064" y="5029200"/>
            <a:ext cx="2692908" cy="45720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5148072"/>
            <a:ext cx="2418588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1" i="0">
                <a:solidFill>
                  <a:srgbClr val="3B8E9E"/>
                </a:solidFill>
                <a:latin typeface="Calibri"/>
              </a:rPr>
              <a:t>P(UNDERFUNDED), 50/50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5413248"/>
            <a:ext cx="2418588" cy="4572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100" b="1" i="0">
                <a:solidFill>
                  <a:srgbClr val="12323F"/>
                </a:solidFill>
                <a:latin typeface="Calibri"/>
              </a:rPr>
              <a:t>≈ 2.5%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5925312"/>
            <a:ext cx="2418588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rises to ≈ 5% at a 100% lump election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39428" y="5029200"/>
            <a:ext cx="2692908" cy="114300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39428" y="5029200"/>
            <a:ext cx="2692908" cy="45720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85732" y="5148072"/>
            <a:ext cx="2418588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1" i="0">
                <a:solidFill>
                  <a:srgbClr val="3B8E9E"/>
                </a:solidFill>
                <a:latin typeface="Calibri"/>
              </a:rPr>
              <a:t>MEAN ANNUAL RETURN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5732" y="5413248"/>
            <a:ext cx="2418588" cy="4572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100" b="1" i="0">
                <a:solidFill>
                  <a:srgbClr val="12323F"/>
                </a:solidFill>
                <a:latin typeface="Calibri"/>
              </a:rPr>
              <a:t>6.3%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5732" y="5925312"/>
            <a:ext cx="2418588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contribution-stripped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" y="6309360"/>
            <a:ext cx="114300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800" b="0" i="1">
                <a:solidFill>
                  <a:srgbClr val="8A8A8A"/>
                </a:solidFill>
                <a:latin typeface="Calibri"/>
              </a:rPr>
              <a:t>The tail is fatter than an assumed 70/30 blend: the waterfall loads the volatile RSP far more heavily by year 15. Source: mc_lifecycle.py / results_var/MC_LIFECYCLE_REPORT.md.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395728"/>
            <a:ext cx="1371600" cy="45720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73152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3B8E9E"/>
                </a:solidFill>
                <a:latin typeface="Calibri"/>
              </a:rPr>
              <a:t>SECTION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241280" cy="12801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 Light"/>
              </a:rPr>
              <a:t>What Happens With the Upside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9875520" cy="9144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00" b="0" i="0">
                <a:solidFill>
                  <a:srgbClr val="AEC4CB"/>
                </a:solidFill>
                <a:latin typeface="Calibri"/>
              </a:rPr>
              <a:t>The cash-flow structure, the flows under every election scenario, and the 90/10 share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8016" cy="566928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59184" y="182880"/>
            <a:ext cx="310896" cy="310896"/>
          </a:xfrm>
          <a:prstGeom prst="rect">
            <a:avLst/>
          </a:prstGeom>
          <a:solidFill>
            <a:srgbClr val="E08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10881360" cy="56692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12323F"/>
                </a:solidFill>
                <a:latin typeface="Calibri Light"/>
              </a:rPr>
              <a:t>The Cash-Flow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749808"/>
            <a:ext cx="1115568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0" i="0">
                <a:solidFill>
                  <a:srgbClr val="3B8E9E"/>
                </a:solidFill>
                <a:latin typeface="Calibri"/>
              </a:rPr>
              <a:t>Contributions in for 10 years; a year-15 spike, then a 35-year pension 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" y="1133856"/>
            <a:ext cx="11430000" cy="12801"/>
          </a:xfrm>
          <a:prstGeom prst="rect">
            <a:avLst/>
          </a:prstGeom>
          <a:solidFill>
            <a:srgbClr val="C7D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164592"/>
            <a:ext cx="6400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6437376"/>
            <a:ext cx="1133856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800" b="0" i="0">
                <a:solidFill>
                  <a:srgbClr val="B6C2C6"/>
                </a:solidFill>
                <a:latin typeface="Calibri"/>
              </a:rPr>
              <a:t>CLIENT SITUATION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OUR SELLING POINTS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STRATEGIC CHALLENGES &amp; MARKET OVERVIEW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PRODUCT STRATEGY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PORTFOLIO RESULTS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1" i="0">
                <a:solidFill>
                  <a:srgbClr val="1F4E5F"/>
                </a:solidFill>
                <a:latin typeface="Calibri"/>
              </a:rPr>
              <a:t>WHAT HAPPENS WITH THE UPSIDE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" y="1316736"/>
            <a:ext cx="11430000" cy="329184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30451"/>
            <a:ext cx="11155680" cy="30175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ASSET VS. GUARANTEED-LIABILITY CASH FLOWS</a:t>
            </a:r>
          </a:p>
        </p:txBody>
      </p:sp>
      <p:pic>
        <p:nvPicPr>
          <p:cNvPr id="12" name="Picture 11" descr="cf_ann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1783080"/>
            <a:ext cx="6949440" cy="294982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02336" y="5029200"/>
            <a:ext cx="6949440" cy="347472"/>
          </a:xfrm>
          <a:prstGeom prst="rect">
            <a:avLst/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" y="5047488"/>
            <a:ext cx="1530705" cy="34747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333333"/>
                </a:solidFill>
                <a:latin typeface="Calibri"/>
              </a:rPr>
              <a:t>Years 1–10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61641" y="5047488"/>
            <a:ext cx="2503627" cy="34747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+ €0.5bn / yr contributions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2428" y="5047488"/>
            <a:ext cx="2503627" cy="34747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→ Return portfolio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" y="5394959"/>
            <a:ext cx="1530705" cy="34747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333333"/>
                </a:solidFill>
                <a:latin typeface="Calibri"/>
              </a:rPr>
              <a:t>Year 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61641" y="5394959"/>
            <a:ext cx="2503627" cy="34747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− €5.65bn lump sum (50/50)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2428" y="5394959"/>
            <a:ext cx="2503627" cy="34747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→ safe sleeve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336" y="5724144"/>
            <a:ext cx="6949440" cy="347472"/>
          </a:xfrm>
          <a:prstGeom prst="rect">
            <a:avLst/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" y="5742431"/>
            <a:ext cx="1530705" cy="34747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333333"/>
                </a:solidFill>
                <a:latin typeface="Calibri"/>
              </a:rPr>
              <a:t>Years 16–50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61641" y="5742431"/>
            <a:ext cx="2503627" cy="34747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− ≈ €0.3bn / yr pension tail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2428" y="5742431"/>
            <a:ext cx="2503627" cy="34747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→ coupons + reinvestment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1783080"/>
            <a:ext cx="4334256" cy="411480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98079" y="1783080"/>
            <a:ext cx="4334256" cy="50292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62671" y="1911095"/>
            <a:ext cx="4005072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1F4E5F"/>
                </a:solidFill>
                <a:latin typeface="Calibri"/>
              </a:rPr>
              <a:t>Reading the 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6096" y="2386584"/>
            <a:ext cx="4041648" cy="33832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19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919" b="1" i="0">
                <a:solidFill>
                  <a:srgbClr val="1F4E5F"/>
                </a:solidFill>
                <a:latin typeface="Calibri"/>
              </a:rPr>
              <a:t>Years 1–10.  </a:t>
            </a:r>
            <a:r>
              <a:rPr sz="919" b="0" i="0">
                <a:solidFill>
                  <a:srgbClr val="333333"/>
                </a:solidFill>
                <a:latin typeface="Calibri"/>
              </a:rPr>
              <a:t>€0.5bn/yr contributions fund the RSP; the LMP coupons accrue.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19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919" b="1" i="0">
                <a:solidFill>
                  <a:srgbClr val="1F4E5F"/>
                </a:solidFill>
                <a:latin typeface="Calibri"/>
              </a:rPr>
              <a:t>Year 15.  </a:t>
            </a:r>
            <a:r>
              <a:rPr sz="919" b="0" i="0">
                <a:solidFill>
                  <a:srgbClr val="333333"/>
                </a:solidFill>
                <a:latin typeface="Calibri"/>
              </a:rPr>
              <a:t>the lump-sum spike – €5.65bn at 50/50 (€2.3–9.0bn across the election).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19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919" b="1" i="0">
                <a:solidFill>
                  <a:srgbClr val="1F4E5F"/>
                </a:solidFill>
                <a:latin typeface="Calibri"/>
              </a:rPr>
              <a:t>Years 16–50.  </a:t>
            </a:r>
            <a:r>
              <a:rPr sz="919" b="0" i="0">
                <a:solidFill>
                  <a:srgbClr val="333333"/>
                </a:solidFill>
                <a:latin typeface="Calibri"/>
              </a:rPr>
              <a:t>≈ €0.3bn/yr pension tail, decaying with mortality; 11% of PV beyond year 30.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19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919" b="1" i="0">
                <a:solidFill>
                  <a:srgbClr val="1F4E5F"/>
                </a:solidFill>
                <a:latin typeface="Calibri"/>
              </a:rPr>
              <a:t>Coverage.  </a:t>
            </a:r>
            <a:r>
              <a:rPr sz="919" b="0" i="0">
                <a:solidFill>
                  <a:srgbClr val="333333"/>
                </a:solidFill>
                <a:latin typeface="Calibri"/>
              </a:rPr>
              <a:t>Stage-1 dedication keeps the running cash balance ≥ 0 every year to year 50 – no external top-up; ultra-long / zero-coupon bonds reach the 30y+ tail.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8016" cy="566928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59184" y="182880"/>
            <a:ext cx="310896" cy="310896"/>
          </a:xfrm>
          <a:prstGeom prst="rect">
            <a:avLst/>
          </a:prstGeom>
          <a:solidFill>
            <a:srgbClr val="E08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10881360" cy="56692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12323F"/>
                </a:solidFill>
                <a:latin typeface="Calibri Light"/>
              </a:rPr>
              <a:t>Flows Under Every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749808"/>
            <a:ext cx="1115568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0" i="0">
                <a:solidFill>
                  <a:srgbClr val="3B8E9E"/>
                </a:solidFill>
                <a:latin typeface="Calibri"/>
              </a:rPr>
              <a:t>The year-15 need and the pension tail move with the election; the surplus absorbs the market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" y="1133856"/>
            <a:ext cx="11430000" cy="12801"/>
          </a:xfrm>
          <a:prstGeom prst="rect">
            <a:avLst/>
          </a:prstGeom>
          <a:solidFill>
            <a:srgbClr val="C7D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164592"/>
            <a:ext cx="6400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6437376"/>
            <a:ext cx="1133856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800" b="0" i="0">
                <a:solidFill>
                  <a:srgbClr val="B6C2C6"/>
                </a:solidFill>
                <a:latin typeface="Calibri"/>
              </a:rPr>
              <a:t>CLIENT SITUATION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OUR SELLING POINTS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STRATEGIC CHALLENGES &amp; MARKET OVERVIEW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PRODUCT STRATEGY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PORTFOLIO RESULTS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1" i="0">
                <a:solidFill>
                  <a:srgbClr val="1F4E5F"/>
                </a:solidFill>
                <a:latin typeface="Calibri"/>
              </a:rPr>
              <a:t>WHAT HAPPENS WITH THE UPSIDE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" y="1316736"/>
            <a:ext cx="11430000" cy="329184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30451"/>
            <a:ext cx="11155680" cy="30175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POLICYHOLDER-ELECTION SCENARIOS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" y="1828800"/>
            <a:ext cx="11430000" cy="420624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1847088"/>
            <a:ext cx="2606040" cy="420624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Election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6976" y="1847088"/>
            <a:ext cx="2034540" cy="420624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Lump-sum at yr 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8675" y="1847088"/>
            <a:ext cx="2034540" cy="420624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Pensioners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0375" y="1847088"/>
            <a:ext cx="2034540" cy="420624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Pension PV at yr 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52076" y="1847088"/>
            <a:ext cx="2034540" cy="420624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Total PV today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" y="2249424"/>
            <a:ext cx="11430000" cy="420624"/>
          </a:xfrm>
          <a:prstGeom prst="rect">
            <a:avLst/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" y="2267712"/>
            <a:ext cx="2606040" cy="420624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333333"/>
                </a:solidFill>
                <a:latin typeface="Calibri"/>
              </a:rPr>
              <a:t>0% lump / 100% pension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36976" y="2267712"/>
            <a:ext cx="2034540" cy="420624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€0.0bn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8675" y="2267712"/>
            <a:ext cx="2034540" cy="420624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100,000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0375" y="2267712"/>
            <a:ext cx="2034540" cy="420624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€8.72bn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2076" y="2267712"/>
            <a:ext cx="2034540" cy="420624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€5.35bn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" y="2688336"/>
            <a:ext cx="2606040" cy="420624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333333"/>
                </a:solidFill>
                <a:latin typeface="Calibri"/>
              </a:rPr>
              <a:t>25% / 75%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36976" y="2688336"/>
            <a:ext cx="2034540" cy="420624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€2.83bn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08675" y="2688336"/>
            <a:ext cx="2034540" cy="420624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75,000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0375" y="2688336"/>
            <a:ext cx="2034540" cy="420624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€6.54bn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52076" y="2688336"/>
            <a:ext cx="2034540" cy="420624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€5.75bn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2336" y="3090672"/>
            <a:ext cx="11430000" cy="420624"/>
          </a:xfrm>
          <a:prstGeom prst="rect">
            <a:avLst/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" y="3108960"/>
            <a:ext cx="2606040" cy="420624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333333"/>
                </a:solidFill>
                <a:latin typeface="Calibri"/>
              </a:rPr>
              <a:t>50% / 50%  (base case)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36976" y="3108960"/>
            <a:ext cx="2034540" cy="420624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€5.65bn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08675" y="3108960"/>
            <a:ext cx="2034540" cy="420624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50,000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0375" y="3108960"/>
            <a:ext cx="2034540" cy="420624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€4.36bn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2076" y="3108960"/>
            <a:ext cx="2034540" cy="420624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€6.14bn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" y="3529584"/>
            <a:ext cx="2606040" cy="420624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333333"/>
                </a:solidFill>
                <a:latin typeface="Calibri"/>
              </a:rPr>
              <a:t>75% / 25%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36976" y="3529584"/>
            <a:ext cx="2034540" cy="420624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€8.48bn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08675" y="3529584"/>
            <a:ext cx="2034540" cy="420624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25,000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0375" y="3529584"/>
            <a:ext cx="2034540" cy="420624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€2.18bn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52076" y="3529584"/>
            <a:ext cx="2034540" cy="420624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€6.54bn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2336" y="3931920"/>
            <a:ext cx="11430000" cy="420624"/>
          </a:xfrm>
          <a:prstGeom prst="rect">
            <a:avLst/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" y="3950207"/>
            <a:ext cx="2606040" cy="420624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333333"/>
                </a:solidFill>
                <a:latin typeface="Calibri"/>
              </a:rPr>
              <a:t>100% / 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36976" y="3950207"/>
            <a:ext cx="2034540" cy="420624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€11.30bn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08675" y="3950207"/>
            <a:ext cx="2034540" cy="420624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0375" y="3950207"/>
            <a:ext cx="2034540" cy="420624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€0.00bn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52076" y="3950207"/>
            <a:ext cx="2034540" cy="420624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€6.94bn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02336" y="4480560"/>
            <a:ext cx="5532120" cy="146304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02336" y="4480560"/>
            <a:ext cx="5532120" cy="50292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6928" y="4608576"/>
            <a:ext cx="5202936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1F4E5F"/>
                </a:solidFill>
                <a:latin typeface="Calibri"/>
              </a:rPr>
              <a:t>Market path on top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0352" y="5084064"/>
            <a:ext cx="5239512" cy="7315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3333"/>
                </a:solidFill>
                <a:latin typeface="Calibri"/>
              </a:rPr>
              <a:t>Base 15y median assets €20.5bn vs a €10.0bn liability → median funded ratio ≈ 2.05×.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950" b="0" i="0">
                <a:solidFill>
                  <a:srgbClr val="333333"/>
                </a:solidFill>
                <a:latin typeface="Calibri"/>
              </a:rPr>
              <a:t>5th-pct path €11.3bn still covers it; the 0.5th-pct path (€7.1bn) does not.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44768" y="4480560"/>
            <a:ext cx="5687568" cy="146304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44768" y="4480560"/>
            <a:ext cx="5687568" cy="50292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09359" y="4608576"/>
            <a:ext cx="5358383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1F4E5F"/>
                </a:solidFill>
                <a:latin typeface="Calibri"/>
              </a:rPr>
              <a:t>So the upside is real – with a real tail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72783" y="5084064"/>
            <a:ext cx="5394959" cy="7315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3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930" b="0" i="0">
                <a:solidFill>
                  <a:srgbClr val="333333"/>
                </a:solidFill>
                <a:latin typeface="Calibri"/>
              </a:rPr>
              <a:t>≈ 97.5% of paths finish funded at the base election (P(underfunded) ≈ 2.5%), ≈ 95% at a 100% lump election.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3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930" b="0" i="0">
                <a:solidFill>
                  <a:srgbClr val="333333"/>
                </a:solidFill>
                <a:latin typeface="Calibri"/>
              </a:rPr>
              <a:t>The deep tail is the RSP's – the €5bn LMP still backs the guaranteed cash flows; the years 11–15 glidepath de-risks it further.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2336" y="6053328"/>
            <a:ext cx="114300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1">
                <a:solidFill>
                  <a:srgbClr val="8A8A8A"/>
                </a:solidFill>
                <a:latin typeface="Calibri"/>
              </a:rPr>
              <a:t>Source: mixed_liability_scenarios.xlsx (Scenario Summary); mc_lifecycle.py (50k paths, consistent funding waterfall).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8016" cy="566928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59184" y="182880"/>
            <a:ext cx="310896" cy="310896"/>
          </a:xfrm>
          <a:prstGeom prst="rect">
            <a:avLst/>
          </a:prstGeom>
          <a:solidFill>
            <a:srgbClr val="E08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10881360" cy="56692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12323F"/>
                </a:solidFill>
                <a:latin typeface="Calibri Light"/>
              </a:rPr>
              <a:t>Sharing the Upside – 90 / 10 From Year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749808"/>
            <a:ext cx="1115568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0" i="0">
                <a:solidFill>
                  <a:srgbClr val="3B8E9E"/>
                </a:solidFill>
                <a:latin typeface="Calibri"/>
              </a:rPr>
              <a:t>The whole return compounds until benefits begin; then 90% of profit goes to policyholders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" y="1133856"/>
            <a:ext cx="11430000" cy="12801"/>
          </a:xfrm>
          <a:prstGeom prst="rect">
            <a:avLst/>
          </a:prstGeom>
          <a:solidFill>
            <a:srgbClr val="C7D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164592"/>
            <a:ext cx="6400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6437376"/>
            <a:ext cx="1133856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800" b="0" i="0">
                <a:solidFill>
                  <a:srgbClr val="B6C2C6"/>
                </a:solidFill>
                <a:latin typeface="Calibri"/>
              </a:rPr>
              <a:t>CLIENT SITUATION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OUR SELLING POINTS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STRATEGIC CHALLENGES &amp; MARKET OVERVIEW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PRODUCT STRATEGY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PORTFOLIO RESULTS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1" i="0">
                <a:solidFill>
                  <a:srgbClr val="1F4E5F"/>
                </a:solidFill>
                <a:latin typeface="Calibri"/>
              </a:rPr>
              <a:t>WHAT HAPPENS WITH THE UPSIDE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" y="1316736"/>
            <a:ext cx="11430000" cy="329184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30451"/>
            <a:ext cx="11155680" cy="30175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WHERE THE SURPLUS GOES</a:t>
            </a:r>
          </a:p>
        </p:txBody>
      </p:sp>
      <p:pic>
        <p:nvPicPr>
          <p:cNvPr id="12" name="Picture 11" descr="profi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1737360"/>
            <a:ext cx="6858000" cy="291101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452360" y="1737360"/>
            <a:ext cx="4379976" cy="416052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737360"/>
            <a:ext cx="4379976" cy="50292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16952" y="1865376"/>
            <a:ext cx="4050791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1F4E5F"/>
                </a:solidFill>
                <a:latin typeface="Calibri"/>
              </a:rPr>
              <a:t>Mechanics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0376" y="2340864"/>
            <a:ext cx="4087368" cy="34290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19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919" b="1" i="0">
                <a:solidFill>
                  <a:srgbClr val="1F4E5F"/>
                </a:solidFill>
                <a:latin typeface="Calibri"/>
              </a:rPr>
              <a:t>Years 1–14: no sharing.  </a:t>
            </a:r>
            <a:r>
              <a:rPr sz="919" b="0" i="0">
                <a:solidFill>
                  <a:srgbClr val="333333"/>
                </a:solidFill>
                <a:latin typeface="Calibri"/>
              </a:rPr>
              <a:t>the whole investment return compounds in the book – contributions €5.0bn → return-book MV ≈ €8.4bn by year 10.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19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919" b="1" i="0">
                <a:solidFill>
                  <a:srgbClr val="1F4E5F"/>
                </a:solidFill>
                <a:latin typeface="Calibri"/>
              </a:rPr>
              <a:t>Year 15+: 90 / 10.  </a:t>
            </a:r>
            <a:r>
              <a:rPr sz="919" b="0" i="0">
                <a:solidFill>
                  <a:srgbClr val="333333"/>
                </a:solidFill>
                <a:latin typeface="Calibri"/>
              </a:rPr>
              <a:t>90% of each year's investment profit paid to policyholders (equal EUR sold from every sleeve), 10% retained and reinvested; losses carry forward first.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19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919" b="1" i="0">
                <a:solidFill>
                  <a:srgbClr val="1F4E5F"/>
                </a:solidFill>
                <a:latin typeface="Calibri"/>
              </a:rPr>
              <a:t>Payout phase (yr 15–20).  </a:t>
            </a:r>
            <a:r>
              <a:rPr sz="919" b="0" i="0">
                <a:solidFill>
                  <a:srgbClr val="333333"/>
                </a:solidFill>
                <a:latin typeface="Calibri"/>
              </a:rPr>
              <a:t>≈ €7.8bn cumulative to policyholders, ≈ €0.9bn retained; book ≈ €13.6bn at year 20 (deterministic-return projection).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19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919" b="1" i="0">
                <a:solidFill>
                  <a:srgbClr val="1F4E5F"/>
                </a:solidFill>
                <a:latin typeface="Calibri"/>
              </a:rPr>
              <a:t>Guarantee untouched.  </a:t>
            </a:r>
            <a:r>
              <a:rPr sz="919" b="0" i="0">
                <a:solidFill>
                  <a:srgbClr val="333333"/>
                </a:solidFill>
                <a:latin typeface="Calibri"/>
              </a:rPr>
              <a:t>the 90% is a pass-through off the insurer's asset side – it never draws on the LMP.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" y="6053328"/>
            <a:ext cx="114300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1">
                <a:solidFill>
                  <a:srgbClr val="8A8A8A"/>
                </a:solidFill>
                <a:latin typeface="Calibri"/>
              </a:rPr>
              <a:t>Source: return_book.py (profit_share_start_year = 15).  Headline VaR uses the conservative flat €5.0bn return book; the projected €8.4bn book is the 'full_projected' sensitivity (assets €13.4bn, Surplus VaR €1.42bn).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8016" cy="566928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59184" y="182880"/>
            <a:ext cx="310896" cy="310896"/>
          </a:xfrm>
          <a:prstGeom prst="rect">
            <a:avLst/>
          </a:prstGeom>
          <a:solidFill>
            <a:srgbClr val="E08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10881360" cy="56692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12323F"/>
                </a:solidFill>
                <a:latin typeface="Calibri Light"/>
              </a:rPr>
              <a:t>Key Selling Points and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749808"/>
            <a:ext cx="1115568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0" i="0">
                <a:solidFill>
                  <a:srgbClr val="3B8E9E"/>
                </a:solidFill>
                <a:latin typeface="Calibri"/>
              </a:rPr>
              <a:t>What we propose, and why All-Kanns should mandate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" y="1133856"/>
            <a:ext cx="11430000" cy="12801"/>
          </a:xfrm>
          <a:prstGeom prst="rect">
            <a:avLst/>
          </a:prstGeom>
          <a:solidFill>
            <a:srgbClr val="C7D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164592"/>
            <a:ext cx="6400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6437376"/>
            <a:ext cx="1133856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r>
              <a:rPr sz="800" b="0" i="0">
                <a:solidFill>
                  <a:srgbClr val="B6C2C6"/>
                </a:solidFill>
                <a:latin typeface="Calibri"/>
              </a:rPr>
              <a:t>CLIENT SITUATION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OUR SELLING POINTS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STRATEGIC CHALLENGES &amp; MARKET OVERVIEW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PRODUCT STRATEGY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PORTFOLIO RESULTS</a:t>
            </a:r>
            <a:r>
              <a:rPr sz="800" b="0" i="0">
                <a:solidFill>
                  <a:srgbClr val="B6C2C6"/>
                </a:solidFill>
                <a:latin typeface="Calibri"/>
              </a:rPr>
              <a:t>   |   </a:t>
            </a:r>
            <a:r>
              <a:rPr sz="800" b="1" i="0">
                <a:solidFill>
                  <a:srgbClr val="1F4E5F"/>
                </a:solidFill>
                <a:latin typeface="Calibri"/>
              </a:rPr>
              <a:t>WHAT HAPPENS WITH THE UPSIDE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" y="1316736"/>
            <a:ext cx="11430000" cy="329184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30451"/>
            <a:ext cx="11155680" cy="30175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" y="1783080"/>
            <a:ext cx="5715000" cy="416052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336" y="1783080"/>
            <a:ext cx="5715000" cy="50292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911095"/>
            <a:ext cx="5385816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1F4E5F"/>
                </a:solidFill>
                <a:latin typeface="Calibri"/>
              </a:rPr>
              <a:t>What we propose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386584"/>
            <a:ext cx="5422392" cy="34290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4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940" b="1" i="0">
                <a:solidFill>
                  <a:srgbClr val="1F4E5F"/>
                </a:solidFill>
                <a:latin typeface="Calibri"/>
              </a:rPr>
              <a:t>Split the book.  </a:t>
            </a:r>
            <a:r>
              <a:rPr sz="940" b="0" i="0">
                <a:solidFill>
                  <a:srgbClr val="333333"/>
                </a:solidFill>
                <a:latin typeface="Calibri"/>
              </a:rPr>
              <a:t>€5.0bn into a cash-flow + key-rate matched LMP; contributions into the Aggressive Diversified RSP; re-strike the split yearly.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4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940" b="1" i="0">
                <a:solidFill>
                  <a:srgbClr val="1F4E5F"/>
                </a:solidFill>
                <a:latin typeface="Calibri"/>
              </a:rPr>
              <a:t>Add a receiver-IRS overlay.  </a:t>
            </a:r>
            <a:r>
              <a:rPr sz="940" b="0" i="0">
                <a:solidFill>
                  <a:srgbClr val="333333"/>
                </a:solidFill>
                <a:latin typeface="Calibri"/>
              </a:rPr>
              <a:t>15y €2.8bn + 30y €0.3bn, par, notional not exchanged – no cash, only variation margin.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4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940" b="1" i="0">
                <a:solidFill>
                  <a:srgbClr val="1F4E5F"/>
                </a:solidFill>
                <a:latin typeface="Calibri"/>
              </a:rPr>
              <a:t>Extend the LMP.  </a:t>
            </a:r>
            <a:r>
              <a:rPr sz="940" b="0" i="0">
                <a:solidFill>
                  <a:srgbClr val="333333"/>
                </a:solidFill>
                <a:latin typeface="Calibri"/>
              </a:rPr>
              <a:t>ultra-long and zero-coupon (STRIPS) bonds to reach the 20y+ liability without breaching the 15% instrument cap.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4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940" b="1" i="0">
                <a:solidFill>
                  <a:srgbClr val="1F4E5F"/>
                </a:solidFill>
                <a:latin typeface="Calibri"/>
              </a:rPr>
              <a:t>Swap USD → EUR  </a:t>
            </a:r>
            <a:r>
              <a:rPr sz="940" b="0" i="0">
                <a:solidFill>
                  <a:srgbClr val="333333"/>
                </a:solidFill>
                <a:latin typeface="Calibri"/>
              </a:rPr>
              <a:t>on every sleeve; leave part of the RSP unhedged as a diversifier.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4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940" b="1" i="0">
                <a:solidFill>
                  <a:srgbClr val="1F4E5F"/>
                </a:solidFill>
                <a:latin typeface="Calibri"/>
              </a:rPr>
              <a:t>Glidepath years 11–15  </a:t>
            </a:r>
            <a:r>
              <a:rPr sz="940" b="0" i="0">
                <a:solidFill>
                  <a:srgbClr val="333333"/>
                </a:solidFill>
                <a:latin typeface="Calibri"/>
              </a:rPr>
              <a:t>de-risk into the year-15 payout; hold ≥ 1.1× the next 12m of outflows in cash + sovereigns.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568696" cy="4160520"/>
          </a:xfrm>
          <a:prstGeom prst="roundRect">
            <a:avLst>
              <a:gd name="adj" fmla="val 4500"/>
            </a:avLst>
          </a:prstGeom>
          <a:solidFill>
            <a:srgbClr val="ED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568696" cy="50292"/>
          </a:xfrm>
          <a:prstGeom prst="rect">
            <a:avLst/>
          </a:prstGeom>
          <a:solidFill>
            <a:srgbClr val="3B8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1911095"/>
            <a:ext cx="5239512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1F4E5F"/>
                </a:solidFill>
                <a:latin typeface="Calibri"/>
              </a:rPr>
              <a:t>Why it wins the mandate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5" y="2386584"/>
            <a:ext cx="5276088" cy="34290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4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940" b="1" i="0">
                <a:solidFill>
                  <a:srgbClr val="1F4E5F"/>
                </a:solidFill>
                <a:latin typeface="Calibri"/>
              </a:rPr>
              <a:t>Floor is backed.  </a:t>
            </a:r>
            <a:r>
              <a:rPr sz="940" b="0" i="0">
                <a:solidFill>
                  <a:srgbClr val="333333"/>
                </a:solidFill>
                <a:latin typeface="Calibri"/>
              </a:rPr>
              <a:t>the €5bn cash-flow-dedicated LMP funds the guaranteed benefits directly; ≈ 97.5% of 15-year MC paths finish funded at the base election (P(underfunded) ≈ 2.5%), the glidepath cuts the tail further.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4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940" b="1" i="0">
                <a:solidFill>
                  <a:srgbClr val="1F4E5F"/>
                </a:solidFill>
                <a:latin typeface="Calibri"/>
              </a:rPr>
              <a:t>Upside is real.  </a:t>
            </a:r>
            <a:r>
              <a:rPr sz="940" b="0" i="0">
                <a:solidFill>
                  <a:srgbClr val="333333"/>
                </a:solidFill>
                <a:latin typeface="Calibri"/>
              </a:rPr>
              <a:t>median 15-year IRR ≈ 5.9% – ≈ 490bps above the 1.0% guarantee; 90% shared with policyholders from year 15.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4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940" b="1" i="0">
                <a:solidFill>
                  <a:srgbClr val="1F4E5F"/>
                </a:solidFill>
                <a:latin typeface="Calibri"/>
              </a:rPr>
              <a:t>Risk is controlled.  </a:t>
            </a:r>
            <a:r>
              <a:rPr sz="940" b="0" i="0">
                <a:solidFill>
                  <a:srgbClr val="333333"/>
                </a:solidFill>
                <a:latin typeface="Calibri"/>
              </a:rPr>
              <a:t>1-year 99% surplus VaR €0.85bn after the overlay (−30%); every stress inside the €3.2bn surplus.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4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940" b="1" i="0">
                <a:solidFill>
                  <a:srgbClr val="1F4E5F"/>
                </a:solidFill>
                <a:latin typeface="Calibri"/>
              </a:rPr>
              <a:t>IAS-defensible.  </a:t>
            </a:r>
            <a:r>
              <a:rPr sz="940" b="0" i="0">
                <a:solidFill>
                  <a:srgbClr val="333333"/>
                </a:solidFill>
                <a:latin typeface="Calibri"/>
              </a:rPr>
              <a:t>duration + KRD matched, so LMP mark-to-market offsets the liability; low turnover.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940" b="0" i="0">
                <a:solidFill>
                  <a:srgbClr val="333333"/>
                </a:solidFill>
                <a:latin typeface="Calibri"/>
              </a:rPr>
              <a:t>•  </a:t>
            </a:r>
            <a:r>
              <a:rPr sz="940" b="1" i="0">
                <a:solidFill>
                  <a:srgbClr val="1F4E5F"/>
                </a:solidFill>
                <a:latin typeface="Calibri"/>
              </a:rPr>
              <a:t>Fully compliant.  </a:t>
            </a:r>
            <a:r>
              <a:rPr sz="940" b="0" i="0">
                <a:solidFill>
                  <a:srgbClr val="333333"/>
                </a:solidFill>
                <a:latin typeface="Calibri"/>
              </a:rPr>
              <a:t>Solvency II capital and BaFin AnlV limits built into construction and reporting.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" y="6053328"/>
            <a:ext cx="1143000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1">
                <a:solidFill>
                  <a:srgbClr val="8A8A8A"/>
                </a:solidFill>
                <a:latin typeface="Calibri"/>
              </a:rPr>
              <a:t>One line for the board: the floor is matched, the upside is diversified and shared, and the residual risk is hedged for no cash.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